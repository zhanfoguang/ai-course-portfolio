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firstSlideNum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slides/slide21.xml" Type="http://schemas.openxmlformats.org/officeDocument/2006/relationships/slide"/><Relationship Id="rId31" Target="slides/slide22.xml" Type="http://schemas.openxmlformats.org/officeDocument/2006/relationships/slide"/><Relationship Id="rId32" Target="slides/slide23.xml" Type="http://schemas.openxmlformats.org/officeDocument/2006/relationships/slide"/><Relationship Id="rId33" Target="slides/slide24.xml" Type="http://schemas.openxmlformats.org/officeDocument/2006/relationships/slide"/><Relationship Id="rId34" Target="slides/slide25.xml" Type="http://schemas.openxmlformats.org/officeDocument/2006/relationships/slide"/><Relationship Id="rId35" Target="slides/slide26.xml" Type="http://schemas.openxmlformats.org/officeDocument/2006/relationships/slide"/><Relationship Id="rId36" Target="slides/slide27.xml" Type="http://schemas.openxmlformats.org/officeDocument/2006/relationships/slide"/><Relationship Id="rId37" Target="slides/slide28.xml" Type="http://schemas.openxmlformats.org/officeDocument/2006/relationships/slide"/><Relationship Id="rId38" Target="slides/slide29.xml" Type="http://schemas.openxmlformats.org/officeDocument/2006/relationships/slide"/><Relationship Id="rId39" Target="slides/slide30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1.xml" Type="http://schemas.openxmlformats.org/officeDocument/2006/relationships/slide"/><Relationship Id="rId41" Target="slides/slide32.xml" Type="http://schemas.openxmlformats.org/officeDocument/2006/relationships/slide"/><Relationship Id="rId42" Target="slides/slide33.xml" Type="http://schemas.openxmlformats.org/officeDocument/2006/relationships/slide"/><Relationship Id="rId43" Target="slides/slide34.xml" Type="http://schemas.openxmlformats.org/officeDocument/2006/relationships/slide"/><Relationship Id="rId44" Target="slides/slide35.xml" Type="http://schemas.openxmlformats.org/officeDocument/2006/relationships/slide"/><Relationship Id="rId45" Target="slides/slide36.xml" Type="http://schemas.openxmlformats.org/officeDocument/2006/relationships/slide"/><Relationship Id="rId46" Target="slides/slide37.xml" Type="http://schemas.openxmlformats.org/officeDocument/2006/relationships/slide"/><Relationship Id="rId47" Target="slides/slide38.xml" Type="http://schemas.openxmlformats.org/officeDocument/2006/relationships/slide"/><Relationship Id="rId48" Target="slides/slide39.xml" Type="http://schemas.openxmlformats.org/officeDocument/2006/relationships/slide"/><Relationship Id="rId49" Target="slides/slide40.xml" Type="http://schemas.openxmlformats.org/officeDocument/2006/relationships/slide"/><Relationship Id="rId50" Target="slides/slide41.xml" Type="http://schemas.openxmlformats.org/officeDocument/2006/relationships/slide"/><Relationship Id="rId51" Target="slides/slide42.xml" Type="http://schemas.openxmlformats.org/officeDocument/2006/relationships/slide"/><Relationship Id="rId52" Target="slides/slide43.xml" Type="http://schemas.openxmlformats.org/officeDocument/2006/relationships/slide"/><Relationship Id="rId53" Target="notesSlides/notesSlide1.xml" Type="http://schemas.openxmlformats.org/officeDocument/2006/relationships/notesSlide"/><Relationship Id="rId54" Target="notesSlides/notesSlide2.xml" Type="http://schemas.openxmlformats.org/officeDocument/2006/relationships/notesSlide"/><Relationship Id="rId55" Target="notesSlides/notesSlide3.xml" Type="http://schemas.openxmlformats.org/officeDocument/2006/relationships/notesSlide"/><Relationship Id="rId56" Target="notesSlides/notesSlide4.xml" Type="http://schemas.openxmlformats.org/officeDocument/2006/relationships/notesSlide"/><Relationship Id="rId57" Target="notesSlides/notesSlide5.xml" Type="http://schemas.openxmlformats.org/officeDocument/2006/relationships/notesSlide"/><Relationship Id="rId58" Target="notesSlides/notesSlide6.xml" Type="http://schemas.openxmlformats.org/officeDocument/2006/relationships/notesSlide"/><Relationship Id="rId59" Target="notesSlides/notesSlide7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8.xml" Type="http://schemas.openxmlformats.org/officeDocument/2006/relationships/notesSlide"/><Relationship Id="rId61" Target="notesSlides/notesSlide9.xml" Type="http://schemas.openxmlformats.org/officeDocument/2006/relationships/notesSlide"/><Relationship Id="rId62" Target="notesSlides/notesSlide10.xml" Type="http://schemas.openxmlformats.org/officeDocument/2006/relationships/notesSlide"/><Relationship Id="rId63" Target="notesSlides/notesSlide11.xml" Type="http://schemas.openxmlformats.org/officeDocument/2006/relationships/notesSlide"/><Relationship Id="rId64" Target="notesSlides/notesSlide12.xml" Type="http://schemas.openxmlformats.org/officeDocument/2006/relationships/notesSlide"/><Relationship Id="rId65" Target="notesSlides/notesSlide13.xml" Type="http://schemas.openxmlformats.org/officeDocument/2006/relationships/notesSlide"/><Relationship Id="rId66" Target="notesSlides/notesSlide14.xml" Type="http://schemas.openxmlformats.org/officeDocument/2006/relationships/notesSlide"/><Relationship Id="rId67" Target="notesSlides/notesSlide15.xml" Type="http://schemas.openxmlformats.org/officeDocument/2006/relationships/notesSlide"/><Relationship Id="rId68" Target="notesSlides/notesSlide16.xml" Type="http://schemas.openxmlformats.org/officeDocument/2006/relationships/notesSlide"/><Relationship Id="rId69" Target="notesSlides/notesSlide17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18.xml" Type="http://schemas.openxmlformats.org/officeDocument/2006/relationships/notesSlide"/><Relationship Id="rId71" Target="notesSlides/notesSlide19.xml" Type="http://schemas.openxmlformats.org/officeDocument/2006/relationships/notesSlide"/><Relationship Id="rId72" Target="notesSlides/notesSlide20.xml" Type="http://schemas.openxmlformats.org/officeDocument/2006/relationships/notesSlide"/><Relationship Id="rId73" Target="notesSlides/notesSlide21.xml" Type="http://schemas.openxmlformats.org/officeDocument/2006/relationships/notesSlide"/><Relationship Id="rId74" Target="notesSlides/notesSlide22.xml" Type="http://schemas.openxmlformats.org/officeDocument/2006/relationships/notesSlide"/><Relationship Id="rId75" Target="notesSlides/notesSlide23.xml" Type="http://schemas.openxmlformats.org/officeDocument/2006/relationships/notesSlide"/><Relationship Id="rId76" Target="notesSlides/notesSlide24.xml" Type="http://schemas.openxmlformats.org/officeDocument/2006/relationships/notesSlide"/><Relationship Id="rId77" Target="notesSlides/notesSlide25.xml" Type="http://schemas.openxmlformats.org/officeDocument/2006/relationships/notesSlide"/><Relationship Id="rId78" Target="notesSlides/notesSlide26.xml" Type="http://schemas.openxmlformats.org/officeDocument/2006/relationships/notesSlide"/><Relationship Id="rId79" Target="notesSlides/notesSlide27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28.xml" Type="http://schemas.openxmlformats.org/officeDocument/2006/relationships/notesSlide"/><Relationship Id="rId81" Target="notesSlides/notesSlide29.xml" Type="http://schemas.openxmlformats.org/officeDocument/2006/relationships/notesSlide"/><Relationship Id="rId82" Target="notesSlides/notesSlide30.xml" Type="http://schemas.openxmlformats.org/officeDocument/2006/relationships/notesSlide"/><Relationship Id="rId83" Target="notesSlides/notesSlide31.xml" Type="http://schemas.openxmlformats.org/officeDocument/2006/relationships/notesSlide"/><Relationship Id="rId84" Target="notesSlides/notesSlide32.xml" Type="http://schemas.openxmlformats.org/officeDocument/2006/relationships/notesSlide"/><Relationship Id="rId85" Target="notesSlides/notesSlide33.xml" Type="http://schemas.openxmlformats.org/officeDocument/2006/relationships/notesSlide"/><Relationship Id="rId86" Target="notesSlides/notesSlide34.xml" Type="http://schemas.openxmlformats.org/officeDocument/2006/relationships/notesSlide"/><Relationship Id="rId87" Target="notesSlides/notesSlide35.xml" Type="http://schemas.openxmlformats.org/officeDocument/2006/relationships/notesSlide"/><Relationship Id="rId88" Target="notesSlides/notesSlide36.xml" Type="http://schemas.openxmlformats.org/officeDocument/2006/relationships/notesSlide"/><Relationship Id="rId89" Target="notesSlides/notesSlide37.xml" Type="http://schemas.openxmlformats.org/officeDocument/2006/relationships/notesSlide"/><Relationship Id="rId9" Target="slideMasters/slideMaster3.xml" Type="http://schemas.openxmlformats.org/officeDocument/2006/relationships/slideMaster"/><Relationship Id="rId90" Target="notesSlides/notesSlide38.xml" Type="http://schemas.openxmlformats.org/officeDocument/2006/relationships/notesSlide"/><Relationship Id="rId91" Target="notesSlides/notesSlide39.xml" Type="http://schemas.openxmlformats.org/officeDocument/2006/relationships/notesSlide"/><Relationship Id="rId92" Target="notesSlides/notesSlide40.xml" Type="http://schemas.openxmlformats.org/officeDocument/2006/relationships/notesSlide"/><Relationship Id="rId93" Target="notesSlides/notesSlide41.xml" Type="http://schemas.openxmlformats.org/officeDocument/2006/relationships/notesSlide"/><Relationship Id="rId94" Target="notesSlides/notesSlide42.xml" Type="http://schemas.openxmlformats.org/officeDocument/2006/relationships/notesSlide"/><Relationship Id="rId95" Target="notesSlides/notesSlide43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01 封面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开场（约 40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各位好。今天这场分享的题目叫《构建工业智能的"大脑"与"肢体"》。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在座各位手上有九门课程，从精益生产到工业大模型，跨度很大。很多人学完之后会有一种感觉——每门课单独听都懂，但合在一起，说不清它们之间是什么关系。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今天这 35 分钟，我想做一件事：把这九门课还原成一个完整的、活的系统。因为工业智能本身就长得很像一个生命体。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报出题目后停顿 2 秒，让观众看清副标题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"九门核心课程"这几个字可以稍作强调，因为这是全场的主线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不要急着翻页，让观众对"生命体"这个类比产生第一层好奇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02 开场提问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抛出问题（约 45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我先问一个问题。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我们学了九门课。精益、MES、视觉、物联网、机器人、Python、智能体……清单很长。但是我想请大家诚实回答：它们在你脑子里，是一个整体吗？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（停顿 3 秒，环视）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如果答案是"不太是"，那很正常。因为课程是按知识点拆开教的，而真实工厂里的问题，从来不按知识点出现。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逐门去学，你会得到九个知识碎片。而今天这 15 分钟，我要做的，是把这九个碎片拼成一个完整的"智能生命体"。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"拼"这个字是有讲究的——它意味着碎片之间本来就有接口。所以今天我不会一门一门念清单，我会先带大家看清两件事：这九个东西怎么连（下一张网络图），它们又各自像身体的哪个部位（再下一张人体图）。这两张图立起来，后面每一门课你都知道它站在哪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"是一个整体吗"要慢，要留白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这一页的作用是制造认知缺口，不要急于给答案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如果现场气氛好，可以举手互动："觉得这九门课连不起来的，举个手"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节奏控制：全场 15 分钟，开场务必控制在 45 秒内，把时间留给核心页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03 九门课本来就是一张网（神经网络拓扑图）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这一页要解决什么（约 80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这一页要先把整张网的骨架立起来。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刚开场的提问已经点破了那个认知缺口——九门课在大家脑子里是散的。现在先不给"人体"，先给"网络"：因为这九门课最本质的关系，不是谁高谁低，而是谁连着谁。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一个真实工厂里，这九门课不是并列关系，而是有方向的连接关系：有的是输入端（感知），有的是汇聚点（中枢），有的是输出端（决策）。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讲解主线：三层结构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第一层 · INPUT 感知（左侧六个节点）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精益、质量、视觉、物联、机器人、数据采集——它们做的事本质是同一件：把物理世界的状态变成数据。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精益和质量提供的是"规则"——什么算异常、什么算浪费、什么算不达标；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视觉、物联、机器人、采集提供的是"信号"——尺寸、温度、节拍、位置。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注意：没有前面的规则，后面的信号是没有意义的。你采到一堆数据，但不知道该拿它跟什么比，那数据就是噪声。这是很多工厂上了 IIoT 却用不起来的根本原因。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第二层 · 数据中枢（中间橙色圆）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六个输入在这里汇聚。这是整张图的权重最大的节点，也是九门课真正的交叉点。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为什么把它画成橙色而不是蓝色？因为它不是某一门课的产物，而是所有课的产物。它是数据的"结算中心"：清洗、对齐、打标、建模。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第三层 · OUTPUT 决策（右侧四个方框）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PLM/MES、数据分析、AI 智能体、持续改善——这些是动作出口。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PLM/MES 决定"生产怎么排"；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数据分析回答"问题出在哪"；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AI 智能体执行"接下来做什么"；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持续改善保证"改完之后还能再改"。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最下面这个"持续改善"有个回环箭头的意思在——输出会重新变成输入。这才是活的系统。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一句话收口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&gt; 九个节点从来不是并列的清单——它们有输入、有汇聚、有输出，连起来才叫系统。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单独学会任何一门课，你得到的是一个能力点；把这九个连起来，你得到的是一套闭环的判断力。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承上启下：从"网"到"身体"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这张网回答了"它们怎么连"，但还没回答"它们各自像什么"。数据在流动，可数据流经的那些部件，我们还叫不出名字。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下一页，我们就把这张网装进一个身体里——给它一副骨架、一双眼睛、一个大脑。到那时你会发现，刚才这三个层次（感知—中枢—决策）恰好就是身体的三个部位在干活：眼睛在看，大脑在想，手脚在做。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讲的时候可以做的动作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讲到 INPUT 时，用手在左侧划一下，强调"这是一组"；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讲到中枢时停顿，说"这一个是关键"；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讲到 OUTPUT 最下面那个框，说"注意这里有回流"，然后一句话过渡到下一页："那这九个节点，各自长在身体的哪个部位？"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04 核心总览：智能生命体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全场最重要的一页（约 120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这一页是今天的核心。请允许我多花一点时间。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上一页的九门课是一张网——但它还是一张"没有身体"的网。现在，我们把这九个节点装进一个身体里，你就再也忘不掉它们的位置了。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六个部位，承载九门课：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大脑皮层 · 智慧（④ 提示词工程与工业智能体　⑨ Python 二次开发）——负责理解、判断、决策。为什么是两门课？因为它需要"会想"（大模型与智能体）也要"能算"（Python 把想法落地成可执行的东西）。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骨架 · 中枢（② PLM 与 MES）——决定了这个身体的结构和姿态。产品数据与制造数据都挂在它上面，它是数据的中转站。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眼睛 · 感知（① 智能测量与 AI 视觉检测）——让系统看见产品的真实状态。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神经 · 传输（③ 工业物联网）——把全身的信号传回大脑，也把大脑的指令传下去。没有它，大脑和眼睛都是孤岛。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肌肉 · 躯干集成（⑤ 智能产线设计与应用　⑧ 双周实训）——把前面所有能力整合成一条能跑的线。力量从这里出来。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手脚 · 执行（⑥ 具身机器人装调　⑦ Python 二次开发）——最终把决策变成动作。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&gt; 还有三个"延伸部位"——血液（数据流通）、呼吸（能源与可持续）、免疫（质量与防错），它们贯穿全身，我们在总结页里再归位。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关键论断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请注意：任何一个部位单独强壮，都不会让这个生命体变强。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一个工厂买了最贵的机器人，但数据不通、质量体系缺失——就像给一个没有神经的人装上强壮的手臂，动不起来。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讲到每个部位时，用手或激光笔点向左侧人体模型的对应位置，再指向右侧卡片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"任何一个部位单独强壮"这句要加重，这是全场的主论点之一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给出一个反例（如买最贵机器人却不通数据）帮助观众具象化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收尾时一句话交棒下一页："这九个部位里，哪一个是起点？我们从最'土'的那门课讲起。"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05 第一讲 · 精益生产与浪费识别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肌肉系统（约 110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我们从头开始讲，先讲肌肉——精益生产。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精益的核心不是"省钱"，而是识别价值。它问的第一个问题永远是：客户愿意为这个动作付钱吗？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愿意的，叫增值活动。不愿意的，叫浪费。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精益里有个非常重要的判断标准叫"三不"：不增值、不必要、不均衡。凡是符合的，都是改善对象。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还有一句话请大家记住：库存是万恶之源。 因为库存会掩盖所有问题——设备故障被库存掩盖，质量问题被库存掩盖，换型慢也被库存掩盖。水面降下去，礁石才会露出来。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"客户愿意为这个动作付钱吗"是精益的第一性问题，要讲清楚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"水面降下去"这个比喻很好用，可以配合手势做水平下降的动作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这一页为下一页"七大浪费"做铺垫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06 深化 01 · 精益的四个基本工具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前面说"先精益、后自动化"。那精益到底用什么工具？这一页给四个能立刻上手的。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四个工具（约 90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5S 是最基础的，但别小看它。整理、整顿、清扫、清洁、素养——它的真正目的不是干净，是让异常一眼可见。工具找不到、物料混放，本身就是浪费的信号。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价值流图（VSM） 是唯一能看清全局的工具。它把从订单到交付的每一步画出来，标出增值时间和非增值时间。你会非常震惊地发现：增值时间常常只占 3%。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看板 解决的是"生产过多"这个最隐蔽的浪费。它是拉动式生产的信号装置——后工序要多少，前工序才做多少。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标准作业 是改善的地基。没有标准，就无所谓改善——你连"变好了没有"都无法判断。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三个常见坑（约 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5S 做成大扫除，检查完就回潮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VSM 画完挂在墙上，不去动瓶颈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标准作业写得太厚，没人照着做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核心句："精益不是省钱，是缩短从订单到现金的时间。"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可提问："你们厂的增值时间占比，有算过吗？"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06 七大浪费（含第八种）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逐项拆解（约 130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精益经典讲七大浪费，我加上第八种，因为它在我们这个行业最普遍。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一、过量生产——做得比需要的多、早。这是最严重的浪费，因为它会引发其他所有浪费。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二、等待——人等机、机等人、人等料。等待是最容易看见的浪费，也最容易被忽视。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三、搬运——不产生价值的移动。每多搬一次，就多一次磕碰和找料的机会。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四、过度加工——做得比客户要求更精细。听起来像是好事，其实是在浪费成本。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五、库存 ——刚才说过，万恶之源。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六、动作——人的无效动作。工位布置不合理导致的弯腰、转身、伸手。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七、不良品——返工、报废、重检。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八、人才浪费——这是我加的。让一个有想法的一线员工每天只做重复动作，不让他参与改善，这是最贵的浪费。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工具补充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识别浪费的标准工具是价值流图（VSM）。它把物料流和信息流画在一张图上，让浪费无处藏身。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讲到"人才浪费"时可以停下来问："你们厂里有多少改善提案是真的来自一线的？"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强调第八种浪费是现场最容易答应又最容易忘的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07 第二讲 · PLM 与 MES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骨架系统（约 130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现在讲骨架——PLM 和 MES。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我想先问一个很朴素的问题：这个产品，是谁设计的？怎么设计的？后来改了哪里？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如果答不出来，说明没有 PLM。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PLM（产品生命周期管理）管的是产品数据的全生命周期：设计模型、版本、变更、工艺文件。它解决的是"它是怎么被设计出来的"。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那 MES 呢？MES 管的是制造执行。它解决的是"它是怎么做出来的"——派工、报工、过程质量、追溯。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这里有个特别关键的点，也是很多企业踩坑的地方：ERP 知道"要做多少"，但它不知道"此刻做到了哪"。计划和现场之间有一道鸿沟，MES 填的就是这道鸿沟。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数字主线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把 PLM 和 MES 连起来的那条线，叫数字主线。它贯穿需求、设计、制造、服务，让每一台产品都可以被反向追问"为什么"。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常见误区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最常见的坑是：把 MES 当成电子表格用。 只做记录，不做约束。这样的 MES 是昂贵的台账，不是管理系统。真正的价值在于防错与实时纠偏。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"计划与现场的鸿沟"是这一页的核心句，可以重复一次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可以问："你们厂的 MES，是记录工具还是防错工具？"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09 深化 02 · PLM / MES 的四块基石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刚才讲了 PLM 和 MES 各自管什么。这一页往下钻一层：它们内部到底靠哪几张表跑起来。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四块基石（约 90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BOM（物料清单） 是产品的"配方"。设计 BOM 和制造 BOM 常常不是同一份，这个差异本身就是变更管理的核心难点。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工艺路线 定义"先做什么、后做什么、在哪台设备做"。它是连接设计和车间的翻译器。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工单 是执行的载体。一张工单把物料、工艺、设备、人员、时间绑在一起，也是成本核算的最小单元。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数字主线 把前面三者串起来，让任何一个质量问题都可以反向追问：这批料哪来的、谁操作的、当时参数是多少。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三个常见坑（约 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BOM 版本混乱，现场用的是过期版本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工艺路线与实际做法长期不一致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工单只开工不报工，数据永远填不满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核心句："MES 的价值不在记录，而在防错与实时纠偏。"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08 第三讲 · 机器视觉与智能检测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眼睛（约 130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眼睛这一课，是机器视觉与智能检测。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我把一条检测流水线拆成五个环节：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一、成像——相机、镜头、光源。这是决定上限的一步。很多人把精力花在算法上，其实是成像没做好，算法再强也救不回来。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二、预处理——去噪、增强、ROI 对齐。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三、特征提取与判定——可以用传统算子，也可以用深度学习。这里的选型要看缺陷类型和样本量。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四、通信与执行——结果要下发给 PLC，联动剔除机构。检测结果如果不能驱动动作，就只是报表。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三个必须懂的指标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漏检率——缺陷流到客户手里，这是最贵的错误。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过杀率——好品被误判报废，这是最常被忽视的成本。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节拍——能否跟上产线速度，这决定了方案能不能上线。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这三个指标互相制约。压低漏检往往抬高过杀，追求精度往往牺牲节拍。不能只看一个。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技术演进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规则算法 → 特征工程 → 深度学习 → 大模型 + 少样本。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我想强调一句：现在最缺的不是会调模型的人，而是会定义问题的人。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"成像决定上限"这个观点很多做过视觉的人会共鸣，可以稍作停留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三个指标的互相制约关系，用小幅度手势做天平状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11 深化 03 · 机器视觉的三个决定性细节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机器视觉听起来是算法问题，实际上八成的失败发生在算法之前。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三个决定性细节（约 90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打光 排第一，且远远排第一。同样的相机、同样的算法，换个光源方案，检出率能差 30 个百分点。打光的目标是让缺陷和背景产生最大对比度，而不是"看得清楚"。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标定 决定能不能测量。像素坐标不等于物理尺寸，畸变校正、坐标系对齐没做好，量出来的尺寸全是错的。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样本策略 决定模型能不能泛化。缺陷样本天然稀少，靠过采样、合成缺陷、异常检测（而不是分类）来应对，是工业场景的常规做法。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漏检与过杀（约 25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这是工业质检和互联网图像识别最大的区别：两类错误的代价完全不对称。 漏检让不良品流到客户，过杀让良品被报废。宁可过杀，不能漏检——但这个度要用成本来定，不是拍脑袋。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核心句："视觉项目 80% 的工作量在光和样本，不在模型。"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09 第四讲 · 工业物联网与边缘计算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神经系统（约 130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物联网是神经系统。我把它的架构分成四层，从下往上讲。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感知层——传感器、PLC、仪表。采集振动、温度、电流这些最原始的物理量。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网络层——现场总线、工业以太网、5G、TSN。这一层的关键词是时延确定性。工业网络和办公网络最大的区别是：它不追求平均速度快，它追求"最坏情况下也不超时"。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边缘层——就近计算与实时决策。这一层是今天最容易被低估的。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平台层——时序数据库、数字孪生、训练与全局优化。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为什么必须做边缘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三个理由：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带宽——一台设备一天可能产生几十 GB 的原始数据，全传云端不现实。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时延——云端往返往往在几十毫秒以上，而闭环控制要求毫秒级。这条路走不通。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可靠——断网时产线不能停。边缘计算让关键逻辑留在本地。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现实中的三道坎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协议不统一——老设备说不上话，这是最耗时间的活。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数据质量差——垃圾进垃圾出，这个不用多解释。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安全暴露面变大——连得越多，风险越大，必须做网络隔离。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"时延确定性"这个词值得解释一句，它是工业网络和消费网络的分水岭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三道坎要讲得实在，因为这是听众回去就会遇到的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13 深化 04 · 工业物联网：协议、边缘与时序库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数据要往上走，先得过三关：说什么语言、在哪算、存哪里。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三关（约 90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协议选型取决于设备有多老。 Modbus / Profinet / OPC UA 是 PLC 与产线设备的主流语系，其中 OPC UA 自带语义模型，是往上走的标准入口。MQTT / Sparkplug B 适合弱网、跨厂区场景，发布订阅模式天然适配海量点位上报。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为什么必须做边缘计算？ 三个理由：带宽——每台设备每秒上千点位，全传云太贵；时延——剔除动作必须毫秒级，等不了云端往返；可用性——断网时产线不能停。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时序数据库 是刚需。传感器数据按时间写入、按时间窗口聚合，压缩率极高。用关系库存传感器数据，三个月就会撑爆。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三个常见坑（约 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采了点位但没有时间同步，数据无法对齐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点表命名混乱，谁也看不懂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只采不洗，脏数据直接入湖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核心句："先把时间对齐，再谈分析。"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10 第五讲 · 工业机器人与自动化产线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手脚（约 120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手脚这一课，是机器人与自动化产线。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机器人系统由五部分组成：本体（机械结构与关节）、伺服驱动（精度与响应）、控制系统（轨迹与节拍）、末端执行器（抓手、焊枪、吸盘）、以及安全系统（光栅、急停、协作分级）。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第五点特别容易被忽略。很多人选型只看机器人本体参数，最后卡在安全方案上。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刚性 vs 柔性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刚性自动化：大批量、低换型、投资重。适合单一品种的量产。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柔性自动化：多品种、快换型，靠视觉和协作机器人撑住弹性。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我的判断是：未来的主流是小批量多品种，柔性是必答题，不是选答题。 消费需求越来越个性化，这个趋势不可逆。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什么时候该上机器人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三个信号：招不到人、质量波动大、节拍瓶颈。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但要算清三笔账：投资回收期、稼动率、维护成本。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我想说一句可能不太受欢迎的话：上错了比不上更贵。 一台常年闲置的机器人，是纯负债，每天都在折旧。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"上错了比不上更贵"这句话有冲击力，可以稍作停顿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这一页的实用性强，听众里做投资决策的人会格外关注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15 深化 05 · 机器人的三个坐标系、安全与节拍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机器人不是装上就能干活。能不能用好，取决于三件事。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三个坐标系（约 60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关节坐标系 控制每个轴的角度，用于手动调试；直角（世界）坐标系 用于直线运动与轨迹规划；工具坐标系 定义在末端执行器上，换夹具后必须重新标定。绝大多数轨迹 bug，根子都在坐标系选错了。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安全底线（约 40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协作机器人不等于"不用防护"。风险评估、安全等级（PLd / Cat.3）、速度力矩限制、光栅与急停，一样都不能省。安全是设计出来的，不是调出来的。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节拍怎么算（约 40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节拍不是机器人本体速度，而是整个工位循环时间：取放、定位、加工、检测、等待的总和。真正的瓶颈往往在上下料和夹具切换，不在机器人本身。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核心句："买机器人是买节拍，不是买自由度。"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11 贯穿主线 · 从订单到交付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中场串联（约 110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讲到这里，我们已经过了骨架、眼睛、神经、手脚、肌肉。现在我需要把它们串起来。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我们跟着一个订单走一遍：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订单（ERP）→ 排产（APS）→ 加工（MES）→ 检测（VISION）→ 交付（WMS）。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这条链上，每一环都对应一门课。刚才分散的知识点，现在落在同一条线上。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一个核心原则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信息流与物流必须同步。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信息流超前，现场会乱套——系统显示已经报工，实际还没做，后面全部错位。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物流超前，库存会积压——货到了但系统不知道，账实不符。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两者对齐的那一刻，才叫"数字化打通"。 很多企业的数字化停留在"有系统"，没到"通"。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瓶颈理论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整条线的产能，由最慢的那道工序决定。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由此推出一个反直觉但极其重要的结论：改善非瓶颈工序，等于浪费资源。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你在非瓶颈上花的每一分钱，都不会增加产出。正确顺序是：找到瓶颈、保护瓶颈、再提升瓶颈。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这一页是全场承上启下的枢纽，节奏要稳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"改善非瓶颈等于浪费资源"这句会挑战很多人的直觉，值得强调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12 第六讲 · Python 与工业数据分析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血液（约 120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数据是血液。而 Python 是让血液流动起来的泵。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我把工业数据分析拆成固定五步：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一、取数——读 CSV、连数据库、调 MES 接口。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二、清洗——处理缺失值、异常值、时间对齐。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三、分析——分组、对比、找趋势。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四、可视化——让结论被看见。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五、结论——落到行动。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我想强调一个常被低估的事实：80% 的时间花在第一步和第二步。 很多新人一上来就想学高级算法，实际上真正决定分析质量的，是数据清洗做得干不干净。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一个例子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（指向代码区）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```python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import pandas as pd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df = pd.read_csv("line.csv")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g = df.groupby("shift").defect_rate.mean()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早班 1.8%  晚班 3.4%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```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就这么几行，就能发现晚班不良率是早班的两倍。这不是算法厉害，是问题问得对。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比语法更重要的三件事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知道业务问题是什么。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知道数据怎么来的。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知道结论会被谁用。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工具会过时，这三个判断力不会。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这几行代码不用逐字念，重点讲"问题问得对"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如果现场有技术背景的人，可以补一句"pandas 只是手段，不是目的"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18 深化 06 · Python 数据分析的四步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Python 在工业场景不是写算法，是把散落各处的数据变成能回答问题的表。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四步（约 100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第一步：读取与对齐。 CSV、Excel、SQL、OPC 历史库，来源五花八门。最关键的是时间戳对齐——不同系统的采样频率不同，不对齐就是错的。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第二步：清洗。 处理缺失值、异常跳变、停机时段。工业数据的脏是结构性的：传感器掉线、换型空档、单位为毫米还是微米。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第三步：特征构造。 这是最能体现领域知识的一步。把电流曲线变成"峰值、均值、上升沿时长"，把温度变成"升温速率"，模型的上限在这里就定了。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第四步：可视化与报告。 代码即文档，分析过程可复现。一次性的 Excel 操作无法审计、无法复用，而脚本可以。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能力自检（约 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能独立跑通一条完整链路：取数 → 清洗 → 出图 → 给结论。到这一步，你就已经超过大多数只会做报表的人了。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核心句："分析的价值不在图好看，在结论可复现。"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13 第七讲 · AI 智能体与工业大模型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大脑（约 130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终于讲到大脑。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智能体和大模型最大的区别是什么？大模型回答问题，智能体采取行动。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一个智能体的闭环有四个环节：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感知——读设备数据、报表、工单。它要知道现在是什么状况。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规划——拆解目标，选定工具链。它要决定怎么做。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行动——调接口、下发指令、生成工单。它要真的做事。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反馈与校验——结果回灌，形成经验和约束。它要从结果里学习。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关键是第四步。没有反馈闭环的智能体，只是自动化的聊天机器人。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已经能落地的四类场景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设备故障问答与维修指导——把老师傅的经验结构化。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工艺参数推荐与调优——基于历史数据给出候选参数。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质量报告自动生成——把分析师从重复劳动里解放出来。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排产方案的候选生成——人来决策，机器出方案。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注意我的措辞：都是"辅助""候选""推荐"。这不是保守，这是工业场景的必然。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工业场景的三条红线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幻觉不可接受——必须可溯源。工业决策出错是要出事故的。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响应要确定——关键环节必须人工兜底。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数据不出厂——私有化部署优先。工艺参数是核心资产。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三条红线是这一页的重点，尤其"幻觉不可接受"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强调"人来决策，机器出方案"这个分工，避免听众产生被取代的焦虑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20 深化 07 · 从"会聊天"到"能办事"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大模型会说话，但工业现场需要它做事。中间差三件事。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三件事（约 95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RAG（检索增强生成） 解决"懂不懂行"。通用模型不知道你们厂的工艺卡、设备手册和历史工单。把企业知识库检索出来再喂给模型，幻觉会显著下降。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工具调用 解决"动不动得了手"。查 MES 工单、下发参数、生成报表——这些必须由 Agent 调用真实系统 API 完成，而不是让模型编一个答案。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评测与兜底 解决"敢不敢信"。必须有离线评测集、置信度阈值和低置信度转人工的机制。没有兜底的 Agent 不能上生产系统。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工业场景的额外约束（约 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准确性：工艺参数错一位就是批次事故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响应时间：现场不接受等 30 秒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可解释：必须给出依据出处，否则没人敢执行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核心句："Agent 的成熟标志不是聪明，是知道自己什么时候不确定。"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14 综合实战 · 一个车间的一天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案例演绎（约 170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讲了这么多，我们做一个案例。这道题，是真实工厂里会遇到的。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任务：晚班某型号壳体，不良率突然从 1.8% 升到 3.4%。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要求：4 小时内定位原因、给出对策，并让同类问题不再复发。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我先说一句：这道题的答案，不在任何单一课程里。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我们走四步。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第一步：先把数据拉出来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用 Python 清洗生产数据，按班次、设备、批次三个维度做交叉对比。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为什么要按批次？因为如果不良集中在某个批次，那是来料问题；如果分散在所有批次，那是过程问题。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第二步：定位到工序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用 MES 追溯全流程记录。这里就是 MES 的价值——它能告诉你每一个零件经过了哪台设备、哪个工位、什么参数。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结论：不良集中在那台焊接设备的第 3 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第三步：验证假设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有了假设，还要验证。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从 IIoT 取这台设备的振动曲线，同时用视觉复核焊缝外观。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结论：是电极磨损导致的，不是来料问题，也不是人为操作问题。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注意：如果没有 IIoT 的振动数据，你只能靠猜；如果没有视觉复检，你可能误判为外观问题去改模具。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第四步：固化与预防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找到原因只完成了一半。真正的价值在于让它不再发生。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更新保养标准、加装检测点、把防错规则写进 MES、让智能体自动巡检。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关键论断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四步分别用到了 Python、MES、IIoT、视觉、智能体、精益——九门课同时上场。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这就是我一直想说的：单点技术不产生价值，连成闭环才有价值。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这一页是全场的高潮，节奏要清晰，四步之间要有停顿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第三步的"如果没有……只能靠猜"可以强调，突出多技术协同的必要性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结尾回扣主论点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22 工厂实战 · 一条壳体加工线的改造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讲了九门课，它们在同一条产线上是怎么同时生效的？看一个真实改造。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起点（约 40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一个精密结构件车间：不良率 3.4% 靠人工全检兜底，换型 2.5 小时占掉整整一个班，设备 OEE 只有 58%，工艺与质量记录两张皮，追溯一个问题要两天。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诊断结论很关键：问题不在设备不够先进，而在于流程没理顺、数据没打通。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打法（约 70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四步，各门课各司其职：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1. 精益诊断——价值流图找瓶颈，先消除等待与搬运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2. 数据打通——IIoT 采集 + MES 统一工艺路线与工单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3. 检测与执行——机器视觉全检 + 机器人柔性上下料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4. 分析与决策——Python 归因分析 + SPC 预警 + 智能体辅助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关键顺序是：先精益，后自动化，再智能化。 反过来做，就是把浪费自动化。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结果（约 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不良率 3.4% → 1.1%；换型 150 分钟 → 45 分钟；OEE 58% → 76%；质检人力释放 60%。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核心句："这条线没有买一台新设备，只是把已有的东西连了起来。"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15 回头看 · 九门课拼成了一个生命体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收束主线（约 110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我们回头看一下。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刚才那个案例里出现的每一个动作，都能对应到一个器官：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大脑——AI 智能体与大模型，判断与决策。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神经——工业物联网，传输信号。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眼睛——视觉与智能检测，看见状态。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手脚——机器人与产线，执行动作。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骨架——PLM 与 MES，挂载数据。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血液——数据，靠 Python 流通。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肌肉——精益与自动化，产生力量。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呼吸——能源与可持续，维持运转。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免疫——质量与防错，识别异常。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意志——持续改善的文化。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九个课，十个器官，一个生命体。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三句总结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我想留三句话给大家。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第一句：单点技术不产生价值，只有连成闭环才有价值。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第二句：数据是新的工艺。 没有数据，就没有改善的依据。过去靠老师傅的经验，未来靠经验加数据的双轮。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第三句：最后的瓶颈永远是人。 技术只是人的延伸。一个不愿意改变的组织，装上再好的系统也跑不起来。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这一页是对全场的回收，语速可以放慢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三句总结是全场记忆点，每句之间停顿 2 秒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可以看向观众，而不是屏幕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16 往前走 · 三条可以走的路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职业路径（约 110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学完之后，路怎么走？我看到三条。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路线 A · 技术纵深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视觉算法工程师、数据工程师、自动化/机器人工程师。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核心壁垒是：能把问题建模成算法。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适合喜欢钻深、愿意长时间专注一件事的人。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路线 B · 系统集成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智能制造工程师、MES/PLM 实施顾问、项目经理。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核心壁垒是：能听懂车间，也能听懂代码。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这是最稀缺的一类人。技术专家很多，但能同时和车间主任与程序员对话的人很少。适合擅长沟通与统筹的人。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路线 C · 精益改善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精益/IE 工程师、工艺工程师、数字化转型负责人。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核心壁垒是：能用数据推动组织改变。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这条路最难，因为它要改变的是人。适合对人敏感、有耐心的人。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补充说明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三条路没有高下之分，但有一点是共通的：你至少要有一个主场，再横向扩展。 全都懂一点、全都不深，是最难被需要的。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让听众对号入座，可以在每条路线后停顿，观察反应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"能同时和车间主任与程序员对话"这类描述很有画面感，值得强调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17 延伸一 · 能源管理与绿色制造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呼吸系统（约 100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先讲呼吸——能源。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这是一张典型离散制造工厂的能耗结构图。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空压与动力占 42% ——这是最容易被忽视的一块。空压系统的泄漏，很多工厂的泄漏率在 20%–30%，也就是说将近三分之一的压缩空气直接漏进了空气里。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工艺设备占 31%——这是生产的刚需，优化空间在于效率。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照明与空调占 18%——厂房空间大，这一块的改善空间也不小。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其他占 9%。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四个立竿见影的抓手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一、空压系统泄漏治理。 投入小、见效快，通常几周就能收回成本。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二、分时电价下的负荷调度。 把可延迟的工序挪到谷电时段。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三、设备待机自动断电。 一个简单的定时器，就能省下可观的电费。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四、余热回收。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为什么值得现在做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两个理由。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一是经济账：电费占制造成本的 5% 到 15%。 省下的电费，直接等于利润，不需要增加一分钱销售额。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二是趋势账：碳指标正在变成关税与订单门槛。 尤其做外贸的企业，客户已经开始要求提供碳足迹数据。这不是未来的事，是现在的事。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"将近三分之一的压缩空气漏进了空气里"这个数据很有冲击力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强调能源改善是"投入小、见效快"的典型场景，适合作为数字化入门项目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26 深化 08 · 能源管理与数字孪生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能耗是制造业最容易被忽略的成本项，也是最容易被"假改善"蒙混的一项。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能源管理管三个数（约 70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能耗结构——先知道电去哪了。典型离散制造：空压 22%、空调 18%、机加 31%、其他 29%。不分项计量，节能就是空话。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单位产品能耗（kWh / 件）——这是唯一可比的管理指标，不是总电费。产量翻倍但单耗不变，说明没有真正改善。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需量管理——被忽视的电费大头。按最大需量计费，一台设备同时启动就能拉高一整月。错峰排产是零成本的节流手段。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数字孪生的三个层次（约 50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几何孪生看得见，三维还原现场；机理孪生算得准，有物理方程支撑；数据孪生能预测，靠历史数据校准。三者是递进关系，不是替代关系。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三个常见坑（约 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做完只用于展厅演示，没有决策闭环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模型与 MES 实时数据没打通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仿真工况与现场实际长期脱节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核心句："孪生不是三维动画，是能拿来做决策的模型。"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18 延伸二 · 质量工程与统计过程控制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免疫系统（约 130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免疫系统，是质量工程。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先讲核心工具：控制图。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控制图有三条线：中心线（CL）、上控制限（UCL）、下控制限（LCL）。数据点落在控制限内且分布随机，说明过程稳定；出现特定模式或超出控制限，说明失控。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（指向图中的橙点）这两个点就是失控信号，必须立刻查因。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一个关键区分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我想特别强调一点：判稳 ≠ 合格。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控制图判断的是"过程是否稳定"，不是"产品是否合格"。一个过程可以非常稳定地产出不合格品——稳定地偏在规格之外。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所以控制图和规格限是两件事。控制限来自过程本身的波动，规格限来自客户要求。混淆这两者是最常见的错误。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能力指数怎么读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CPK &lt; 1.0 ——过程不可接受。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1.0 – 1.33 ——勉强，需要改善。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≥ 1.33 ——行业常规要求。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质量成本的四张账单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预防成本、鉴定成本、内部失效成本、外部失效成本。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记住一个经验比值：1 元预防 ≈ 10 元鉴定 ≈ 100 元失效。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也就是说，花 1 块钱做预防，能省下 100 块钱的售后损失。这个账大部分人都算得清，但真正去做预防的企业并不多。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"判稳 ≠ 合格"是这一页最容易被忽略也最重要的点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1:10:100 的比值可以重复一次，这是决策依据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28 深化 09 · 质量工程四件事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承上启下（约 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质量不是检出来的，是过程做出来的。这一页讲把质量做进过程的四个工具。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四件事（约 95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SPC 控制图 的核心价值是区分普通原因和特殊原因波动。越界只是信号之一，连续 7 点同侧、连续 6 点趋势同样是异常——这叫判异准则。把普通原因当特殊原因去调，反而会把过程搞得更差。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CPK 衡量过程能力，看的是分布相对于公差的宽度和居中程度。CPK ≥ 1.33 是多数行业的准入线。注意：CPK 的前提是过程稳定，不稳定就谈不上能力。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8D 是结构化的问题解决方法：成立小组、描述问题、临时对策、根本原因、永久对策、验证、预防再发、表彰。它最大的价值是强制你走到"根本原因"那一层。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Poka-Yoke 防错 是最高级的手段——让错误根本不可能发生。检测是事后，防错是事前。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能力自检（约 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能看懂一张 X-bar R 图，能算 CPK，能判断一个过程是稳定还是能力不足。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核心句："质量的目标不是检出不良，是让不良不发生。"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19 延伸三 · 数字孪生与仿真优化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先在电脑里试错（约 110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数字孪生，一句话概括：先在电脑里试错，再在车间里动手。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虚实映射分三个层次：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① 几何孪生——形状与布局。用来看。它回答"长什么样"。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② 行为孪生——节拍与物流。用来算。它回答"跑起来会怎样"。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③ 决策孪生——实时优化。用来指挥。它回答"现在该调什么"。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大部分企业停在第一层。真正的价值在第二层和第三层。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最值得先做的三件事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一、新线布局仿真。 投产前验证产能，避免建完了才发现瓶颈。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二、瓶颈推演。 改之前先看效果。改一条产线动辄几十万，仿真成本可以忽略不计。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三、培训与应急演练。 零风险试错，让新人快速上手。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别掉进的两个陷阱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陷阱一：为了建模而建模。 模型做得很漂亮，但从来没有人用它做决定。这是纯粹的浪费。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陷阱二：模型不随现场更新。 现场改了布局、换了设备，模型还停在三个月前。失真的模型比没有模型更危险，因为它会给你错误的信心。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"模型的价值取决于被谁用来做决定"这句可以作为这一页的收尾金句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强调"大部分企业停在第一层"，给听众一个自我诊断的标尺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20 延伸四 · 组织与人的数字化转型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最难的一门课（约 120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这一页，是我认为最难的一门课。它不在任何课程表上。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转型失败的真正原因，通常不在技术。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三种典型死法：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一、只做工具，不改流程。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旧流程直接套新系统，效率反而下降。因为系统被迫去迁就一个本来就不合理的流程，还多了一层录入负担。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二、只下指标，不给能力。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一线员工不会用，又背了考核指标，结果就是数据录入造假。系统里的数据很漂亮，现场完全不是那么回事。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三、只喊口号，不给激励。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改善带来的收益归公司，成本和不便归个人。这种安排下，没有人会真心参与。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一句话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技术是必要条件，组织是充分条件。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没有技术，你做不到；只有技术，你做不到位。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你能做的四件事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① 用一个小场景做出可见成果。 不要一上来就谈全厂变革。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② 把数据当共同语言。 开会看数，而不是看感觉。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③ 培养复合人才，允许试错。 试错成本要由组织承担，不能由个人承担。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④ 让改善的人得到回报。 这是最直接也最有效的一条。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最后一句：先赢一场小仗，再谈全面推广。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"数据录入造假"这个词要说得直接，很多听众有切身体会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这一页为下一页的路线图做铺垫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21 落地路线图 · 从明天开始怎么做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给出可执行路径（约 120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讲了这么多概念，最后我要回答一个问题：明天回到工厂，该做什么？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我把它分成三个阶段。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第一阶段：0–3 个月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选一个痛点，打通一个数据源。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标准就三个字：小、快、可见。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不要一上来就做全厂 MES，不要一上来就上数字孪生。选一个具体的、每天都能看到的问题——比如刚才讲的空压泄漏，或者某个工位的等待时间。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这一阶段的目标不是解决大问题，是证明这条路可行。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第二阶段：3–12 个月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固化流程与标准，培养种子团队，复制到第二条线。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第一阶段做出来的东西，要写成标准，要有人能重复做。然后复制。如果第一个场景只有你能做，那它不是成功，是个人英雄主义。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第三阶段：1–3 年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数据驱动决策，全局优化与预测，组织能力成型。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到这一步，才谈得上"数字化转型"这四个字。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贯穿始终的一条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让一线参与设计，而不是被通知。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这条从第一天就要做到，否则第三阶段永远到不了。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最后两句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不要一开始就追求"全厂打通"，那是 3 年后的事。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第一仗的标准只有一条：别人能看见效果。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要的是能说服老板、说服同事、也说服自己的一个具体成果。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"小、快、可见"三个字可以作为给听众的行动口诀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"如果第一个场景只有你能做，那它不是成功"这句话值得强调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这一页内容密集，但逻辑清晰，按阶段推进即可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22 收尾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结束语（约 50 秒）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我最后想说一句话，作为今天的收尾。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技术会变，问题不会变。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五年后，今天讲的大模型可能会被更新的技术取代，工业物联网的协议会升级，机器人会更便宜。但有一样东西不会变——工厂里永远存在需要被看见、被理解、被解决的问题。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所以九门课学到最后，其实学的是同一件事：看见问题，然后解决它。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（指向四个标签）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会看——看得见现场的真实状态。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会算——算得出数据背后的原因。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会改——改得动流程和系统。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会坚持——扛得住改善过程中的反复。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这四件事，才是这九门课真正想给你的东西。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谢谢大家，欢迎提问交流。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演讲提示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/>
            </a:r>
            <a:endParaRPr sz="12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最后这句话要慢，要有力，说完停顿 3 秒再致谢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不要在收尾时引入新信息，这一页只做情感收束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• 留出充裕的提问时间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mart_mfg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3" id="3"/>
          <p:cNvSpPr/>
          <p:nvPr>
            <p:ph idx="5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6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9BA51066-FB7E-4C9F-8C77-A7FA5CBC1A9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2" Target="../slideLayouts/slideLayout13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mart_mfg_v2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567B583D-B28C-42DE-B2D0-509C61A1E5B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2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4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6.jpe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8.jpe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jpeg" Type="http://schemas.openxmlformats.org/officeDocument/2006/relationships/image"/><Relationship Id="rId3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0.jpeg" Type="http://schemas.openxmlformats.org/officeDocument/2006/relationships/image"/><Relationship Id="rId3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2.jpeg" Type="http://schemas.openxmlformats.org/officeDocument/2006/relationships/image"/><Relationship Id="rId3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3.jpeg" Type="http://schemas.openxmlformats.org/officeDocument/2006/relationships/image"/><Relationship Id="rId3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4.jpeg" Type="http://schemas.openxmlformats.org/officeDocument/2006/relationships/image"/><Relationship Id="rId3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6.jpeg" Type="http://schemas.openxmlformats.org/officeDocument/2006/relationships/image"/><Relationship Id="rId3" Target="../notesSlides/notesSlide37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7.jpeg" Type="http://schemas.openxmlformats.org/officeDocument/2006/relationships/image"/><Relationship Id="rId3" Target="../notesSlides/notesSlide39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8.png" Type="http://schemas.openxmlformats.org/officeDocument/2006/relationships/image"/><Relationship Id="rId3" Target="../notesSlides/notesSlide40.xml" Type="http://schemas.openxmlformats.org/officeDocument/2006/relationships/notesSlide"/></Relationships>
</file>

<file path=ppt/slides/_rels/slide4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9.jpeg" Type="http://schemas.openxmlformats.org/officeDocument/2006/relationships/image"/><Relationship Id="rId3" Target="../notesSlides/notesSlide41.xml" Type="http://schemas.openxmlformats.org/officeDocument/2006/relationships/notesSlide"/></Relationships>
</file>

<file path=ppt/slides/_rels/slide4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0.jpeg" Type="http://schemas.openxmlformats.org/officeDocument/2006/relationships/image"/><Relationship Id="rId3" Target="../notesSlides/notesSlide42.xml" Type="http://schemas.openxmlformats.org/officeDocument/2006/relationships/notesSlide"/></Relationships>
</file>

<file path=ppt/slides/_rels/slide4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1.jpeg" Type="http://schemas.openxmlformats.org/officeDocument/2006/relationships/image"/><Relationship Id="rId3" Target="../notesSlides/notesSlide43.xml" Type="http://schemas.openxmlformats.org/officeDocument/2006/relationships/notesSlid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30000"/>
                </a:srgbClr>
              </a:gs>
              <a:gs pos="100000">
                <a:srgbClr val="060D16">
                  <a:alpha val="9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97000"/>
                </a:srgbClr>
              </a:gs>
              <a:gs pos="41999">
                <a:srgbClr val="060D16">
                  <a:alpha val="86000"/>
                </a:srgbClr>
              </a:gs>
              <a:gs pos="100000">
                <a:srgbClr val="060D16">
                  <a:alpha val="62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060D16">
              <a:alpha val="24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29000" y="-1714500"/>
            <a:ext cx="11811000" cy="9144000"/>
          </a:xfrm>
          <a:prstGeom prst="ellipse">
            <a:avLst/>
          </a:prstGeom>
          <a:gradFill rotWithShape="true">
            <a:gsLst>
              <a:gs pos="0">
                <a:srgbClr val="00E5FF">
                  <a:alpha val="30000"/>
                </a:srgbClr>
              </a:gs>
              <a:gs pos="55000">
                <a:srgbClr val="0A6E8C">
                  <a:alpha val="12000"/>
                </a:srgbClr>
              </a:gs>
              <a:gs pos="100000">
                <a:srgbClr val="060D16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12700">
            <a:solidFill>
              <a:srgbClr val="12314A">
                <a:alpha val="5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5429250"/>
            <a:ext cx="6438900" cy="628650"/>
          </a:xfrm>
          <a:custGeom>
            <a:avLst/>
            <a:gdLst/>
            <a:ahLst/>
            <a:cxnLst/>
            <a:rect r="r" b="b" t="t" l="l"/>
            <a:pathLst>
              <a:path h="628650" w="6438900">
                <a:moveTo>
                  <a:pt x="0" y="628650"/>
                </a:moveTo>
                <a:lnTo>
                  <a:pt x="2724150" y="628650"/>
                </a:lnTo>
                <a:lnTo>
                  <a:pt x="3352800" y="0"/>
                </a:lnTo>
                <a:lnTo>
                  <a:pt x="6438900" y="0"/>
                </a:lnTo>
              </a:path>
            </a:pathLst>
          </a:custGeom>
          <a:noFill/>
          <a:ln w="12700">
            <a:solidFill>
              <a:srgbClr val="00E5FF">
                <a:alpha val="5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286500" y="1600200"/>
            <a:ext cx="5905500" cy="628650"/>
          </a:xfrm>
          <a:custGeom>
            <a:avLst/>
            <a:gdLst/>
            <a:ahLst/>
            <a:cxnLst/>
            <a:rect r="r" b="b" t="t" l="l"/>
            <a:pathLst>
              <a:path h="628650" w="5905500">
                <a:moveTo>
                  <a:pt x="5905500" y="0"/>
                </a:moveTo>
                <a:lnTo>
                  <a:pt x="3276600" y="0"/>
                </a:lnTo>
                <a:lnTo>
                  <a:pt x="2647950" y="628650"/>
                </a:lnTo>
                <a:lnTo>
                  <a:pt x="0" y="628650"/>
                </a:lnTo>
              </a:path>
            </a:pathLst>
          </a:custGeom>
          <a:noFill/>
          <a:ln w="12700">
            <a:solidFill>
              <a:srgbClr val="00E5FF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40243" y="3248025"/>
            <a:ext cx="2894457" cy="430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true" i="false" strike="noStrike" u="none" sz="22500">
                <a:solidFill>
                  <a:srgbClr val="0E2A4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AI</a:t>
            </a:r>
            <a:endParaRPr lang="en-US" sz="1100"/>
          </a:p>
        </p:txBody>
      </p:sp>
      <p:grpSp>
        <p:nvGrpSpPr>
          <p:cNvPr name="Group 11" id="11"/>
          <p:cNvGrpSpPr/>
          <p:nvPr/>
        </p:nvGrpSpPr>
        <p:grpSpPr>
          <a:xfrm>
            <a:off x="754380" y="1228725"/>
            <a:ext cx="4357116" cy="457200"/>
            <a:chOff x="754380" y="1228725"/>
            <a:chExt cx="4357116" cy="457200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762000" y="1638300"/>
              <a:ext cx="723900" cy="47625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2500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754380" y="1228725"/>
              <a:ext cx="4357116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00" spc="52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INDUSTRIAL INTELLIGENCE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723900" y="2258378"/>
            <a:ext cx="5499701" cy="1971675"/>
            <a:chOff x="723900" y="2258378"/>
            <a:chExt cx="5499701" cy="1971675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723900" y="2258378"/>
              <a:ext cx="5268087" cy="10763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5550">
                  <a:solidFill>
                    <a:srgbClr val="F2F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构建工业智能的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723900" y="3153728"/>
              <a:ext cx="5499701" cy="10763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55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60000">
                        <a:srgbClr val="8FE9FF">
                          <a:alpha val="100000"/>
                        </a:srgbClr>
                      </a:gs>
                      <a:gs pos="100000">
                        <a:srgbClr val="00C8E8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“大脑”与“肢体”</a:t>
              </a:r>
              <a:endParaRPr lang="en-US" sz="1100"/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750189" y="4267200"/>
            <a:ext cx="5333035" cy="775240"/>
            <a:chOff x="750189" y="4267200"/>
            <a:chExt cx="5333035" cy="775240"/>
          </a:xfrm>
        </p:grpSpPr>
        <p:sp>
          <p:nvSpPr>
            <p:cNvPr name="AutoShape 18" id="18"/>
            <p:cNvSpPr/>
            <p:nvPr/>
          </p:nvSpPr>
          <p:spPr>
            <a:xfrm rot="0" flipH="false" flipV="false">
              <a:off x="762000" y="4267200"/>
              <a:ext cx="3333750" cy="28575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2500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750189" y="4587716"/>
              <a:ext cx="5333035" cy="45472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232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九门核心课程串联与进阶学习路径解析</a:t>
              </a:r>
              <a:endParaRPr lang="en-US" sz="1100"/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754761" y="5753100"/>
            <a:ext cx="3990614" cy="886873"/>
            <a:chOff x="754761" y="5753100"/>
            <a:chExt cx="3990614" cy="886873"/>
          </a:xfrm>
        </p:grpSpPr>
        <p:sp>
          <p:nvSpPr>
            <p:cNvPr name="AutoShape 21" id="21"/>
            <p:cNvSpPr/>
            <p:nvPr/>
          </p:nvSpPr>
          <p:spPr>
            <a:xfrm rot="0" flipH="false" flipV="false">
              <a:off x="762000" y="5753100"/>
              <a:ext cx="2057400" cy="400050"/>
            </a:xfrm>
            <a:prstGeom prst="roundRect">
              <a:avLst>
                <a:gd name="adj" fmla="val 50000"/>
              </a:avLst>
            </a:prstGeom>
            <a:solidFill>
              <a:srgbClr val="0E243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882990" y="5882164"/>
              <a:ext cx="181541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15 MIN · 9 COURSES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54761" y="6361271"/>
              <a:ext cx="3990614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419">
                  <a:solidFill>
                    <a:srgbClr val="4E7A9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分享者：示例　|　智能制造课程体系　|　2026</a:t>
              </a:r>
              <a:endParaRPr lang="en-US" sz="1100"/>
            </a:p>
          </p:txBody>
        </p:sp>
      </p:grpSp>
      <p:sp>
        <p:nvSpPr>
          <p:cNvPr name="Freeform 24" id="24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5FE8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10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28000"/>
                </a:srgbClr>
              </a:gs>
              <a:gs pos="100000">
                <a:srgbClr val="060D16">
                  <a:alpha val="9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97000"/>
                </a:srgbClr>
              </a:gs>
              <a:gs pos="41999">
                <a:srgbClr val="060D16">
                  <a:alpha val="86000"/>
                </a:srgbClr>
              </a:gs>
              <a:gs pos="100000">
                <a:srgbClr val="060D16">
                  <a:alpha val="62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060D16">
              <a:alpha val="22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2286000"/>
                </a:moveTo>
                <a:lnTo>
                  <a:pt x="12192000" y="2286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9144000" y="0"/>
                </a:moveTo>
                <a:lnTo>
                  <a:pt x="9144000" y="6858000"/>
                </a:lnTo>
              </a:path>
            </a:pathLst>
          </a:custGeom>
          <a:noFill/>
          <a:ln w="12700">
            <a:solidFill>
              <a:srgbClr val="12314A">
                <a:alpha val="4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382000" y="3429000"/>
            <a:ext cx="3810000" cy="3810000"/>
          </a:xfrm>
          <a:prstGeom prst="ellipse">
            <a:avLst/>
          </a:prstGeom>
          <a:solidFill>
            <a:srgbClr val="0A2233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890809" y="6385560"/>
            <a:ext cx="545287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 / 32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>
            <a:off x="742950" y="1474470"/>
            <a:ext cx="353173" cy="1047750"/>
            <a:chOff x="742950" y="1474470"/>
            <a:chExt cx="353173" cy="1047750"/>
          </a:xfrm>
        </p:grpSpPr>
        <p:sp>
          <p:nvSpPr>
            <p:cNvPr name="AutoShape 10" id="10"/>
            <p:cNvSpPr/>
            <p:nvPr/>
          </p:nvSpPr>
          <p:spPr>
            <a:xfrm rot="0" flipH="false" flipV="false">
              <a:off x="742950" y="1474470"/>
              <a:ext cx="353173" cy="1047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5400">
                  <a:solidFill>
                    <a:srgbClr val="1E4B6B"/>
                  </a:solidFill>
                  <a:latin typeface="Georgia"/>
                  <a:ea typeface="Georgia"/>
                  <a:cs typeface="Georgia"/>
                  <a:sym typeface="Georgia"/>
                </a:rPr>
                <a:t>“</a:t>
              </a:r>
              <a:endParaRPr lang="en-US" sz="110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1314450" y="2722245"/>
            <a:ext cx="5288280" cy="1524000"/>
            <a:chOff x="1314450" y="2722245"/>
            <a:chExt cx="5288280" cy="1524000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1314450" y="2722245"/>
              <a:ext cx="4238244" cy="762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9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我们学了九门课，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314450" y="3484245"/>
              <a:ext cx="5288280" cy="762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90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但它们是一个整体吗？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1323594" y="4572000"/>
            <a:ext cx="4725162" cy="1085279"/>
            <a:chOff x="1323594" y="4572000"/>
            <a:chExt cx="4725162" cy="1085279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1333500" y="4572000"/>
              <a:ext cx="1143000" cy="28575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1323594" y="4894898"/>
              <a:ext cx="4725162" cy="76238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3000"/>
                </a:lnSpc>
                <a:defRPr/>
              </a:pPr>
              <a:r>
                <a:rPr lang="en-US" b="false" i="false" strike="noStrike" u="none" sz="19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课程清单很长，但如果只是逐门去学——</a:t>
              </a:r>
              <a:br>
                <a:rPr lang="en-US" b="false" i="false" strike="noStrike" u="none" sz="19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9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你会得到九个知识碎片，而不是一种能力。</a:t>
              </a:r>
              <a:endParaRPr lang="en-US" sz="1100"/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1325499" y="6040279"/>
            <a:ext cx="6567150" cy="308039"/>
            <a:chOff x="1325499" y="6040279"/>
            <a:chExt cx="6567150" cy="308039"/>
          </a:xfrm>
        </p:grpSpPr>
        <p:sp>
          <p:nvSpPr>
            <p:cNvPr name="AutoShape 18" id="18"/>
            <p:cNvSpPr/>
            <p:nvPr/>
          </p:nvSpPr>
          <p:spPr>
            <a:xfrm rot="0" flipH="false" flipV="false">
              <a:off x="1325499" y="6040279"/>
              <a:ext cx="656715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今天的 15 分钟，我们要把这九个碎片拼成一个完整的“智能生命体”。</a:t>
              </a:r>
              <a:endParaRPr lang="en-US" sz="1100"/>
            </a:p>
          </p:txBody>
        </p:sp>
      </p:grpSp>
      <p:sp>
        <p:nvSpPr>
          <p:cNvPr name="Freeform 19" id="19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" y="6710362"/>
            <a:ext cx="3429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700">
    <p:fade thruBlk="false"/>
  </p:transition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23" presetSubtype="16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00" fill="hold" id="7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00" fill="hold" id="8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childTnLst>
                              <p:par>
                                <p:cTn fill="hold" id="10" nodeType="afterEffect" presetClass="entr" presetID="3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 id="12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700" fill="hold" id="13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630" fill="hold" id="14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70" fill="hold" id="15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OVERVIEW / 岗位需求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9728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岗位要什么？智能制造的四类核心岗位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397000"/>
            <a:ext cx="5334000" cy="1905000"/>
          </a:xfrm>
          <a:prstGeom prst="roundRect">
            <a:avLst>
              <a:gd name="adj" fmla="val 600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625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工艺 / 精益工程师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133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现场改善 · 价值流 · 瓶颈识别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603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精益生产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48400" y="1397000"/>
            <a:ext cx="5334000" cy="1905000"/>
          </a:xfrm>
          <a:prstGeom prst="roundRect">
            <a:avLst>
              <a:gd name="adj" fmla="val 600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27800" y="1625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自动化 / 设备工程师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27800" y="2133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机器人 · 产线 · PLC · 视觉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27800" y="2603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机器人 + 视觉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3556000"/>
            <a:ext cx="5334000" cy="1905000"/>
          </a:xfrm>
          <a:prstGeom prst="roundRect">
            <a:avLst>
              <a:gd name="adj" fmla="val 600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3784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质量工程师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4292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SPC · CPK · 追溯 · 防错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4762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视觉 + 质量工程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48400" y="3556000"/>
            <a:ext cx="5334000" cy="1905000"/>
          </a:xfrm>
          <a:prstGeom prst="roundRect">
            <a:avLst>
              <a:gd name="adj" fmla="val 600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27800" y="3784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数字化 / 数据工程师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27800" y="4292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MES · 数据分析 · AI · IIoT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27800" y="4762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MES + Python + AI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四类岗位都要'现场 + 数据'双能力——这正是九门课要补的缺口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OVERVIEW / 课程地图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9728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从岗位技能，到九门课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3716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5113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现场改善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02000" y="15113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精益生产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524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决定该不该做、怎么改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20574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21971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设计与数据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21971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PLM / MES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2098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产品与工单的数据骨架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" y="27432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28829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感知与检测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02000" y="28829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机器视觉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8956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看见缺陷与状态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" y="34290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35687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数据传输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02000" y="35687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工业物联网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3581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把车间数据采上来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" y="41148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" y="42545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执行与自动化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302000" y="42545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工业机器人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42672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柔性产线的手脚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48006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9000" y="49403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数据分析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302000" y="49403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Python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4953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把数据变成结论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09600" y="54864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89000" y="56261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决策与智能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302000" y="56261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AI 智能体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50000" y="56388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综合判断与行动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七个技能维度，串成一条从现场到决策的线——这就是今天的九门课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5000" b="25000"/>
          <a:stretch>
            <a:fillRect/>
          </a:stretch>
        </p:blipFill>
        <p:spPr>
          <a:xfrm rot="0" flipH="false" flipV="false">
            <a:off x="0" y="0"/>
            <a:ext cx="12192000" cy="3429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3429000"/>
          </a:xfrm>
          <a:prstGeom prst="rect">
            <a:avLst/>
          </a:prstGeom>
          <a:gradFill rotWithShape="true">
            <a:gsLst>
              <a:gs pos="0">
                <a:srgbClr val="060D16">
                  <a:alpha val="42000"/>
                </a:srgbClr>
              </a:gs>
              <a:gs pos="55000">
                <a:srgbClr val="060D16">
                  <a:alpha val="80000"/>
                </a:srgbClr>
              </a:gs>
              <a:gs pos="100000">
                <a:srgbClr val="060D16">
                  <a:alpha val="97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3429000"/>
          </a:xfrm>
          <a:prstGeom prst="rect">
            <a:avLst/>
          </a:prstGeom>
          <a:solidFill>
            <a:srgbClr val="060D16">
              <a:alpha val="42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57500" y="1143000"/>
            <a:ext cx="8763000" cy="5715000"/>
          </a:xfrm>
          <a:prstGeom prst="ellipse">
            <a:avLst/>
          </a:prstGeom>
          <a:gradFill rotWithShape="true">
            <a:gsLst>
              <a:gs pos="0">
                <a:srgbClr val="00E5FF">
                  <a:alpha val="300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714500"/>
                </a:moveTo>
                <a:lnTo>
                  <a:pt x="12192000" y="17145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906000" y="0"/>
                </a:moveTo>
                <a:lnTo>
                  <a:pt x="9906000" y="6858000"/>
                </a:lnTo>
              </a:path>
            </a:pathLst>
          </a:custGeom>
          <a:noFill/>
          <a:ln w="12700">
            <a:solidFill>
              <a:srgbClr val="12314A">
                <a:alpha val="26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043209" y="6423660"/>
            <a:ext cx="545287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3 / 32</a:t>
            </a:r>
            <a:endParaRPr lang="en-US" sz="1100"/>
          </a:p>
        </p:txBody>
      </p:sp>
      <p:grpSp>
        <p:nvGrpSpPr>
          <p:cNvPr name="Group 8" id="8"/>
          <p:cNvGrpSpPr/>
          <p:nvPr/>
        </p:nvGrpSpPr>
        <p:grpSpPr>
          <a:xfrm>
            <a:off x="609600" y="495300"/>
            <a:ext cx="4542282" cy="823151"/>
            <a:chOff x="609600" y="495300"/>
            <a:chExt cx="4542282" cy="823151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9B7B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79348" y="536258"/>
              <a:ext cx="4272534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F2F8FF">
                          <a:alpha val="100000"/>
                        </a:srgbClr>
                      </a:gs>
                      <a:gs pos="55000">
                        <a:srgbClr val="5FE8FF">
                          <a:alpha val="100000"/>
                        </a:srgbClr>
                      </a:gs>
                      <a:gs pos="100000">
                        <a:srgbClr val="9B7B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九门课，本就是一张网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8492" y="1054418"/>
              <a:ext cx="300517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NEURAL TOPOLOGY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从零件到连接</a:t>
              </a:r>
              <a:endParaRPr lang="en-US" sz="1100"/>
            </a:p>
          </p:txBody>
        </p:sp>
      </p:grpSp>
      <p:grpSp>
        <p:nvGrpSpPr>
          <p:cNvPr name="Group 12" id="12"/>
          <p:cNvGrpSpPr/>
          <p:nvPr/>
        </p:nvGrpSpPr>
        <p:grpSpPr>
          <a:xfrm>
            <a:off x="2246452" y="1721168"/>
            <a:ext cx="4116248" cy="4050982"/>
            <a:chOff x="2246452" y="1721168"/>
            <a:chExt cx="4116248" cy="4050982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2246452" y="1721168"/>
              <a:ext cx="122209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00E5FF"/>
                  </a:solidFill>
                  <a:latin typeface="Consolas"/>
                  <a:ea typeface="Consolas"/>
                  <a:cs typeface="Consolas"/>
                  <a:sym typeface="Consolas"/>
                </a:rPr>
                <a:t>INPUT · </a:t>
              </a:r>
              <a:r>
                <a:rPr lang="en-US" b="fals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感知</a:t>
              </a:r>
              <a:endParaRPr lang="en-US" sz="1100"/>
            </a:p>
          </p:txBody>
        </p:sp>
        <p:sp>
          <p:nvSpPr>
            <p:cNvPr name="Freeform 14" id="14"/>
            <p:cNvSpPr/>
            <p:nvPr/>
          </p:nvSpPr>
          <p:spPr>
            <a:xfrm rot="0" flipH="false" flipV="false">
              <a:off x="3200400" y="2343150"/>
              <a:ext cx="3162300" cy="1276350"/>
            </a:xfrm>
            <a:custGeom>
              <a:avLst/>
              <a:gdLst/>
              <a:ahLst/>
              <a:cxnLst/>
              <a:rect r="r" b="b" t="t" l="l"/>
              <a:pathLst>
                <a:path h="1276350" w="3162300">
                  <a:moveTo>
                    <a:pt x="0" y="0"/>
                  </a:moveTo>
                  <a:lnTo>
                    <a:pt x="3162300" y="127635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00E5FF">
                      <a:alpha val="10000"/>
                    </a:srgbClr>
                  </a:gs>
                  <a:gs pos="100000">
                    <a:srgbClr val="00E5FF">
                      <a:alpha val="62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5" id="15"/>
            <p:cNvSpPr/>
            <p:nvPr/>
          </p:nvSpPr>
          <p:spPr>
            <a:xfrm rot="0" flipH="false" flipV="false">
              <a:off x="3200400" y="2971800"/>
              <a:ext cx="3162300" cy="647700"/>
            </a:xfrm>
            <a:custGeom>
              <a:avLst/>
              <a:gdLst/>
              <a:ahLst/>
              <a:cxnLst/>
              <a:rect r="r" b="b" t="t" l="l"/>
              <a:pathLst>
                <a:path h="647700" w="3162300">
                  <a:moveTo>
                    <a:pt x="0" y="0"/>
                  </a:moveTo>
                  <a:lnTo>
                    <a:pt x="3162300" y="64770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00E5FF">
                      <a:alpha val="10000"/>
                    </a:srgbClr>
                  </a:gs>
                  <a:gs pos="100000">
                    <a:srgbClr val="00E5FF">
                      <a:alpha val="62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3200400" y="3600450"/>
              <a:ext cx="3162300" cy="19050"/>
            </a:xfrm>
            <a:custGeom>
              <a:avLst/>
              <a:gdLst/>
              <a:ahLst/>
              <a:cxnLst/>
              <a:rect r="r" b="b" t="t" l="l"/>
              <a:pathLst>
                <a:path h="19050" w="3162300">
                  <a:moveTo>
                    <a:pt x="0" y="0"/>
                  </a:moveTo>
                  <a:lnTo>
                    <a:pt x="3162300" y="1905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00E5FF">
                      <a:alpha val="10000"/>
                    </a:srgbClr>
                  </a:gs>
                  <a:gs pos="100000">
                    <a:srgbClr val="00E5FF">
                      <a:alpha val="62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3200400" y="3619500"/>
              <a:ext cx="3162300" cy="609600"/>
            </a:xfrm>
            <a:custGeom>
              <a:avLst/>
              <a:gdLst/>
              <a:ahLst/>
              <a:cxnLst/>
              <a:rect r="r" b="b" t="t" l="l"/>
              <a:pathLst>
                <a:path h="609600" w="3162300">
                  <a:moveTo>
                    <a:pt x="0" y="609600"/>
                  </a:moveTo>
                  <a:lnTo>
                    <a:pt x="3162300" y="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00E5FF">
                      <a:alpha val="10000"/>
                    </a:srgbClr>
                  </a:gs>
                  <a:gs pos="100000">
                    <a:srgbClr val="00E5FF">
                      <a:alpha val="62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3200400" y="3619500"/>
              <a:ext cx="31623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3162300">
                  <a:moveTo>
                    <a:pt x="0" y="1238250"/>
                  </a:moveTo>
                  <a:lnTo>
                    <a:pt x="3162300" y="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00E5FF">
                      <a:alpha val="10000"/>
                    </a:srgbClr>
                  </a:gs>
                  <a:gs pos="100000">
                    <a:srgbClr val="00E5FF">
                      <a:alpha val="62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3200400" y="3619500"/>
              <a:ext cx="31623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3162300">
                  <a:moveTo>
                    <a:pt x="0" y="1866900"/>
                  </a:moveTo>
                  <a:lnTo>
                    <a:pt x="3162300" y="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00E5FF">
                      <a:alpha val="10000"/>
                    </a:srgbClr>
                  </a:gs>
                  <a:gs pos="100000">
                    <a:srgbClr val="00E5FF">
                      <a:alpha val="62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2571750" y="2057400"/>
              <a:ext cx="571500" cy="571500"/>
            </a:xfrm>
            <a:prstGeom prst="ellipse">
              <a:avLst/>
            </a:prstGeom>
            <a:solidFill>
              <a:srgbClr val="10263A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2668905" y="2264092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精益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2571750" y="2686050"/>
              <a:ext cx="571500" cy="571500"/>
            </a:xfrm>
            <a:prstGeom prst="ellipse">
              <a:avLst/>
            </a:prstGeom>
            <a:solidFill>
              <a:srgbClr val="10263A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2668905" y="2892742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质量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2571750" y="3314700"/>
              <a:ext cx="571500" cy="571500"/>
            </a:xfrm>
            <a:prstGeom prst="ellipse">
              <a:avLst/>
            </a:prstGeom>
            <a:solidFill>
              <a:srgbClr val="10263A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2668905" y="3521392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视觉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2571750" y="3943350"/>
              <a:ext cx="571500" cy="571500"/>
            </a:xfrm>
            <a:prstGeom prst="ellipse">
              <a:avLst/>
            </a:prstGeom>
            <a:solidFill>
              <a:srgbClr val="10263A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2668905" y="4150042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物联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2571750" y="4572000"/>
              <a:ext cx="571500" cy="571500"/>
            </a:xfrm>
            <a:prstGeom prst="ellipse">
              <a:avLst/>
            </a:prstGeom>
            <a:solidFill>
              <a:srgbClr val="10263A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2578036" y="4778692"/>
              <a:ext cx="55892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机器人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2571750" y="5200650"/>
              <a:ext cx="571500" cy="571500"/>
            </a:xfrm>
            <a:prstGeom prst="ellipse">
              <a:avLst/>
            </a:prstGeom>
            <a:solidFill>
              <a:srgbClr val="10263A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2668905" y="5407342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采集</a:t>
              </a:r>
              <a:endParaRPr lang="en-US" sz="1100"/>
            </a:p>
          </p:txBody>
        </p:sp>
      </p:grpSp>
      <p:grpSp>
        <p:nvGrpSpPr>
          <p:cNvPr name="Group 32" id="32"/>
          <p:cNvGrpSpPr/>
          <p:nvPr/>
        </p:nvGrpSpPr>
        <p:grpSpPr>
          <a:xfrm>
            <a:off x="6315075" y="3028950"/>
            <a:ext cx="1181100" cy="1181100"/>
            <a:chOff x="6315075" y="3028950"/>
            <a:chExt cx="1181100" cy="1181100"/>
          </a:xfrm>
        </p:grpSpPr>
        <p:sp>
          <p:nvSpPr>
            <p:cNvPr name="AutoShape 33" id="33"/>
            <p:cNvSpPr/>
            <p:nvPr/>
          </p:nvSpPr>
          <p:spPr>
            <a:xfrm rot="0" flipH="false" flipV="false">
              <a:off x="6315075" y="3028950"/>
              <a:ext cx="1181100" cy="1181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6467475" y="3181350"/>
              <a:ext cx="876300" cy="876300"/>
            </a:xfrm>
            <a:prstGeom prst="ellipse">
              <a:avLst/>
            </a:prstGeom>
            <a:noFill/>
            <a:ln w="12700">
              <a:solidFill>
                <a:srgbClr val="FF8A3D">
                  <a:alpha val="4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6684924" y="3392329"/>
              <a:ext cx="441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6684924" y="3659029"/>
              <a:ext cx="441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中枢</a:t>
              </a:r>
              <a:endParaRPr lang="en-US" sz="1100"/>
            </a:p>
          </p:txBody>
        </p:sp>
      </p:grpSp>
      <p:grpSp>
        <p:nvGrpSpPr>
          <p:cNvPr name="Group 37" id="37"/>
          <p:cNvGrpSpPr/>
          <p:nvPr/>
        </p:nvGrpSpPr>
        <p:grpSpPr>
          <a:xfrm>
            <a:off x="7448550" y="1721168"/>
            <a:ext cx="4552950" cy="3308032"/>
            <a:chOff x="7448550" y="1721168"/>
            <a:chExt cx="4552950" cy="3308032"/>
          </a:xfrm>
        </p:grpSpPr>
        <p:sp>
          <p:nvSpPr>
            <p:cNvPr name="AutoShape 38" id="38"/>
            <p:cNvSpPr/>
            <p:nvPr/>
          </p:nvSpPr>
          <p:spPr>
            <a:xfrm rot="0" flipH="false" flipV="false">
              <a:off x="10289896" y="1721168"/>
              <a:ext cx="132770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9B7BFF"/>
                  </a:solidFill>
                  <a:latin typeface="Consolas"/>
                  <a:ea typeface="Consolas"/>
                  <a:cs typeface="Consolas"/>
                  <a:sym typeface="Consolas"/>
                </a:rPr>
                <a:t>OUTPUT · </a:t>
              </a:r>
              <a:r>
                <a:rPr lang="en-US" b="false" i="false" strike="noStrike" u="none" sz="1350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决策</a:t>
              </a:r>
              <a:endParaRPr lang="en-US" sz="1100"/>
            </a:p>
          </p:txBody>
        </p:sp>
        <p:sp>
          <p:nvSpPr>
            <p:cNvPr name="Freeform 39" id="39"/>
            <p:cNvSpPr/>
            <p:nvPr/>
          </p:nvSpPr>
          <p:spPr>
            <a:xfrm rot="0" flipH="false" flipV="false">
              <a:off x="7448550" y="2343150"/>
              <a:ext cx="2933700" cy="1276350"/>
            </a:xfrm>
            <a:custGeom>
              <a:avLst/>
              <a:gdLst/>
              <a:ahLst/>
              <a:cxnLst/>
              <a:rect r="r" b="b" t="t" l="l"/>
              <a:pathLst>
                <a:path h="1276350" w="2933700">
                  <a:moveTo>
                    <a:pt x="0" y="1276350"/>
                  </a:moveTo>
                  <a:lnTo>
                    <a:pt x="2933700" y="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9B7BFF">
                      <a:alpha val="62000"/>
                    </a:srgbClr>
                  </a:gs>
                  <a:gs pos="100000">
                    <a:srgbClr val="9B7BFF">
                      <a:alpha val="10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40" id="40"/>
            <p:cNvSpPr/>
            <p:nvPr/>
          </p:nvSpPr>
          <p:spPr>
            <a:xfrm rot="0" flipH="false" flipV="false">
              <a:off x="7448550" y="3143250"/>
              <a:ext cx="2933700" cy="476250"/>
            </a:xfrm>
            <a:custGeom>
              <a:avLst/>
              <a:gdLst/>
              <a:ahLst/>
              <a:cxnLst/>
              <a:rect r="r" b="b" t="t" l="l"/>
              <a:pathLst>
                <a:path h="476250" w="2933700">
                  <a:moveTo>
                    <a:pt x="0" y="476250"/>
                  </a:moveTo>
                  <a:lnTo>
                    <a:pt x="2933700" y="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9B7BFF">
                      <a:alpha val="62000"/>
                    </a:srgbClr>
                  </a:gs>
                  <a:gs pos="100000">
                    <a:srgbClr val="9B7BFF">
                      <a:alpha val="10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41" id="41"/>
            <p:cNvSpPr/>
            <p:nvPr/>
          </p:nvSpPr>
          <p:spPr>
            <a:xfrm rot="0" flipH="false" flipV="false">
              <a:off x="7448550" y="3619500"/>
              <a:ext cx="2933700" cy="323850"/>
            </a:xfrm>
            <a:custGeom>
              <a:avLst/>
              <a:gdLst/>
              <a:ahLst/>
              <a:cxnLst/>
              <a:rect r="r" b="b" t="t" l="l"/>
              <a:pathLst>
                <a:path h="323850" w="2933700">
                  <a:moveTo>
                    <a:pt x="0" y="0"/>
                  </a:moveTo>
                  <a:lnTo>
                    <a:pt x="2933700" y="32385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9B7BFF">
                      <a:alpha val="62000"/>
                    </a:srgbClr>
                  </a:gs>
                  <a:gs pos="100000">
                    <a:srgbClr val="9B7BFF">
                      <a:alpha val="10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42" id="42"/>
            <p:cNvSpPr/>
            <p:nvPr/>
          </p:nvSpPr>
          <p:spPr>
            <a:xfrm rot="0" flipH="false" flipV="false">
              <a:off x="7448550" y="3619500"/>
              <a:ext cx="29337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2933700">
                  <a:moveTo>
                    <a:pt x="0" y="0"/>
                  </a:moveTo>
                  <a:lnTo>
                    <a:pt x="2933700" y="1123950"/>
                  </a:lnTo>
                </a:path>
              </a:pathLst>
            </a:custGeom>
            <a:noFill/>
            <a:ln w="12700">
              <a:gradFill rotWithShape="true">
                <a:gsLst>
                  <a:gs pos="0">
                    <a:srgbClr val="9B7BFF">
                      <a:alpha val="62000"/>
                    </a:srgbClr>
                  </a:gs>
                  <a:gs pos="100000">
                    <a:srgbClr val="9B7BFF">
                      <a:alpha val="10000"/>
                    </a:srgbClr>
                  </a:gs>
                </a:gsLst>
                <a:lin ang="0"/>
              </a:gra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9906000" y="2057400"/>
              <a:ext cx="2095500" cy="571500"/>
            </a:xfrm>
            <a:prstGeom prst="roundRect">
              <a:avLst>
                <a:gd name="adj" fmla="val 6666"/>
              </a:avLst>
            </a:prstGeom>
            <a:solidFill>
              <a:srgbClr val="1A1636">
                <a:alpha val="100000"/>
              </a:srgbClr>
            </a:solidFill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10457951" y="2264092"/>
              <a:ext cx="991598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PLM / MES</a:t>
              </a:r>
              <a:endParaRPr lang="en-US" sz="1100"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9906000" y="2857500"/>
              <a:ext cx="2095500" cy="571500"/>
            </a:xfrm>
            <a:prstGeom prst="roundRect">
              <a:avLst>
                <a:gd name="adj" fmla="val 6666"/>
              </a:avLst>
            </a:prstGeom>
            <a:solidFill>
              <a:srgbClr val="1A1636">
                <a:alpha val="100000"/>
              </a:srgbClr>
            </a:solidFill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6" id="46"/>
            <p:cNvSpPr/>
            <p:nvPr/>
          </p:nvSpPr>
          <p:spPr>
            <a:xfrm rot="0" flipH="false" flipV="false">
              <a:off x="10583418" y="3064192"/>
              <a:ext cx="74066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数据分析</a:t>
              </a:r>
              <a:endParaRPr lang="en-US" sz="1100"/>
            </a:p>
          </p:txBody>
        </p:sp>
        <p:sp>
          <p:nvSpPr>
            <p:cNvPr name="AutoShape 47" id="47"/>
            <p:cNvSpPr/>
            <p:nvPr/>
          </p:nvSpPr>
          <p:spPr>
            <a:xfrm rot="0" flipH="false" flipV="false">
              <a:off x="9906000" y="3657600"/>
              <a:ext cx="2095500" cy="571500"/>
            </a:xfrm>
            <a:prstGeom prst="roundRect">
              <a:avLst>
                <a:gd name="adj" fmla="val 6666"/>
              </a:avLst>
            </a:prstGeom>
            <a:solidFill>
              <a:srgbClr val="1A1636">
                <a:alpha val="100000"/>
              </a:srgbClr>
            </a:solidFill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8" id="48"/>
            <p:cNvSpPr/>
            <p:nvPr/>
          </p:nvSpPr>
          <p:spPr>
            <a:xfrm rot="0" flipH="false" flipV="false">
              <a:off x="10558352" y="3864292"/>
              <a:ext cx="79079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AI 智能体</a:t>
              </a:r>
              <a:endParaRPr lang="en-US" sz="1100"/>
            </a:p>
          </p:txBody>
        </p:sp>
        <p:sp>
          <p:nvSpPr>
            <p:cNvPr name="AutoShape 49" id="49"/>
            <p:cNvSpPr/>
            <p:nvPr/>
          </p:nvSpPr>
          <p:spPr>
            <a:xfrm rot="0" flipH="false" flipV="false">
              <a:off x="9906000" y="4457700"/>
              <a:ext cx="2095500" cy="571500"/>
            </a:xfrm>
            <a:prstGeom prst="roundRect">
              <a:avLst>
                <a:gd name="adj" fmla="val 6666"/>
              </a:avLst>
            </a:prstGeom>
            <a:solidFill>
              <a:srgbClr val="1A1636">
                <a:alpha val="100000"/>
              </a:srgbClr>
            </a:solidFill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0" id="50"/>
            <p:cNvSpPr/>
            <p:nvPr/>
          </p:nvSpPr>
          <p:spPr>
            <a:xfrm rot="0" flipH="false" flipV="false">
              <a:off x="10583418" y="4664392"/>
              <a:ext cx="74066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持续改善</a:t>
              </a:r>
              <a:endParaRPr lang="en-US" sz="1100"/>
            </a:p>
          </p:txBody>
        </p:sp>
      </p:grpSp>
      <p:grpSp>
        <p:nvGrpSpPr>
          <p:cNvPr name="Group 51" id="51"/>
          <p:cNvGrpSpPr/>
          <p:nvPr/>
        </p:nvGrpSpPr>
        <p:grpSpPr>
          <a:xfrm>
            <a:off x="609600" y="5715000"/>
            <a:ext cx="10972800" cy="590550"/>
            <a:chOff x="609600" y="5715000"/>
            <a:chExt cx="10972800" cy="590550"/>
          </a:xfrm>
        </p:grpSpPr>
        <p:sp>
          <p:nvSpPr>
            <p:cNvPr name="AutoShape 52" id="52"/>
            <p:cNvSpPr/>
            <p:nvPr/>
          </p:nvSpPr>
          <p:spPr>
            <a:xfrm rot="0" flipH="false" flipV="false">
              <a:off x="609600" y="5715000"/>
              <a:ext cx="10972800" cy="590550"/>
            </a:xfrm>
            <a:prstGeom prst="roundRect">
              <a:avLst>
                <a:gd name="adj" fmla="val 967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3" id="53"/>
            <p:cNvSpPr/>
            <p:nvPr/>
          </p:nvSpPr>
          <p:spPr>
            <a:xfrm rot="0" flipH="false" flipV="false">
              <a:off x="868299" y="5906929"/>
              <a:ext cx="782207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九个节点从来不是并列的清单 —— 它们有输入、有汇聚、有输出，</a:t>
              </a:r>
              <a:r>
                <a:rPr lang="en-US" b="fals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连起来才叫系统</a:t>
              </a:r>
              <a:r>
                <a:rPr lang="en-US" b="false" i="false" strike="noStrike" u="none" sz="15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。</a:t>
              </a:r>
              <a:endParaRPr lang="en-US" sz="1100"/>
            </a:p>
          </p:txBody>
        </p:sp>
      </p:grpSp>
      <p:sp>
        <p:nvSpPr>
          <p:cNvPr name="Freeform 54" id="54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609600" y="6710362"/>
            <a:ext cx="6858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12954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47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 id="7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600" fill="hold" id="8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00" fill="hold" id="9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4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 id="13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100" fill="hold" id="14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100" fill="hold" id="15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childTnLst>
                              <p:par>
                                <p:cTn fill="hold" id="17" nodeType="afterEffect" presetClass="entr" presetID="2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50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50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50" fill="hold" id="22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100" fill="hold" id="23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50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50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50" fill="hold" id="26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ecel="50000" dur="1100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22000"/>
                </a:srgbClr>
              </a:gs>
              <a:gs pos="100000">
                <a:srgbClr val="060D16">
                  <a:alpha val="9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97000"/>
                </a:srgbClr>
              </a:gs>
              <a:gs pos="41999">
                <a:srgbClr val="060D16">
                  <a:alpha val="86000"/>
                </a:srgbClr>
              </a:gs>
              <a:gs pos="100000">
                <a:srgbClr val="060D16">
                  <a:alpha val="62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060D16">
              <a:alpha val="16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0" y="1143000"/>
            <a:ext cx="12192000" cy="4572000"/>
          </a:xfrm>
          <a:custGeom>
            <a:avLst/>
            <a:gdLst/>
            <a:ahLst/>
            <a:cxnLst/>
            <a:rect r="r" b="b" t="t" l="l"/>
            <a:pathLst>
              <a:path h="4572000" w="12192000">
                <a:moveTo>
                  <a:pt x="0" y="0"/>
                </a:moveTo>
                <a:lnTo>
                  <a:pt x="12192000" y="0"/>
                </a:lnTo>
                <a:moveTo>
                  <a:pt x="0" y="4572000"/>
                </a:moveTo>
                <a:lnTo>
                  <a:pt x="12192000" y="4572000"/>
                </a:lnTo>
              </a:path>
            </a:pathLst>
          </a:custGeom>
          <a:noFill/>
          <a:ln w="12700">
            <a:solidFill>
              <a:srgbClr val="12314A">
                <a:alpha val="3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609600" y="495300"/>
            <a:ext cx="6238494" cy="1018985"/>
            <a:chOff x="609600" y="495300"/>
            <a:chExt cx="6238494" cy="1018985"/>
          </a:xfrm>
        </p:grpSpPr>
        <p:sp>
          <p:nvSpPr>
            <p:cNvPr name="AutoShape 8" id="8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888873" y="586264"/>
              <a:ext cx="231339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CORE MAP / </a:t>
              </a:r>
              <a:r>
                <a:rPr lang="en-US" b="fals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核心图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79348" y="898208"/>
              <a:ext cx="5968746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九门课，六个部位，一个生命体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95350" y="1371600"/>
              <a:ext cx="533400" cy="47625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sp>
        <p:nvSpPr>
          <p:cNvPr name="AutoShape 12" id="12"/>
          <p:cNvSpPr/>
          <p:nvPr/>
        </p:nvSpPr>
        <p:spPr>
          <a:xfrm rot="0" flipH="false" flipV="false">
            <a:off x="1190625" y="1571625"/>
            <a:ext cx="3905250" cy="4857750"/>
          </a:xfrm>
          <a:prstGeom prst="ellipse">
            <a:avLst/>
          </a:prstGeom>
          <a:gradFill rotWithShape="true">
            <a:gsLst>
              <a:gs pos="0">
                <a:srgbClr val="00E5FF">
                  <a:alpha val="200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38362" y="1695450"/>
            <a:ext cx="2009775" cy="4572000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name="Group 14" id="14"/>
          <p:cNvGrpSpPr/>
          <p:nvPr/>
        </p:nvGrpSpPr>
        <p:grpSpPr>
          <a:xfrm>
            <a:off x="592379" y="1594485"/>
            <a:ext cx="4770196" cy="4234815"/>
            <a:chOff x="592379" y="1594485"/>
            <a:chExt cx="4770196" cy="4234815"/>
          </a:xfrm>
        </p:grpSpPr>
        <p:sp>
          <p:nvSpPr>
            <p:cNvPr name="Freeform 15" id="15"/>
            <p:cNvSpPr/>
            <p:nvPr/>
          </p:nvSpPr>
          <p:spPr>
            <a:xfrm rot="0" flipH="false" flipV="false">
              <a:off x="3143250" y="2209800"/>
              <a:ext cx="0" cy="3619500"/>
            </a:xfrm>
            <a:custGeom>
              <a:avLst/>
              <a:gdLst/>
              <a:ahLst/>
              <a:cxnLst/>
              <a:rect r="r" b="b" t="t" l="l"/>
              <a:pathLst>
                <a:path h="3619500" w="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63500">
              <a:solidFill>
                <a:srgbClr val="00E5FF">
                  <a:alpha val="1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3143250" y="2209800"/>
              <a:ext cx="0" cy="3619500"/>
            </a:xfrm>
            <a:custGeom>
              <a:avLst/>
              <a:gdLst/>
              <a:ahLst/>
              <a:cxnLst/>
              <a:rect r="r" b="b" t="t" l="l"/>
              <a:pathLst>
                <a:path h="3619500" w="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2700">
              <a:solidFill>
                <a:srgbClr val="00E5FF">
                  <a:alpha val="32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2895600" y="1857375"/>
              <a:ext cx="495300" cy="495300"/>
            </a:xfrm>
            <a:prstGeom prst="ellipse">
              <a:avLst/>
            </a:prstGeom>
            <a:solidFill>
              <a:srgbClr val="00E5FF">
                <a:alpha val="1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3000375" y="1962150"/>
              <a:ext cx="285750" cy="285750"/>
            </a:xfrm>
            <a:prstGeom prst="ellipse">
              <a:avLst/>
            </a:prstGeom>
            <a:solidFill>
              <a:srgbClr val="00E5FF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3086100" y="2047875"/>
              <a:ext cx="114300" cy="114300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2924175" y="2905125"/>
              <a:ext cx="457200" cy="457200"/>
            </a:xfrm>
            <a:prstGeom prst="ellipse">
              <a:avLst/>
            </a:prstGeom>
            <a:solidFill>
              <a:srgbClr val="2ED47A">
                <a:alpha val="1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3019425" y="3000375"/>
              <a:ext cx="266700" cy="266700"/>
            </a:xfrm>
            <a:prstGeom prst="ellipse">
              <a:avLst/>
            </a:prstGeom>
            <a:solidFill>
              <a:srgbClr val="2ED47A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3100388" y="3081338"/>
              <a:ext cx="104775" cy="104775"/>
            </a:xfrm>
            <a:prstGeom prst="ellipse">
              <a:avLst/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2933700" y="1962150"/>
              <a:ext cx="419100" cy="419100"/>
            </a:xfrm>
            <a:prstGeom prst="ellipse">
              <a:avLst/>
            </a:prstGeom>
            <a:solidFill>
              <a:srgbClr val="FF8A3D">
                <a:alpha val="1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019425" y="2047875"/>
              <a:ext cx="247650" cy="247650"/>
            </a:xfrm>
            <a:prstGeom prst="ellipse">
              <a:avLst/>
            </a:prstGeom>
            <a:solidFill>
              <a:srgbClr val="FF8A3D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3095625" y="2124075"/>
              <a:ext cx="95250" cy="95250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2933700" y="2190750"/>
              <a:ext cx="419100" cy="419100"/>
            </a:xfrm>
            <a:prstGeom prst="ellipse">
              <a:avLst/>
            </a:prstGeom>
            <a:solidFill>
              <a:srgbClr val="7FB2FF">
                <a:alpha val="1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3019425" y="2276475"/>
              <a:ext cx="247650" cy="247650"/>
            </a:xfrm>
            <a:prstGeom prst="ellipse">
              <a:avLst/>
            </a:prstGeom>
            <a:solidFill>
              <a:srgbClr val="7FB2FF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3095625" y="2352675"/>
              <a:ext cx="95250" cy="95250"/>
            </a:xfrm>
            <a:prstGeom prst="ellipse">
              <a:avLst/>
            </a:prstGeom>
            <a:solidFill>
              <a:srgbClr val="7FB2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2943225" y="3295650"/>
              <a:ext cx="419100" cy="419100"/>
            </a:xfrm>
            <a:prstGeom prst="ellipse">
              <a:avLst/>
            </a:prstGeom>
            <a:solidFill>
              <a:srgbClr val="9B7BFF">
                <a:alpha val="1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3028950" y="3381375"/>
              <a:ext cx="247650" cy="247650"/>
            </a:xfrm>
            <a:prstGeom prst="ellipse">
              <a:avLst/>
            </a:prstGeom>
            <a:solidFill>
              <a:srgbClr val="9B7BFF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3105150" y="3457575"/>
              <a:ext cx="95250" cy="95250"/>
            </a:xfrm>
            <a:prstGeom prst="ellipse">
              <a:avLst/>
            </a:prstGeom>
            <a:solidFill>
              <a:srgbClr val="9B7B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2228850" y="3590925"/>
              <a:ext cx="419100" cy="419100"/>
            </a:xfrm>
            <a:prstGeom prst="ellipse">
              <a:avLst/>
            </a:prstGeom>
            <a:solidFill>
              <a:srgbClr val="FF5C8A">
                <a:alpha val="1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2314575" y="3676650"/>
              <a:ext cx="247650" cy="247650"/>
            </a:xfrm>
            <a:prstGeom prst="ellipse">
              <a:avLst/>
            </a:prstGeom>
            <a:solidFill>
              <a:srgbClr val="FF5C8A">
                <a:alpha val="2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2390775" y="3752850"/>
              <a:ext cx="95250" cy="95250"/>
            </a:xfrm>
            <a:prstGeom prst="ellipse">
              <a:avLst/>
            </a:prstGeom>
            <a:solidFill>
              <a:srgbClr val="FF5C8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35" id="35"/>
            <p:cNvSpPr/>
            <p:nvPr/>
          </p:nvSpPr>
          <p:spPr>
            <a:xfrm rot="0" flipH="false" flipV="false">
              <a:off x="1676400" y="2105025"/>
              <a:ext cx="1219200" cy="0"/>
            </a:xfrm>
            <a:custGeom>
              <a:avLst/>
              <a:gdLst/>
              <a:ahLst/>
              <a:cxnLst/>
              <a:rect r="r" b="b" t="t" l="l"/>
              <a:pathLst>
                <a:path h="0" w="1219200">
                  <a:moveTo>
                    <a:pt x="121920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1647825" y="2076450"/>
              <a:ext cx="57150" cy="57150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2838450" y="2028825"/>
              <a:ext cx="152400" cy="152400"/>
            </a:xfrm>
            <a:prstGeom prst="ellipse">
              <a:avLst/>
            </a:prstGeom>
            <a:noFill/>
            <a:ln w="12700">
              <a:solidFill>
                <a:srgbClr val="00E5FF">
                  <a:alpha val="5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909828" y="1889760"/>
              <a:ext cx="658368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大脑皮层</a:t>
              </a:r>
              <a:endParaRPr lang="en-US" sz="1100"/>
            </a:p>
          </p:txBody>
        </p:sp>
        <p:sp>
          <p:nvSpPr>
            <p:cNvPr name="Freeform 39" id="39"/>
            <p:cNvSpPr/>
            <p:nvPr/>
          </p:nvSpPr>
          <p:spPr>
            <a:xfrm rot="0" flipH="false" flipV="false">
              <a:off x="1676400" y="1676400"/>
              <a:ext cx="1257300" cy="495300"/>
            </a:xfrm>
            <a:custGeom>
              <a:avLst/>
              <a:gdLst/>
              <a:ahLst/>
              <a:cxnLst/>
              <a:rect r="r" b="b" t="t" l="l"/>
              <a:pathLst>
                <a:path h="495300" w="1257300">
                  <a:moveTo>
                    <a:pt x="1257300" y="495300"/>
                  </a:moveTo>
                  <a:lnTo>
                    <a:pt x="438150" y="495300"/>
                  </a:lnTo>
                  <a:lnTo>
                    <a:pt x="438150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1647825" y="1647825"/>
              <a:ext cx="57150" cy="57150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2838450" y="2095500"/>
              <a:ext cx="152400" cy="152400"/>
            </a:xfrm>
            <a:prstGeom prst="ellipse">
              <a:avLst/>
            </a:prstGeom>
            <a:noFill/>
            <a:ln w="12700">
              <a:solidFill>
                <a:srgbClr val="FF8A3D">
                  <a:alpha val="5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1232916" y="1594485"/>
              <a:ext cx="335280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眼睛</a:t>
              </a:r>
              <a:endParaRPr lang="en-US" sz="1100"/>
            </a:p>
          </p:txBody>
        </p:sp>
        <p:sp>
          <p:nvSpPr>
            <p:cNvPr name="Freeform 43" id="43"/>
            <p:cNvSpPr/>
            <p:nvPr/>
          </p:nvSpPr>
          <p:spPr>
            <a:xfrm rot="0" flipH="false" flipV="false">
              <a:off x="1676400" y="3133725"/>
              <a:ext cx="1257300" cy="0"/>
            </a:xfrm>
            <a:custGeom>
              <a:avLst/>
              <a:gdLst/>
              <a:ahLst/>
              <a:cxnLst/>
              <a:rect r="r" b="b" t="t" l="l"/>
              <a:pathLst>
                <a:path h="0" w="1257300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1647825" y="3105150"/>
              <a:ext cx="57150" cy="57150"/>
            </a:xfrm>
            <a:prstGeom prst="ellipse">
              <a:avLst/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2838450" y="3057525"/>
              <a:ext cx="152400" cy="152400"/>
            </a:xfrm>
            <a:prstGeom prst="ellipse">
              <a:avLst/>
            </a:prstGeom>
            <a:noFill/>
            <a:ln w="12700">
              <a:solidFill>
                <a:srgbClr val="2ED47A">
                  <a:alpha val="5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6" id="46"/>
            <p:cNvSpPr/>
            <p:nvPr/>
          </p:nvSpPr>
          <p:spPr>
            <a:xfrm rot="0" flipH="false" flipV="false">
              <a:off x="820979" y="3051810"/>
              <a:ext cx="74721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骨架·中枢</a:t>
              </a:r>
              <a:endParaRPr lang="en-US" sz="1100"/>
            </a:p>
          </p:txBody>
        </p:sp>
        <p:sp>
          <p:nvSpPr>
            <p:cNvPr name="Freeform 47" id="47"/>
            <p:cNvSpPr/>
            <p:nvPr/>
          </p:nvSpPr>
          <p:spPr>
            <a:xfrm rot="0" flipH="false" flipV="false">
              <a:off x="1447800" y="2400300"/>
              <a:ext cx="1485900" cy="2895600"/>
            </a:xfrm>
            <a:custGeom>
              <a:avLst/>
              <a:gdLst/>
              <a:ahLst/>
              <a:cxnLst/>
              <a:rect r="r" b="b" t="t" l="l"/>
              <a:pathLst>
                <a:path h="2895600" w="1485900">
                  <a:moveTo>
                    <a:pt x="1485900" y="0"/>
                  </a:moveTo>
                  <a:lnTo>
                    <a:pt x="838200" y="0"/>
                  </a:lnTo>
                  <a:lnTo>
                    <a:pt x="838200" y="2895600"/>
                  </a:lnTo>
                  <a:lnTo>
                    <a:pt x="0" y="2895600"/>
                  </a:lnTo>
                </a:path>
              </a:pathLst>
            </a:custGeom>
            <a:noFill/>
            <a:ln w="12700">
              <a:solidFill>
                <a:srgbClr val="7FB2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8" id="48"/>
            <p:cNvSpPr/>
            <p:nvPr/>
          </p:nvSpPr>
          <p:spPr>
            <a:xfrm rot="0" flipH="false" flipV="false">
              <a:off x="1419225" y="5267325"/>
              <a:ext cx="57150" cy="57150"/>
            </a:xfrm>
            <a:prstGeom prst="ellipse">
              <a:avLst/>
            </a:prstGeom>
            <a:solidFill>
              <a:srgbClr val="7FB2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9" id="49"/>
            <p:cNvSpPr/>
            <p:nvPr/>
          </p:nvSpPr>
          <p:spPr>
            <a:xfrm rot="0" flipH="false" flipV="false">
              <a:off x="2838450" y="2324100"/>
              <a:ext cx="152400" cy="152400"/>
            </a:xfrm>
            <a:prstGeom prst="ellipse">
              <a:avLst/>
            </a:prstGeom>
            <a:noFill/>
            <a:ln w="12700">
              <a:solidFill>
                <a:srgbClr val="7FB2FF">
                  <a:alpha val="5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0" id="50"/>
            <p:cNvSpPr/>
            <p:nvPr/>
          </p:nvSpPr>
          <p:spPr>
            <a:xfrm rot="0" flipH="false" flipV="false">
              <a:off x="592379" y="5118735"/>
              <a:ext cx="74721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神经·传输</a:t>
              </a:r>
              <a:endParaRPr lang="en-US" sz="1100"/>
            </a:p>
          </p:txBody>
        </p:sp>
        <p:sp>
          <p:nvSpPr>
            <p:cNvPr name="Freeform 51" id="51"/>
            <p:cNvSpPr/>
            <p:nvPr/>
          </p:nvSpPr>
          <p:spPr>
            <a:xfrm rot="0" flipH="false" flipV="false">
              <a:off x="1333500" y="3800475"/>
              <a:ext cx="895350" cy="962025"/>
            </a:xfrm>
            <a:custGeom>
              <a:avLst/>
              <a:gdLst/>
              <a:ahLst/>
              <a:cxnLst/>
              <a:rect r="r" b="b" t="t" l="l"/>
              <a:pathLst>
                <a:path h="962025" w="895350">
                  <a:moveTo>
                    <a:pt x="895350" y="0"/>
                  </a:moveTo>
                  <a:lnTo>
                    <a:pt x="114300" y="0"/>
                  </a:lnTo>
                  <a:lnTo>
                    <a:pt x="114300" y="962025"/>
                  </a:lnTo>
                  <a:lnTo>
                    <a:pt x="0" y="962025"/>
                  </a:lnTo>
                </a:path>
              </a:pathLst>
            </a:custGeom>
            <a:noFill/>
            <a:ln w="12700">
              <a:solidFill>
                <a:srgbClr val="FF5C8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2" id="52"/>
            <p:cNvSpPr/>
            <p:nvPr/>
          </p:nvSpPr>
          <p:spPr>
            <a:xfrm rot="0" flipH="false" flipV="false">
              <a:off x="2152650" y="3724275"/>
              <a:ext cx="152400" cy="152400"/>
            </a:xfrm>
            <a:prstGeom prst="ellipse">
              <a:avLst/>
            </a:prstGeom>
            <a:noFill/>
            <a:ln w="12700">
              <a:solidFill>
                <a:srgbClr val="FF5C8A">
                  <a:alpha val="5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3" id="53"/>
            <p:cNvSpPr/>
            <p:nvPr/>
          </p:nvSpPr>
          <p:spPr>
            <a:xfrm rot="0" flipH="false" flipV="false">
              <a:off x="592379" y="4680585"/>
              <a:ext cx="74721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手脚·执行</a:t>
              </a:r>
              <a:endParaRPr lang="en-US" sz="1100"/>
            </a:p>
          </p:txBody>
        </p:sp>
        <p:sp>
          <p:nvSpPr>
            <p:cNvPr name="Freeform 54" id="54"/>
            <p:cNvSpPr/>
            <p:nvPr/>
          </p:nvSpPr>
          <p:spPr>
            <a:xfrm rot="0" flipH="false" flipV="false">
              <a:off x="3362325" y="3505200"/>
              <a:ext cx="1971675" cy="0"/>
            </a:xfrm>
            <a:custGeom>
              <a:avLst/>
              <a:gdLst/>
              <a:ahLst/>
              <a:cxnLst/>
              <a:rect r="r" b="b" t="t" l="l"/>
              <a:pathLst>
                <a:path h="0" w="1971675">
                  <a:moveTo>
                    <a:pt x="0" y="0"/>
                  </a:moveTo>
                  <a:lnTo>
                    <a:pt x="1971675" y="0"/>
                  </a:lnTo>
                </a:path>
              </a:pathLst>
            </a:custGeom>
            <a:noFill/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5" id="55"/>
            <p:cNvSpPr/>
            <p:nvPr/>
          </p:nvSpPr>
          <p:spPr>
            <a:xfrm rot="0" flipH="false" flipV="false">
              <a:off x="5305425" y="3476625"/>
              <a:ext cx="57150" cy="57150"/>
            </a:xfrm>
            <a:prstGeom prst="ellipse">
              <a:avLst/>
            </a:prstGeom>
            <a:solidFill>
              <a:srgbClr val="9B7B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6" id="56"/>
            <p:cNvSpPr/>
            <p:nvPr/>
          </p:nvSpPr>
          <p:spPr>
            <a:xfrm rot="0" flipH="false" flipV="false">
              <a:off x="3267075" y="3429000"/>
              <a:ext cx="152400" cy="152400"/>
            </a:xfrm>
            <a:prstGeom prst="ellipse">
              <a:avLst/>
            </a:prstGeom>
            <a:noFill/>
            <a:ln w="12700">
              <a:solidFill>
                <a:srgbClr val="9B7BFF">
                  <a:alpha val="5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7" id="57"/>
            <p:cNvSpPr/>
            <p:nvPr/>
          </p:nvSpPr>
          <p:spPr>
            <a:xfrm rot="0" flipH="false" flipV="false">
              <a:off x="4592879" y="3299460"/>
              <a:ext cx="74721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肌肉·集成</a:t>
              </a:r>
              <a:endParaRPr lang="en-US" sz="1100"/>
            </a:p>
          </p:txBody>
        </p:sp>
      </p:grpSp>
      <p:grpSp>
        <p:nvGrpSpPr>
          <p:cNvPr name="Group 58" id="58"/>
          <p:cNvGrpSpPr/>
          <p:nvPr/>
        </p:nvGrpSpPr>
        <p:grpSpPr>
          <a:xfrm>
            <a:off x="6343650" y="1676400"/>
            <a:ext cx="5276850" cy="5001006"/>
            <a:chOff x="6343650" y="1676400"/>
            <a:chExt cx="5276850" cy="5001006"/>
          </a:xfrm>
        </p:grpSpPr>
        <p:grpSp>
          <p:nvGrpSpPr>
            <p:cNvPr name="Group 59" id="59"/>
            <p:cNvGrpSpPr/>
            <p:nvPr/>
          </p:nvGrpSpPr>
          <p:grpSpPr>
            <a:xfrm>
              <a:off x="6343650" y="1676400"/>
              <a:ext cx="5276850" cy="876300"/>
              <a:chOff x="6343650" y="1676400"/>
              <a:chExt cx="5276850" cy="876300"/>
            </a:xfrm>
          </p:grpSpPr>
          <p:sp>
            <p:nvSpPr>
              <p:cNvPr name="AutoShape 60" id="60"/>
              <p:cNvSpPr/>
              <p:nvPr/>
            </p:nvSpPr>
            <p:spPr>
              <a:xfrm rot="0" flipH="false" flipV="false">
                <a:off x="6343650" y="1676400"/>
                <a:ext cx="5276850" cy="876300"/>
              </a:xfrm>
              <a:prstGeom prst="roundRect">
                <a:avLst>
                  <a:gd name="adj" fmla="val 10869"/>
                </a:avLst>
              </a:prstGeom>
              <a:gradFill rotWithShape="true">
                <a:gsLst>
                  <a:gs pos="0">
                    <a:srgbClr val="152F45">
                      <a:alpha val="100000"/>
                    </a:srgbClr>
                  </a:gs>
                  <a:gs pos="100000">
                    <a:srgbClr val="0B1A28">
                      <a:alpha val="100000"/>
                    </a:srgbClr>
                  </a:gs>
                </a:gsLst>
                <a:lin ang="5400000"/>
              </a:gradFill>
              <a:ln w="12700">
                <a:solidFill>
                  <a:srgbClr val="1E4B6B">
                    <a:alpha val="100000"/>
                  </a:srgbClr>
                </a:solidFill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61" id="61"/>
              <p:cNvSpPr/>
              <p:nvPr/>
            </p:nvSpPr>
            <p:spPr>
              <a:xfrm rot="0" flipH="false" flipV="false">
                <a:off x="6343650" y="1676400"/>
                <a:ext cx="57150" cy="876300"/>
              </a:xfrm>
              <a:prstGeom prst="roundRect">
                <a:avLst>
                  <a:gd name="adj" fmla="val 50000"/>
                </a:avLst>
              </a:prstGeom>
              <a:solidFill>
                <a:srgbClr val="00E5F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62" id="62"/>
              <p:cNvSpPr/>
              <p:nvPr/>
            </p:nvSpPr>
            <p:spPr>
              <a:xfrm rot="0" flipH="false" flipV="false">
                <a:off x="6400800" y="1676400"/>
                <a:ext cx="57150" cy="876300"/>
              </a:xfrm>
              <a:prstGeom prst="rect">
                <a:avLst/>
              </a:prstGeom>
              <a:solidFill>
                <a:srgbClr val="00E5FF">
                  <a:alpha val="22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63" id="63"/>
              <p:cNvSpPr/>
              <p:nvPr/>
            </p:nvSpPr>
            <p:spPr>
              <a:xfrm rot="0" flipH="false" flipV="false">
                <a:off x="6677025" y="1971675"/>
                <a:ext cx="95250" cy="95250"/>
              </a:xfrm>
              <a:prstGeom prst="ellipse">
                <a:avLst/>
              </a:prstGeom>
              <a:solidFill>
                <a:srgbClr val="00E5F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64" id="64"/>
              <p:cNvSpPr/>
              <p:nvPr/>
            </p:nvSpPr>
            <p:spPr>
              <a:xfrm rot="0" flipH="false" flipV="false">
                <a:off x="6869049" y="1906429"/>
                <a:ext cx="1549034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true" i="false" strike="noStrike" u="none" sz="1580">
                    <a:solidFill>
                      <a:srgbClr val="EAF6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大脑皮层 · 智慧</a:t>
                </a:r>
                <a:endParaRPr lang="en-US" sz="1100"/>
              </a:p>
            </p:txBody>
          </p:sp>
          <p:sp>
            <p:nvSpPr>
              <p:cNvPr name="AutoShape 65" id="65"/>
              <p:cNvSpPr/>
              <p:nvPr/>
            </p:nvSpPr>
            <p:spPr>
              <a:xfrm rot="0" flipH="false" flipV="false">
                <a:off x="6642354" y="2251710"/>
                <a:ext cx="3459861" cy="23469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200">
                    <a:solidFill>
                      <a:srgbClr val="A6C2D8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④ 提示词工程与工业智能体　⑨ Python 二次开发</a:t>
                </a:r>
                <a:endParaRPr lang="en-US" sz="1100"/>
              </a:p>
            </p:txBody>
          </p:sp>
          <p:sp>
            <p:nvSpPr>
              <p:cNvPr name="AutoShape 66" id="66"/>
              <p:cNvSpPr/>
              <p:nvPr/>
            </p:nvSpPr>
            <p:spPr>
              <a:xfrm rot="0" flipH="false" flipV="false">
                <a:off x="11074051" y="1810702"/>
                <a:ext cx="399383" cy="20535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r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050">
                    <a:solidFill>
                      <a:srgbClr val="3E62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01/06</a:t>
                </a:r>
                <a:endParaRPr lang="en-US" sz="1100"/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>
              <a:off x="6343650" y="2667000"/>
              <a:ext cx="5276850" cy="876300"/>
              <a:chOff x="6343650" y="2667000"/>
              <a:chExt cx="5276850" cy="876300"/>
            </a:xfrm>
          </p:grpSpPr>
          <p:sp>
            <p:nvSpPr>
              <p:cNvPr name="AutoShape 68" id="68"/>
              <p:cNvSpPr/>
              <p:nvPr/>
            </p:nvSpPr>
            <p:spPr>
              <a:xfrm rot="0" flipH="false" flipV="false">
                <a:off x="6343650" y="2667000"/>
                <a:ext cx="5276850" cy="876300"/>
              </a:xfrm>
              <a:prstGeom prst="roundRect">
                <a:avLst>
                  <a:gd name="adj" fmla="val 10869"/>
                </a:avLst>
              </a:prstGeom>
              <a:gradFill rotWithShape="true">
                <a:gsLst>
                  <a:gs pos="0">
                    <a:srgbClr val="152F45">
                      <a:alpha val="100000"/>
                    </a:srgbClr>
                  </a:gs>
                  <a:gs pos="100000">
                    <a:srgbClr val="0B1A28">
                      <a:alpha val="100000"/>
                    </a:srgbClr>
                  </a:gs>
                </a:gsLst>
                <a:lin ang="5400000"/>
              </a:gradFill>
              <a:ln w="12700">
                <a:solidFill>
                  <a:srgbClr val="1E4B6B">
                    <a:alpha val="100000"/>
                  </a:srgbClr>
                </a:solidFill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69" id="69"/>
              <p:cNvSpPr/>
              <p:nvPr/>
            </p:nvSpPr>
            <p:spPr>
              <a:xfrm rot="0" flipH="false" flipV="false">
                <a:off x="6343650" y="2667000"/>
                <a:ext cx="57150" cy="876300"/>
              </a:xfrm>
              <a:prstGeom prst="roundRect">
                <a:avLst>
                  <a:gd name="adj" fmla="val 50000"/>
                </a:avLst>
              </a:prstGeom>
              <a:solidFill>
                <a:srgbClr val="2ED47A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70" id="70"/>
              <p:cNvSpPr/>
              <p:nvPr/>
            </p:nvSpPr>
            <p:spPr>
              <a:xfrm rot="0" flipH="false" flipV="false">
                <a:off x="6400800" y="2667000"/>
                <a:ext cx="57150" cy="876300"/>
              </a:xfrm>
              <a:prstGeom prst="rect">
                <a:avLst/>
              </a:prstGeom>
              <a:solidFill>
                <a:srgbClr val="2ED47A">
                  <a:alpha val="22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71" id="71"/>
              <p:cNvSpPr/>
              <p:nvPr/>
            </p:nvSpPr>
            <p:spPr>
              <a:xfrm rot="0" flipH="false" flipV="false">
                <a:off x="6677025" y="2962275"/>
                <a:ext cx="95250" cy="95250"/>
              </a:xfrm>
              <a:prstGeom prst="ellipse">
                <a:avLst/>
              </a:prstGeom>
              <a:solidFill>
                <a:srgbClr val="2ED47A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72" id="72"/>
              <p:cNvSpPr/>
              <p:nvPr/>
            </p:nvSpPr>
            <p:spPr>
              <a:xfrm rot="0" flipH="false" flipV="false">
                <a:off x="6869049" y="2897029"/>
                <a:ext cx="1123635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true" i="false" strike="noStrike" u="none" sz="1580">
                    <a:solidFill>
                      <a:srgbClr val="EAF6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骨架 · 中枢</a:t>
                </a:r>
                <a:endParaRPr lang="en-US" sz="1100"/>
              </a:p>
            </p:txBody>
          </p:sp>
          <p:sp>
            <p:nvSpPr>
              <p:cNvPr name="AutoShape 73" id="73"/>
              <p:cNvSpPr/>
              <p:nvPr/>
            </p:nvSpPr>
            <p:spPr>
              <a:xfrm rot="0" flipH="false" flipV="false">
                <a:off x="6642354" y="3242310"/>
                <a:ext cx="3252521" cy="23469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200">
                    <a:solidFill>
                      <a:srgbClr val="A6C2D8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② PLM 产品全生命周期管理 与 MES 生产执行</a:t>
                </a:r>
                <a:endParaRPr lang="en-US" sz="1100"/>
              </a:p>
            </p:txBody>
          </p:sp>
          <p:sp>
            <p:nvSpPr>
              <p:cNvPr name="AutoShape 74" id="74"/>
              <p:cNvSpPr/>
              <p:nvPr/>
            </p:nvSpPr>
            <p:spPr>
              <a:xfrm rot="0" flipH="false" flipV="false">
                <a:off x="11074051" y="2801302"/>
                <a:ext cx="399383" cy="20535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r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050">
                    <a:solidFill>
                      <a:srgbClr val="3E62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02/06</a:t>
                </a:r>
                <a:endParaRPr lang="en-US" sz="1100"/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>
              <a:off x="6343650" y="3657600"/>
              <a:ext cx="5276850" cy="723900"/>
              <a:chOff x="6343650" y="3657600"/>
              <a:chExt cx="5276850" cy="723900"/>
            </a:xfrm>
          </p:grpSpPr>
          <p:sp>
            <p:nvSpPr>
              <p:cNvPr name="AutoShape 76" id="76"/>
              <p:cNvSpPr/>
              <p:nvPr/>
            </p:nvSpPr>
            <p:spPr>
              <a:xfrm rot="0" flipH="false" flipV="false">
                <a:off x="6343650" y="3657600"/>
                <a:ext cx="5276850" cy="723900"/>
              </a:xfrm>
              <a:prstGeom prst="roundRect">
                <a:avLst>
                  <a:gd name="adj" fmla="val 13158"/>
                </a:avLst>
              </a:prstGeom>
              <a:gradFill rotWithShape="true">
                <a:gsLst>
                  <a:gs pos="0">
                    <a:srgbClr val="152F45">
                      <a:alpha val="100000"/>
                    </a:srgbClr>
                  </a:gs>
                  <a:gs pos="100000">
                    <a:srgbClr val="0B1A28">
                      <a:alpha val="100000"/>
                    </a:srgbClr>
                  </a:gs>
                </a:gsLst>
                <a:lin ang="5400000"/>
              </a:gradFill>
              <a:ln w="12700">
                <a:solidFill>
                  <a:srgbClr val="1E4B6B">
                    <a:alpha val="100000"/>
                  </a:srgbClr>
                </a:solidFill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77" id="77"/>
              <p:cNvSpPr/>
              <p:nvPr/>
            </p:nvSpPr>
            <p:spPr>
              <a:xfrm rot="0" flipH="false" flipV="false">
                <a:off x="6343650" y="3657600"/>
                <a:ext cx="5715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FF8A3D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78" id="78"/>
              <p:cNvSpPr/>
              <p:nvPr/>
            </p:nvSpPr>
            <p:spPr>
              <a:xfrm rot="0" flipH="false" flipV="false">
                <a:off x="6400800" y="3657600"/>
                <a:ext cx="57150" cy="723900"/>
              </a:xfrm>
              <a:prstGeom prst="rect">
                <a:avLst/>
              </a:prstGeom>
              <a:solidFill>
                <a:srgbClr val="FF8A3D">
                  <a:alpha val="22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79" id="79"/>
              <p:cNvSpPr/>
              <p:nvPr/>
            </p:nvSpPr>
            <p:spPr>
              <a:xfrm rot="0" flipH="false" flipV="false">
                <a:off x="6677025" y="3895725"/>
                <a:ext cx="95250" cy="95250"/>
              </a:xfrm>
              <a:prstGeom prst="ellipse">
                <a:avLst/>
              </a:prstGeom>
              <a:solidFill>
                <a:srgbClr val="FF8A3D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80" id="80"/>
              <p:cNvSpPr/>
              <p:nvPr/>
            </p:nvSpPr>
            <p:spPr>
              <a:xfrm rot="0" flipH="false" flipV="false">
                <a:off x="6869049" y="3830479"/>
                <a:ext cx="1123635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true" i="false" strike="noStrike" u="none" sz="1580">
                    <a:solidFill>
                      <a:srgbClr val="EAF6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眼睛 · 感知</a:t>
                </a:r>
                <a:endParaRPr lang="en-US" sz="1100"/>
              </a:p>
            </p:txBody>
          </p:sp>
          <p:sp>
            <p:nvSpPr>
              <p:cNvPr name="AutoShape 81" id="81"/>
              <p:cNvSpPr/>
              <p:nvPr/>
            </p:nvSpPr>
            <p:spPr>
              <a:xfrm rot="0" flipH="false" flipV="false">
                <a:off x="6642354" y="4137660"/>
                <a:ext cx="1850898" cy="23469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200">
                    <a:solidFill>
                      <a:srgbClr val="A6C2D8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① 智能测量与 AI 视觉检测</a:t>
                </a:r>
                <a:endParaRPr lang="en-US" sz="1100"/>
              </a:p>
            </p:txBody>
          </p:sp>
          <p:sp>
            <p:nvSpPr>
              <p:cNvPr name="AutoShape 82" id="82"/>
              <p:cNvSpPr/>
              <p:nvPr/>
            </p:nvSpPr>
            <p:spPr>
              <a:xfrm rot="0" flipH="false" flipV="false">
                <a:off x="11074051" y="3791902"/>
                <a:ext cx="399383" cy="20535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r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050">
                    <a:solidFill>
                      <a:srgbClr val="3E62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03/06</a:t>
                </a:r>
                <a:endParaRPr lang="en-US" sz="1100"/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>
              <a:off x="6343650" y="4495800"/>
              <a:ext cx="5276850" cy="723900"/>
              <a:chOff x="6343650" y="4495800"/>
              <a:chExt cx="5276850" cy="723900"/>
            </a:xfrm>
          </p:grpSpPr>
          <p:sp>
            <p:nvSpPr>
              <p:cNvPr name="AutoShape 84" id="84"/>
              <p:cNvSpPr/>
              <p:nvPr/>
            </p:nvSpPr>
            <p:spPr>
              <a:xfrm rot="0" flipH="false" flipV="false">
                <a:off x="6343650" y="4495800"/>
                <a:ext cx="5276850" cy="723900"/>
              </a:xfrm>
              <a:prstGeom prst="roundRect">
                <a:avLst>
                  <a:gd name="adj" fmla="val 13158"/>
                </a:avLst>
              </a:prstGeom>
              <a:gradFill rotWithShape="true">
                <a:gsLst>
                  <a:gs pos="0">
                    <a:srgbClr val="152F45">
                      <a:alpha val="100000"/>
                    </a:srgbClr>
                  </a:gs>
                  <a:gs pos="100000">
                    <a:srgbClr val="0B1A28">
                      <a:alpha val="100000"/>
                    </a:srgbClr>
                  </a:gs>
                </a:gsLst>
                <a:lin ang="5400000"/>
              </a:gradFill>
              <a:ln w="12700">
                <a:solidFill>
                  <a:srgbClr val="1E4B6B">
                    <a:alpha val="100000"/>
                  </a:srgbClr>
                </a:solidFill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85" id="85"/>
              <p:cNvSpPr/>
              <p:nvPr/>
            </p:nvSpPr>
            <p:spPr>
              <a:xfrm rot="0" flipH="false" flipV="false">
                <a:off x="6343650" y="4495800"/>
                <a:ext cx="5715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7FB2F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86" id="86"/>
              <p:cNvSpPr/>
              <p:nvPr/>
            </p:nvSpPr>
            <p:spPr>
              <a:xfrm rot="0" flipH="false" flipV="false">
                <a:off x="6400800" y="4495800"/>
                <a:ext cx="57150" cy="723900"/>
              </a:xfrm>
              <a:prstGeom prst="rect">
                <a:avLst/>
              </a:prstGeom>
              <a:solidFill>
                <a:srgbClr val="7FB2FF">
                  <a:alpha val="22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87" id="87"/>
              <p:cNvSpPr/>
              <p:nvPr/>
            </p:nvSpPr>
            <p:spPr>
              <a:xfrm rot="0" flipH="false" flipV="false">
                <a:off x="6677025" y="4733925"/>
                <a:ext cx="95250" cy="95250"/>
              </a:xfrm>
              <a:prstGeom prst="ellipse">
                <a:avLst/>
              </a:prstGeom>
              <a:solidFill>
                <a:srgbClr val="7FB2F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88" id="88"/>
              <p:cNvSpPr/>
              <p:nvPr/>
            </p:nvSpPr>
            <p:spPr>
              <a:xfrm rot="0" flipH="false" flipV="false">
                <a:off x="6869049" y="4668679"/>
                <a:ext cx="1123635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true" i="false" strike="noStrike" u="none" sz="1580">
                    <a:solidFill>
                      <a:srgbClr val="EAF6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神经 · 传输</a:t>
                </a:r>
                <a:endParaRPr lang="en-US" sz="1100"/>
              </a:p>
            </p:txBody>
          </p:sp>
          <p:sp>
            <p:nvSpPr>
              <p:cNvPr name="AutoShape 89" id="89"/>
              <p:cNvSpPr/>
              <p:nvPr/>
            </p:nvSpPr>
            <p:spPr>
              <a:xfrm rot="0" flipH="false" flipV="false">
                <a:off x="6642354" y="4975860"/>
                <a:ext cx="1603400" cy="23469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200">
                    <a:solidFill>
                      <a:srgbClr val="A6C2D8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③ 工业物联网技术应用</a:t>
                </a:r>
                <a:endParaRPr lang="en-US" sz="1100"/>
              </a:p>
            </p:txBody>
          </p:sp>
          <p:sp>
            <p:nvSpPr>
              <p:cNvPr name="AutoShape 90" id="90"/>
              <p:cNvSpPr/>
              <p:nvPr/>
            </p:nvSpPr>
            <p:spPr>
              <a:xfrm rot="0" flipH="false" flipV="false">
                <a:off x="11074051" y="4630102"/>
                <a:ext cx="399383" cy="20535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r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050">
                    <a:solidFill>
                      <a:srgbClr val="3E62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04/06</a:t>
                </a:r>
                <a:endParaRPr lang="en-US" sz="1100"/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>
              <a:off x="6343650" y="5143500"/>
              <a:ext cx="5276850" cy="714756"/>
              <a:chOff x="6343650" y="5143500"/>
              <a:chExt cx="5276850" cy="714756"/>
            </a:xfrm>
          </p:grpSpPr>
          <p:sp>
            <p:nvSpPr>
              <p:cNvPr name="AutoShape 92" id="92"/>
              <p:cNvSpPr/>
              <p:nvPr/>
            </p:nvSpPr>
            <p:spPr>
              <a:xfrm rot="0" flipH="false" flipV="false">
                <a:off x="6343650" y="5143500"/>
                <a:ext cx="5276850" cy="704850"/>
              </a:xfrm>
              <a:prstGeom prst="roundRect">
                <a:avLst>
                  <a:gd name="adj" fmla="val 13513"/>
                </a:avLst>
              </a:prstGeom>
              <a:gradFill rotWithShape="true">
                <a:gsLst>
                  <a:gs pos="0">
                    <a:srgbClr val="152F45">
                      <a:alpha val="100000"/>
                    </a:srgbClr>
                  </a:gs>
                  <a:gs pos="100000">
                    <a:srgbClr val="0B1A28">
                      <a:alpha val="100000"/>
                    </a:srgbClr>
                  </a:gs>
                </a:gsLst>
                <a:lin ang="5400000"/>
              </a:gradFill>
              <a:ln w="12700">
                <a:solidFill>
                  <a:srgbClr val="1E4B6B">
                    <a:alpha val="100000"/>
                  </a:srgbClr>
                </a:solidFill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93" id="93"/>
              <p:cNvSpPr/>
              <p:nvPr/>
            </p:nvSpPr>
            <p:spPr>
              <a:xfrm rot="0" flipH="false" flipV="false">
                <a:off x="6343650" y="5143500"/>
                <a:ext cx="57150" cy="704850"/>
              </a:xfrm>
              <a:prstGeom prst="roundRect">
                <a:avLst>
                  <a:gd name="adj" fmla="val 50000"/>
                </a:avLst>
              </a:prstGeom>
              <a:solidFill>
                <a:srgbClr val="9B7BF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94" id="94"/>
              <p:cNvSpPr/>
              <p:nvPr/>
            </p:nvSpPr>
            <p:spPr>
              <a:xfrm rot="0" flipH="false" flipV="false">
                <a:off x="6400800" y="5143500"/>
                <a:ext cx="57150" cy="704850"/>
              </a:xfrm>
              <a:prstGeom prst="rect">
                <a:avLst/>
              </a:prstGeom>
              <a:solidFill>
                <a:srgbClr val="9B7BFF">
                  <a:alpha val="22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95" id="95"/>
              <p:cNvSpPr/>
              <p:nvPr/>
            </p:nvSpPr>
            <p:spPr>
              <a:xfrm rot="0" flipH="false" flipV="false">
                <a:off x="6677025" y="5381625"/>
                <a:ext cx="95250" cy="95250"/>
              </a:xfrm>
              <a:prstGeom prst="ellipse">
                <a:avLst/>
              </a:prstGeom>
              <a:solidFill>
                <a:srgbClr val="9B7BF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96" id="96"/>
              <p:cNvSpPr/>
              <p:nvPr/>
            </p:nvSpPr>
            <p:spPr>
              <a:xfrm rot="0" flipH="false" flipV="false">
                <a:off x="6869049" y="5316379"/>
                <a:ext cx="1549034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true" i="false" strike="noStrike" u="none" sz="1580">
                    <a:solidFill>
                      <a:srgbClr val="EAF6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肌肉 · 躯干集成</a:t>
                </a:r>
                <a:endParaRPr lang="en-US" sz="1100"/>
              </a:p>
            </p:txBody>
          </p:sp>
          <p:sp>
            <p:nvSpPr>
              <p:cNvPr name="AutoShape 97" id="97"/>
              <p:cNvSpPr/>
              <p:nvPr/>
            </p:nvSpPr>
            <p:spPr>
              <a:xfrm rot="0" flipH="false" flipV="false">
                <a:off x="6642354" y="5623560"/>
                <a:ext cx="2548433" cy="23469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200">
                    <a:solidFill>
                      <a:srgbClr val="A6C2D8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⑤ 智能产线设计与应用　⑧ 双周实训</a:t>
                </a:r>
                <a:endParaRPr lang="en-US" sz="1100"/>
              </a:p>
            </p:txBody>
          </p:sp>
          <p:sp>
            <p:nvSpPr>
              <p:cNvPr name="AutoShape 98" id="98"/>
              <p:cNvSpPr/>
              <p:nvPr/>
            </p:nvSpPr>
            <p:spPr>
              <a:xfrm rot="0" flipH="false" flipV="false">
                <a:off x="11074051" y="5277802"/>
                <a:ext cx="399383" cy="20535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r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050">
                    <a:solidFill>
                      <a:srgbClr val="3E62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05/06</a:t>
                </a:r>
                <a:endParaRPr lang="en-US" sz="1100"/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>
              <a:off x="6343650" y="5962650"/>
              <a:ext cx="5276850" cy="714756"/>
              <a:chOff x="6343650" y="5962650"/>
              <a:chExt cx="5276850" cy="714756"/>
            </a:xfrm>
          </p:grpSpPr>
          <p:sp>
            <p:nvSpPr>
              <p:cNvPr name="AutoShape 100" id="100"/>
              <p:cNvSpPr/>
              <p:nvPr/>
            </p:nvSpPr>
            <p:spPr>
              <a:xfrm rot="0" flipH="false" flipV="false">
                <a:off x="6343650" y="5962650"/>
                <a:ext cx="5276850" cy="704850"/>
              </a:xfrm>
              <a:prstGeom prst="roundRect">
                <a:avLst>
                  <a:gd name="adj" fmla="val 13513"/>
                </a:avLst>
              </a:prstGeom>
              <a:solidFill>
                <a:srgbClr val="12293C">
                  <a:alpha val="100000"/>
                </a:srgbClr>
              </a:solidFill>
              <a:ln w="12700">
                <a:solidFill>
                  <a:srgbClr val="00E5FF">
                    <a:alpha val="100000"/>
                  </a:srgbClr>
                </a:solidFill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101" id="101"/>
              <p:cNvSpPr/>
              <p:nvPr/>
            </p:nvSpPr>
            <p:spPr>
              <a:xfrm rot="0" flipH="false" flipV="false">
                <a:off x="6343650" y="5962650"/>
                <a:ext cx="57150" cy="704850"/>
              </a:xfrm>
              <a:prstGeom prst="roundRect">
                <a:avLst>
                  <a:gd name="adj" fmla="val 50000"/>
                </a:avLst>
              </a:prstGeom>
              <a:solidFill>
                <a:srgbClr val="FF5C8A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102" id="102"/>
              <p:cNvSpPr/>
              <p:nvPr/>
            </p:nvSpPr>
            <p:spPr>
              <a:xfrm rot="0" flipH="false" flipV="false">
                <a:off x="6400800" y="5962650"/>
                <a:ext cx="57150" cy="704850"/>
              </a:xfrm>
              <a:prstGeom prst="rect">
                <a:avLst/>
              </a:prstGeom>
              <a:solidFill>
                <a:srgbClr val="FF5C8A">
                  <a:alpha val="22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103" id="103"/>
              <p:cNvSpPr/>
              <p:nvPr/>
            </p:nvSpPr>
            <p:spPr>
              <a:xfrm rot="0" flipH="false" flipV="false">
                <a:off x="6677025" y="6200775"/>
                <a:ext cx="95250" cy="95250"/>
              </a:xfrm>
              <a:prstGeom prst="ellipse">
                <a:avLst/>
              </a:prstGeom>
              <a:solidFill>
                <a:srgbClr val="FF5C8A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104" id="104"/>
              <p:cNvSpPr/>
              <p:nvPr/>
            </p:nvSpPr>
            <p:spPr>
              <a:xfrm rot="0" flipH="false" flipV="false">
                <a:off x="6869049" y="6135529"/>
                <a:ext cx="1123635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true" i="false" strike="noStrike" u="none" sz="1580">
                    <a:solidFill>
                      <a:srgbClr val="EAF6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手脚 · 执行</a:t>
                </a:r>
                <a:endParaRPr lang="en-US" sz="1100"/>
              </a:p>
            </p:txBody>
          </p:sp>
          <p:sp>
            <p:nvSpPr>
              <p:cNvPr name="AutoShape 105" id="105"/>
              <p:cNvSpPr/>
              <p:nvPr/>
            </p:nvSpPr>
            <p:spPr>
              <a:xfrm rot="0" flipH="false" flipV="false">
                <a:off x="6642354" y="6442710"/>
                <a:ext cx="2813685" cy="23469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200">
                    <a:solidFill>
                      <a:srgbClr val="B7D6E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⑥ 具身机器人装调　⑦ Python 二次开发</a:t>
                </a:r>
                <a:endParaRPr lang="en-US" sz="1100"/>
              </a:p>
            </p:txBody>
          </p:sp>
          <p:sp>
            <p:nvSpPr>
              <p:cNvPr name="AutoShape 106" id="106"/>
              <p:cNvSpPr/>
              <p:nvPr/>
            </p:nvSpPr>
            <p:spPr>
              <a:xfrm rot="0" flipH="false" flipV="false">
                <a:off x="11074051" y="6096952"/>
                <a:ext cx="399383" cy="20535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r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050">
                    <a:solidFill>
                      <a:srgbClr val="5FE8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06/06</a:t>
                </a:r>
                <a:endParaRPr lang="en-US" sz="1100"/>
              </a:p>
            </p:txBody>
          </p:sp>
        </p:grpSp>
      </p:grpSp>
      <p:sp>
        <p:nvSpPr>
          <p:cNvPr name="Freeform 107" id="107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8" id="108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9" id="109"/>
          <p:cNvSpPr/>
          <p:nvPr/>
        </p:nvSpPr>
        <p:spPr>
          <a:xfrm rot="0" flipH="false" flipV="false">
            <a:off x="609600" y="6710362"/>
            <a:ext cx="10287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10" id="110"/>
          <p:cNvSpPr/>
          <p:nvPr/>
        </p:nvSpPr>
        <p:spPr>
          <a:xfrm rot="0" flipH="false" flipV="false">
            <a:off x="16383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mph" presetID="6" presetSubtype="0" repeatCount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dur="600" fill="hold" id="6"/>
                                        <p:tgtEl>
                                          <p:spTgt spid="5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15999">
                <a:srgbClr val="060D16">
                  <a:alpha val="80000"/>
                </a:srgbClr>
              </a:gs>
              <a:gs pos="44999">
                <a:srgbClr val="060D16">
                  <a:alpha val="52000"/>
                </a:srgbClr>
              </a:gs>
              <a:gs pos="100000">
                <a:srgbClr val="060D16">
                  <a:alpha val="3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26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17145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>
            <a:solidFill>
              <a:srgbClr val="12314A">
                <a:alpha val="4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043209" y="6423660"/>
            <a:ext cx="545287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5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593598" y="567214"/>
            <a:ext cx="5877575" cy="947071"/>
            <a:chOff x="593598" y="567214"/>
            <a:chExt cx="5877575" cy="94707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3123" y="567214"/>
              <a:ext cx="389782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STEP 01 · </a:t>
              </a:r>
              <a:r>
                <a:rPr lang="en-US" b="fals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筑基　</a:t>
              </a:r>
              <a:r>
                <a:rPr lang="en-US" b="fals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|</a:t>
              </a:r>
              <a:r>
                <a:rPr lang="en-US" b="fals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　</a:t>
              </a:r>
              <a:r>
                <a:rPr lang="en-US" b="fals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COURSE 07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593598" y="898208"/>
              <a:ext cx="5877575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思维先行 —— 不优化，不自动化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09600" y="1390650"/>
              <a:ext cx="533400" cy="47625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771650"/>
            <a:ext cx="4953000" cy="2286000"/>
            <a:chOff x="609600" y="1771650"/>
            <a:chExt cx="4953000" cy="228600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771650"/>
              <a:ext cx="4953000" cy="2286000"/>
            </a:xfrm>
            <a:prstGeom prst="roundRect">
              <a:avLst>
                <a:gd name="adj" fmla="val 6666"/>
              </a:avLst>
            </a:prstGeom>
            <a:gradFill rotWithShape="true">
              <a:gsLst>
                <a:gs pos="0">
                  <a:srgbClr val="152F45">
                    <a:alpha val="100000"/>
                  </a:srgbClr>
                </a:gs>
                <a:gs pos="100000">
                  <a:srgbClr val="0B1A28">
                    <a:alpha val="100000"/>
                  </a:srgbClr>
                </a:gs>
              </a:gsLst>
              <a:lin ang="5400000"/>
            </a:gra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908304" y="2156460"/>
              <a:ext cx="1198474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 spc="300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COURSE 07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98398" y="2574608"/>
              <a:ext cx="2576322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精益生产管理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906399" y="3182779"/>
              <a:ext cx="280236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智能制造的“灵魂”与顶层思维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914400" y="3562350"/>
              <a:ext cx="4343400" cy="9525"/>
            </a:xfrm>
            <a:prstGeom prst="rect">
              <a:avLst/>
            </a:prstGeom>
            <a:solidFill>
              <a:srgbClr val="1E4B6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906399" y="3716179"/>
              <a:ext cx="299379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先懂什么是浪费，再谈自动化。</a:t>
              </a:r>
              <a:endParaRPr lang="en-US" sz="110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5820156" y="2001679"/>
            <a:ext cx="3904488" cy="1566005"/>
            <a:chOff x="5820156" y="2001679"/>
            <a:chExt cx="3904488" cy="1566005"/>
          </a:xfrm>
        </p:grpSpPr>
        <p:sp>
          <p:nvSpPr>
            <p:cNvPr name="AutoShape 22" id="22"/>
            <p:cNvSpPr/>
            <p:nvPr/>
          </p:nvSpPr>
          <p:spPr>
            <a:xfrm rot="0" flipH="false" flipV="false">
              <a:off x="5821299" y="2001679"/>
              <a:ext cx="8668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逻辑串联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5820156" y="2491740"/>
              <a:ext cx="3904488" cy="107594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850"/>
                </a:lnSpc>
                <a:defRPr/>
              </a:pPr>
              <a:r>
                <a:rPr lang="en-US" b="false" i="false" strike="noStrike" u="none" sz="18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在接触任何高科技设备之前，必须先懂</a:t>
              </a:r>
              <a:br>
                <a:rPr lang="en-US" b="false" i="false" strike="noStrike" u="none" sz="18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8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“什么是浪费”。精益是所有智能制造</a:t>
              </a:r>
              <a:br>
                <a:rPr lang="en-US" b="false" i="false" strike="noStrike" u="none" sz="18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8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的基石 —— 它决定了自动化该不该做。</a:t>
              </a:r>
              <a:endParaRPr lang="en-US" sz="1100"/>
            </a:p>
          </p:txBody>
        </p:sp>
      </p:grpSp>
      <p:grpSp>
        <p:nvGrpSpPr>
          <p:cNvPr name="Group 24" id="24"/>
          <p:cNvGrpSpPr/>
          <p:nvPr/>
        </p:nvGrpSpPr>
        <p:grpSpPr>
          <a:xfrm>
            <a:off x="609600" y="4305300"/>
            <a:ext cx="5334000" cy="2190750"/>
            <a:chOff x="609600" y="4305300"/>
            <a:chExt cx="5334000" cy="2190750"/>
          </a:xfrm>
        </p:grpSpPr>
        <p:sp>
          <p:nvSpPr>
            <p:cNvPr name="AutoShape 25" id="25"/>
            <p:cNvSpPr/>
            <p:nvPr/>
          </p:nvSpPr>
          <p:spPr>
            <a:xfrm rot="0" flipH="false" flipV="false">
              <a:off x="609600" y="4305300"/>
              <a:ext cx="5334000" cy="2190750"/>
            </a:xfrm>
            <a:prstGeom prst="roundRect">
              <a:avLst>
                <a:gd name="adj" fmla="val 6087"/>
              </a:avLst>
            </a:prstGeom>
            <a:gradFill rotWithShape="true">
              <a:gsLst>
                <a:gs pos="0">
                  <a:srgbClr val="152F45">
                    <a:alpha val="100000"/>
                  </a:srgbClr>
                </a:gs>
                <a:gs pos="100000">
                  <a:srgbClr val="0B1A28">
                    <a:alpha val="100000"/>
                  </a:srgbClr>
                </a:gs>
              </a:gsLst>
              <a:lin ang="5400000"/>
            </a:gra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609600" y="4305300"/>
              <a:ext cx="5334000" cy="47625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905256" y="4568190"/>
              <a:ext cx="987552" cy="35204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8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学习重点</a:t>
              </a:r>
              <a:endParaRPr lang="en-US" sz="1100"/>
            </a:p>
          </p:txBody>
        </p:sp>
        <p:grpSp>
          <p:nvGrpSpPr>
            <p:cNvPr name="Group 28" id="28"/>
            <p:cNvGrpSpPr/>
            <p:nvPr/>
          </p:nvGrpSpPr>
          <p:grpSpPr>
            <a:xfrm>
              <a:off x="906399" y="5049679"/>
              <a:ext cx="3031671" cy="1108139"/>
              <a:chOff x="906399" y="5049679"/>
              <a:chExt cx="3031671" cy="1108139"/>
            </a:xfrm>
          </p:grpSpPr>
          <p:sp>
            <p:nvSpPr>
              <p:cNvPr name="AutoShape 29" id="29"/>
              <p:cNvSpPr/>
              <p:nvPr/>
            </p:nvSpPr>
            <p:spPr>
              <a:xfrm rot="0" flipH="false" flipV="false">
                <a:off x="906399" y="5049679"/>
                <a:ext cx="2444389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>
                <a:lvl1pPr marL="514223" indent="-203200"/>
                <a:lvl2pPr marL="971423" indent="-203200"/>
                <a:lvl3pPr marL="1428623" indent="-203200"/>
                <a:lvl4pPr marL="1885823" indent="-203200"/>
                <a:lvl5pPr marL="2343023" indent="-203200"/>
                <a:lvl6pPr marL="2800223" indent="-203200"/>
                <a:lvl7pPr marL="3257423" indent="-203200"/>
                <a:lvl8pPr marL="3714623" indent="-203200"/>
                <a:lvl9pPr marL="4171823" indent="-203200"/>
              </a:lstStyle>
              <a:p>
                <a:pPr algn="l" indent="-311023" marL="311023">
                  <a:lnSpc>
                    <a:spcPct val="100000"/>
                  </a:lnSpc>
                  <a:buClr>
                    <a:srgbClr val="A9C6DC"/>
                  </a:buClr>
                  <a:buChar char="◆"/>
                  <a:defRPr/>
                </a:pPr>
                <a:r>
                  <a:rPr lang="en-US" b="false" i="false" strike="noStrike" u="none" sz="1580">
                    <a:solidFill>
                      <a:srgbClr val="A9C6DC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价值流图（VSM）分析</a:t>
                </a:r>
                <a:endParaRPr lang="en-US" sz="1100"/>
              </a:p>
            </p:txBody>
          </p:sp>
          <p:sp>
            <p:nvSpPr>
              <p:cNvPr name="AutoShape 30" id="30"/>
              <p:cNvSpPr/>
              <p:nvPr/>
            </p:nvSpPr>
            <p:spPr>
              <a:xfrm rot="0" flipH="false" flipV="false">
                <a:off x="906399" y="5449729"/>
                <a:ext cx="2028622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>
                <a:lvl1pPr marL="514223" indent="-203200"/>
                <a:lvl2pPr marL="971423" indent="-203200"/>
                <a:lvl3pPr marL="1428623" indent="-203200"/>
                <a:lvl4pPr marL="1885823" indent="-203200"/>
                <a:lvl5pPr marL="2343023" indent="-203200"/>
                <a:lvl6pPr marL="2800223" indent="-203200"/>
                <a:lvl7pPr marL="3257423" indent="-203200"/>
                <a:lvl8pPr marL="3714623" indent="-203200"/>
                <a:lvl9pPr marL="4171823" indent="-203200"/>
              </a:lstStyle>
              <a:p>
                <a:pPr algn="l" indent="-311023" marL="311023">
                  <a:lnSpc>
                    <a:spcPct val="100000"/>
                  </a:lnSpc>
                  <a:buClr>
                    <a:srgbClr val="A9C6DC"/>
                  </a:buClr>
                  <a:buChar char="◆"/>
                  <a:defRPr/>
                </a:pPr>
                <a:r>
                  <a:rPr lang="en-US" b="false" i="false" strike="noStrike" u="none" sz="1580">
                    <a:solidFill>
                      <a:srgbClr val="A9C6DC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单件流与连续流动</a:t>
                </a:r>
                <a:endParaRPr lang="en-US" sz="1100"/>
              </a:p>
            </p:txBody>
          </p:sp>
          <p:sp>
            <p:nvSpPr>
              <p:cNvPr name="AutoShape 31" id="31"/>
              <p:cNvSpPr/>
              <p:nvPr/>
            </p:nvSpPr>
            <p:spPr>
              <a:xfrm rot="0" flipH="false" flipV="false">
                <a:off x="906399" y="5849779"/>
                <a:ext cx="3031671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>
                <a:lvl1pPr marL="514223" indent="-203200"/>
                <a:lvl2pPr marL="971423" indent="-203200"/>
                <a:lvl3pPr marL="1428623" indent="-203200"/>
                <a:lvl4pPr marL="1885823" indent="-203200"/>
                <a:lvl5pPr marL="2343023" indent="-203200"/>
                <a:lvl6pPr marL="2800223" indent="-203200"/>
                <a:lvl7pPr marL="3257423" indent="-203200"/>
                <a:lvl8pPr marL="3714623" indent="-203200"/>
                <a:lvl9pPr marL="4171823" indent="-203200"/>
              </a:lstStyle>
              <a:p>
                <a:pPr algn="l" indent="-311023" marL="311023">
                  <a:lnSpc>
                    <a:spcPct val="100000"/>
                  </a:lnSpc>
                  <a:buClr>
                    <a:srgbClr val="A9C6DC"/>
                  </a:buClr>
                  <a:buChar char="◆"/>
                  <a:defRPr/>
                </a:pPr>
                <a:r>
                  <a:rPr lang="en-US" b="false" i="false" strike="noStrike" u="none" sz="1580">
                    <a:solidFill>
                      <a:srgbClr val="A9C6DC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节拍时间（Takt Time）测算</a:t>
                </a:r>
                <a:endParaRPr lang="en-US" sz="1100"/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>
            <a:off x="6248400" y="4305300"/>
            <a:ext cx="5334000" cy="2190750"/>
            <a:chOff x="6248400" y="4305300"/>
            <a:chExt cx="5334000" cy="2190750"/>
          </a:xfrm>
        </p:grpSpPr>
        <p:sp>
          <p:nvSpPr>
            <p:cNvPr name="AutoShape 33" id="33"/>
            <p:cNvSpPr/>
            <p:nvPr/>
          </p:nvSpPr>
          <p:spPr>
            <a:xfrm rot="0" flipH="false" flipV="false">
              <a:off x="6248400" y="4305300"/>
              <a:ext cx="5334000" cy="2190750"/>
            </a:xfrm>
            <a:prstGeom prst="roundRect">
              <a:avLst>
                <a:gd name="adj" fmla="val 6087"/>
              </a:avLst>
            </a:prstGeom>
            <a:gradFill rotWithShape="true">
              <a:gsLst>
                <a:gs pos="0">
                  <a:srgbClr val="152F45">
                    <a:alpha val="100000"/>
                  </a:srgbClr>
                </a:gs>
                <a:gs pos="100000">
                  <a:srgbClr val="0B1A28">
                    <a:alpha val="100000"/>
                  </a:srgbClr>
                </a:gs>
              </a:gsLst>
              <a:lin ang="5400000"/>
            </a:gra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6248400" y="4305300"/>
              <a:ext cx="5334000" cy="47625"/>
            </a:xfrm>
            <a:prstGeom prst="roundRect">
              <a:avLst>
                <a:gd name="adj" fmla="val 50000"/>
              </a:avLst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6544056" y="4568190"/>
              <a:ext cx="987552" cy="35204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8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学习目标</a:t>
              </a:r>
              <a:endParaRPr lang="en-US" sz="1100"/>
            </a:p>
          </p:txBody>
        </p:sp>
        <p:grpSp>
          <p:nvGrpSpPr>
            <p:cNvPr name="Group 36" id="36"/>
            <p:cNvGrpSpPr/>
            <p:nvPr/>
          </p:nvGrpSpPr>
          <p:grpSpPr>
            <a:xfrm>
              <a:off x="6545199" y="5049679"/>
              <a:ext cx="2376968" cy="1108139"/>
              <a:chOff x="6545199" y="5049679"/>
              <a:chExt cx="2376968" cy="1108139"/>
            </a:xfrm>
          </p:grpSpPr>
          <p:sp>
            <p:nvSpPr>
              <p:cNvPr name="AutoShape 37" id="37"/>
              <p:cNvSpPr/>
              <p:nvPr/>
            </p:nvSpPr>
            <p:spPr>
              <a:xfrm rot="0" flipH="false" flipV="false">
                <a:off x="6545199" y="5049679"/>
                <a:ext cx="2142998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580">
                    <a:solidFill>
                      <a:srgbClr val="A9C6DC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能用精益眼光审视产线</a:t>
                </a:r>
                <a:endParaRPr lang="en-US" sz="1100"/>
              </a:p>
            </p:txBody>
          </p:sp>
          <p:sp>
            <p:nvSpPr>
              <p:cNvPr name="AutoShape 38" id="38"/>
              <p:cNvSpPr/>
              <p:nvPr/>
            </p:nvSpPr>
            <p:spPr>
              <a:xfrm rot="0" flipH="false" flipV="false">
                <a:off x="6545199" y="5449729"/>
                <a:ext cx="2355698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580">
                    <a:solidFill>
                      <a:srgbClr val="A9C6DC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能判断瓶颈与浪费在哪里</a:t>
                </a:r>
                <a:endParaRPr lang="en-US" sz="1100"/>
              </a:p>
            </p:txBody>
          </p:sp>
          <p:sp>
            <p:nvSpPr>
              <p:cNvPr name="AutoShape 39" id="39"/>
              <p:cNvSpPr/>
              <p:nvPr/>
            </p:nvSpPr>
            <p:spPr>
              <a:xfrm rot="0" flipH="false" flipV="false">
                <a:off x="6545199" y="5849779"/>
                <a:ext cx="2376968" cy="308039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non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580">
                    <a:solidFill>
                      <a:srgbClr val="A9C6DC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明白“为什么需要自动化”</a:t>
                </a:r>
                <a:endParaRPr lang="en-US" sz="1100"/>
              </a:p>
            </p:txBody>
          </p:sp>
        </p:grpSp>
      </p:grpSp>
      <p:sp>
        <p:nvSpPr>
          <p:cNvPr name="Freeform 40" id="40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09600" y="6710362"/>
            <a:ext cx="13716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9812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3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50" id="7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850" fill="hold" id="8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765" fill="hold" id="9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85" fill="hold" id="1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childTnLst>
                              <p:par>
                                <p:cTn fill="hold" id="12" nodeType="afterEffect" presetClass="entr" presetID="5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00" fill="hold" id="15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00" fill="hold" id="16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700" id="14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childTnLst>
                        <p:par>
                          <p:cTn id="18" fill="hold">
                            <p:childTnLst>
                              <p:par>
                                <p:cTn fill="hold" id="19" nodeType="clickEffect" presetClass="emph" presetID="26" presetSubtype="0" repeatCount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700" id="21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350" fill="hold" id="20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6238494" cy="1127951"/>
            <a:chOff x="609600" y="495300"/>
            <a:chExt cx="6238494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2ED47A">
                    <a:alpha val="100000"/>
                  </a:srgbClr>
                </a:gs>
                <a:gs pos="100000">
                  <a:srgbClr val="2ED47A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15009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01 /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精益生产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5968746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2ED47A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精益的四件工具，撑住了整条线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256574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5S · VSM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看板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标准作业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667500" cy="4171950"/>
            <a:chOff x="609600" y="1866900"/>
            <a:chExt cx="66675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6675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1429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现场最常用的四件工具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914400" y="264795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067717" y="278653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516380" y="2638425"/>
              <a:ext cx="1730883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5S — 让异常浮出来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517523" y="2948464"/>
              <a:ext cx="3296666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整理·整顿·清扫·清洁·素养。不是为了好看，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是为了让“不对劲”一眼可见。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914400" y="356235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067717" y="370093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516380" y="3552825"/>
              <a:ext cx="1696974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VSM — 画出价值流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517523" y="3862864"/>
              <a:ext cx="358927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把每道工序的加工时间与等待时间画在一张图上。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你会发现，增值时间通常不到 5%。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914400" y="447675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067717" y="461533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1516380" y="4467225"/>
              <a:ext cx="2076440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看板 — 用拉动代替推动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517523" y="4777264"/>
              <a:ext cx="277647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后工序需要多少，前工序才生产多少。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在制品库存因此被压到最低。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914400" y="539115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067717" y="552973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1516380" y="5381625"/>
              <a:ext cx="2278370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标准作业 — 把最优解固化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517523" y="5691664"/>
              <a:ext cx="242534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没有标准，就没有改善的基准。</a:t>
              </a:r>
              <a:endParaRPr lang="en-US" sz="110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7505700" y="1866900"/>
            <a:ext cx="4076700" cy="1847850"/>
            <a:chOff x="7505700" y="1866900"/>
            <a:chExt cx="4076700" cy="1847850"/>
          </a:xfrm>
        </p:grpSpPr>
        <p:sp>
          <p:nvSpPr>
            <p:cNvPr name="AutoShape 29" id="29"/>
            <p:cNvSpPr/>
            <p:nvPr/>
          </p:nvSpPr>
          <p:spPr>
            <a:xfrm rot="0" flipH="false" flipV="false">
              <a:off x="7505700" y="1866900"/>
              <a:ext cx="4076700" cy="1847850"/>
            </a:xfrm>
            <a:prstGeom prst="roundRect">
              <a:avLst>
                <a:gd name="adj" fmla="val 4124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7505700" y="1866900"/>
              <a:ext cx="57150" cy="18478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783449" y="209692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最常见的三个坑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796212" y="26336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994523" y="258651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先买自动化设备，再想流程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796212" y="30146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994523" y="2967514"/>
              <a:ext cx="216329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5S 做成大扫除，没有可视化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796212" y="33956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994523" y="3348514"/>
              <a:ext cx="156377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有标准，但从不更新</a:t>
              </a:r>
              <a:endParaRPr lang="en-US" sz="1100"/>
            </a:p>
          </p:txBody>
        </p:sp>
      </p:grpSp>
      <p:grpSp>
        <p:nvGrpSpPr>
          <p:cNvPr name="Group 38" id="38"/>
          <p:cNvGrpSpPr/>
          <p:nvPr/>
        </p:nvGrpSpPr>
        <p:grpSpPr>
          <a:xfrm>
            <a:off x="7505700" y="3848100"/>
            <a:ext cx="4076700" cy="2190750"/>
            <a:chOff x="7505700" y="3848100"/>
            <a:chExt cx="4076700" cy="2190750"/>
          </a:xfrm>
        </p:grpSpPr>
        <p:sp>
          <p:nvSpPr>
            <p:cNvPr name="AutoShape 39" id="39"/>
            <p:cNvSpPr/>
            <p:nvPr/>
          </p:nvSpPr>
          <p:spPr>
            <a:xfrm rot="0" flipH="false" flipV="false">
              <a:off x="7505700" y="3848100"/>
              <a:ext cx="4076700" cy="2190750"/>
            </a:xfrm>
            <a:prstGeom prst="roundRect">
              <a:avLst>
                <a:gd name="adj" fmla="val 347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7505700" y="384810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7783449" y="4078129"/>
              <a:ext cx="8668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能力自检</a:t>
              </a:r>
              <a:endParaRPr lang="en-US" sz="1100"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7784973" y="452961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过一遍，能答上来才算学会：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7784973" y="4948714"/>
              <a:ext cx="2914650" cy="97326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850"/>
                </a:lnSpc>
                <a:defRPr/>
              </a:pP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你负责的区域，增值时间占比多少？</a:t>
              </a:r>
              <a:b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现场有没有一条能看出异常的基准线？</a:t>
              </a:r>
              <a:b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改动流程时，谁负责更新标准？</a:t>
              </a:r>
              <a:endParaRPr lang="en-US" sz="1100"/>
            </a:p>
          </p:txBody>
        </p:sp>
      </p:grpSp>
      <p:sp>
        <p:nvSpPr>
          <p:cNvPr name="AutoShape 44" id="44"/>
          <p:cNvSpPr/>
          <p:nvPr/>
        </p:nvSpPr>
        <p:spPr>
          <a:xfrm rot="0" flipH="false" flipV="false">
            <a:off x="10890809" y="6385560"/>
            <a:ext cx="545287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6 / 32</a:t>
            </a:r>
            <a:endParaRPr lang="en-US" sz="1100"/>
          </a:p>
        </p:txBody>
      </p:sp>
      <p:sp>
        <p:nvSpPr>
          <p:cNvPr name="Freeform 45" id="45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09600" y="6710362"/>
            <a:ext cx="17145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23241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42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5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50" fill="hold" id="14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5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50" id="13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childTnLst>
                              <p:par>
                                <p:cTn fill="hold" id="17" nodeType="afterEffect" presetClass="entr" presetID="3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 id="19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50" fill="hold" id="2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495" fill="hold" id="2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55" fill="hold" id="22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9166" b="29166"/>
          <a:stretch>
            <a:fillRect/>
          </a:stretch>
        </p:blipFill>
        <p:spPr>
          <a:xfrm rot="0" flipH="false" flipV="false">
            <a:off x="0" y="0"/>
            <a:ext cx="12192000" cy="2857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2857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60D16">
                  <a:alpha val="32000"/>
                </a:srgbClr>
              </a:gs>
              <a:gs pos="55000">
                <a:srgbClr val="060D16">
                  <a:alpha val="72000"/>
                </a:srgbClr>
              </a:gs>
              <a:gs pos="100000">
                <a:srgbClr val="060D16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2857500"/>
          </a:xfrm>
          <a:prstGeom prst="roundRect">
            <a:avLst>
              <a:gd name="adj" fmla="val 0"/>
            </a:avLst>
          </a:prstGeom>
          <a:solidFill>
            <a:srgbClr val="060D16">
              <a:alpha val="32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0" y="2095500"/>
            <a:ext cx="12192000" cy="0"/>
          </a:xfrm>
          <a:custGeom>
            <a:avLst/>
            <a:gdLst/>
            <a:ahLst/>
            <a:cxnLst/>
            <a:rect r="r" b="b" t="t" l="l"/>
            <a:pathLst>
              <a:path h="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2700" cmpd="sng" cap="flat">
            <a:solidFill>
              <a:srgbClr val="12314A">
                <a:alpha val="4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043209" y="6423660"/>
            <a:ext cx="545287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7 / 32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3123" y="567214"/>
            <a:ext cx="2075757" cy="2493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80" spc="375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WASTE / </a:t>
            </a:r>
            <a:r>
              <a:rPr lang="en-US" b="false" i="false" strike="noStrike" u="none" sz="1280" spc="375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浪费识别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93598" y="898208"/>
            <a:ext cx="5544693" cy="6160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1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精益的第一课：看见七种浪费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139065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59499" y="1068229"/>
            <a:ext cx="2781097" cy="3080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80">
                <a:solidFill>
                  <a:srgbClr val="6E93B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看不见浪费，就无法定义改善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1809750"/>
            <a:ext cx="2571750" cy="1104900"/>
          </a:xfrm>
          <a:prstGeom prst="roundRect">
            <a:avLst>
              <a:gd name="adj" fmla="val 1034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0204" y="20612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7156" y="2339340"/>
            <a:ext cx="987552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过量生产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69442" y="2654618"/>
            <a:ext cx="740664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万恶之源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09950" y="1809750"/>
            <a:ext cx="2571750" cy="1104900"/>
          </a:xfrm>
          <a:prstGeom prst="roundRect">
            <a:avLst>
              <a:gd name="adj" fmla="val 1034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70554" y="20612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67506" y="2339340"/>
            <a:ext cx="502920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等待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69792" y="2654618"/>
            <a:ext cx="922401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工序间停滞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10300" y="1809750"/>
            <a:ext cx="2571750" cy="1104900"/>
          </a:xfrm>
          <a:prstGeom prst="roundRect">
            <a:avLst>
              <a:gd name="adj" fmla="val 1034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0904" y="20612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67856" y="2339340"/>
            <a:ext cx="502920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搬运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0142" y="2654618"/>
            <a:ext cx="922401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无增值移动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10650" y="1809750"/>
            <a:ext cx="2571750" cy="1104900"/>
          </a:xfrm>
          <a:prstGeom prst="roundRect">
            <a:avLst>
              <a:gd name="adj" fmla="val 1034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271254" y="20612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268206" y="2339340"/>
            <a:ext cx="987552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过度加工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270492" y="2654618"/>
            <a:ext cx="1104138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超出客户要求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9600" y="3105150"/>
            <a:ext cx="2571750" cy="1104900"/>
          </a:xfrm>
          <a:prstGeom prst="roundRect">
            <a:avLst>
              <a:gd name="adj" fmla="val 1034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70204" y="33566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67156" y="3634740"/>
            <a:ext cx="502920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库存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69442" y="3950018"/>
            <a:ext cx="922401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资金被占用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409950" y="3105150"/>
            <a:ext cx="2571750" cy="1104900"/>
          </a:xfrm>
          <a:prstGeom prst="roundRect">
            <a:avLst>
              <a:gd name="adj" fmla="val 1034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670554" y="33566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667506" y="3634740"/>
            <a:ext cx="502920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动作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669792" y="3950018"/>
            <a:ext cx="1104138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人体工程浪费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210300" y="3105150"/>
            <a:ext cx="2571750" cy="1104900"/>
          </a:xfrm>
          <a:prstGeom prst="roundRect">
            <a:avLst>
              <a:gd name="adj" fmla="val 1034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70904" y="33566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467856" y="3634740"/>
            <a:ext cx="745236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不良品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470142" y="3950018"/>
            <a:ext cx="922401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返工与报废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010650" y="3105150"/>
            <a:ext cx="2571750" cy="1104900"/>
          </a:xfrm>
          <a:prstGeom prst="roundRect">
            <a:avLst>
              <a:gd name="adj" fmla="val 10344"/>
            </a:avLst>
          </a:prstGeom>
          <a:solidFill>
            <a:srgbClr val="12293C">
              <a:alpha val="100000"/>
            </a:srgbClr>
          </a:solidFill>
          <a:ln w="12700" cmpd="sng" cap="flat">
            <a:solidFill>
              <a:srgbClr val="00E5FF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271254" y="3356610"/>
            <a:ext cx="189890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FE8FF"/>
                </a:solidFill>
                <a:latin typeface="Consolas"/>
                <a:ea typeface="Consolas"/>
                <a:cs typeface="Consolas"/>
                <a:sym typeface="Consolas"/>
              </a:rPr>
              <a:t>+1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268206" y="3634740"/>
            <a:ext cx="987552" cy="3520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5FE8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人才浪费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270492" y="3950018"/>
            <a:ext cx="922401" cy="264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B7D6E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第八种浪费</a:t>
            </a:r>
            <a:endParaRPr lang="en-US" sz="1100"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 cmpd="sng" cap="flat">
            <a:solidFill>
              <a:srgbClr val="12314A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09600" y="6710362"/>
            <a:ext cx="20574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26670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3"/>
          <a:srcRect l="0" r="0" t="33950" b="33950"/>
          <a:stretch>
            <a:fillRect/>
          </a:stretch>
        </p:blipFill>
        <p:spPr>
          <a:xfrm rot="0" flipH="false" flipV="false">
            <a:off x="609600" y="4419600"/>
            <a:ext cx="10972800" cy="1981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714500"/>
                </a:moveTo>
                <a:lnTo>
                  <a:pt x="12192000" y="1714500"/>
                </a:lnTo>
                <a:moveTo>
                  <a:pt x="0" y="4000500"/>
                </a:moveTo>
                <a:lnTo>
                  <a:pt x="12192000" y="40005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906000" y="0"/>
                </a:moveTo>
                <a:lnTo>
                  <a:pt x="9906000" y="6858000"/>
                </a:lnTo>
              </a:path>
            </a:pathLst>
          </a:custGeom>
          <a:noFill/>
          <a:ln w="12700">
            <a:solidFill>
              <a:srgbClr val="12314A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90809" y="6385560"/>
            <a:ext cx="545287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8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7174591" cy="880301"/>
            <a:chOff x="609600" y="590550"/>
            <a:chExt cx="7174591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6904843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第七讲 · 产品全生命周期与制造执行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2641702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PLM · MES · ERP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数字主线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619250"/>
            <a:ext cx="10972800" cy="1809750"/>
            <a:chOff x="609600" y="1619250"/>
            <a:chExt cx="10972800" cy="180975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619250"/>
              <a:ext cx="10972800" cy="1809750"/>
            </a:xfrm>
            <a:prstGeom prst="roundRect">
              <a:avLst>
                <a:gd name="adj" fmla="val 315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907542" y="1835468"/>
              <a:ext cx="255803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产品数据从哪来，怎么流到车间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914400" y="2266950"/>
              <a:ext cx="1714500" cy="723900"/>
            </a:xfrm>
            <a:prstGeom prst="roundRect">
              <a:avLst>
                <a:gd name="adj" fmla="val 5263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568969" y="2401729"/>
              <a:ext cx="405363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CAD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442466" y="2689860"/>
              <a:ext cx="658368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设计模型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3143250" y="2266950"/>
              <a:ext cx="1714500" cy="723900"/>
            </a:xfrm>
            <a:prstGeom prst="roundRect">
              <a:avLst>
                <a:gd name="adj" fmla="val 5263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3774221" y="2401729"/>
              <a:ext cx="45255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PLM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3590544" y="2689860"/>
              <a:ext cx="819912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版本与变更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5372100" y="2266950"/>
              <a:ext cx="1714500" cy="723900"/>
            </a:xfrm>
            <a:prstGeom prst="roundRect">
              <a:avLst>
                <a:gd name="adj" fmla="val 5263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5731377" y="2401729"/>
              <a:ext cx="995945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工艺 BOM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5819394" y="2689860"/>
              <a:ext cx="819912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路线与工时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600950" y="2266950"/>
              <a:ext cx="1714500" cy="723900"/>
            </a:xfrm>
            <a:prstGeom prst="roundRect">
              <a:avLst>
                <a:gd name="adj" fmla="val 5263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8231921" y="2401729"/>
              <a:ext cx="45255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MES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8048244" y="2689860"/>
              <a:ext cx="819912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派工与追溯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9525000" y="2266950"/>
              <a:ext cx="1752600" cy="723900"/>
            </a:xfrm>
            <a:prstGeom prst="roundRect">
              <a:avLst>
                <a:gd name="adj" fmla="val 5263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9967900" y="2401729"/>
              <a:ext cx="8668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数据回流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10072116" y="2689860"/>
              <a:ext cx="658368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闭环改善</a:t>
              </a:r>
              <a:endParaRPr lang="en-US" sz="1100"/>
            </a:p>
          </p:txBody>
        </p:sp>
        <p:sp>
          <p:nvSpPr>
            <p:cNvPr name="Freeform 32" id="32"/>
            <p:cNvSpPr/>
            <p:nvPr/>
          </p:nvSpPr>
          <p:spPr>
            <a:xfrm rot="0" flipH="false" flipV="false">
              <a:off x="2628900" y="2628900"/>
              <a:ext cx="6896100" cy="0"/>
            </a:xfrm>
            <a:custGeom>
              <a:avLst/>
              <a:gdLst/>
              <a:ahLst/>
              <a:cxnLst/>
              <a:rect r="r" b="b" t="t" l="l"/>
              <a:pathLst>
                <a:path h="0" w="6896100">
                  <a:moveTo>
                    <a:pt x="0" y="0"/>
                  </a:moveTo>
                  <a:lnTo>
                    <a:pt x="514350" y="0"/>
                  </a:lnTo>
                  <a:moveTo>
                    <a:pt x="2228850" y="0"/>
                  </a:moveTo>
                  <a:lnTo>
                    <a:pt x="2743200" y="0"/>
                  </a:lnTo>
                  <a:moveTo>
                    <a:pt x="4457700" y="0"/>
                  </a:moveTo>
                  <a:lnTo>
                    <a:pt x="4972050" y="0"/>
                  </a:lnTo>
                  <a:moveTo>
                    <a:pt x="6686550" y="0"/>
                  </a:moveTo>
                  <a:lnTo>
                    <a:pt x="6896100" y="0"/>
                  </a:lnTo>
                </a:path>
              </a:pathLst>
            </a:custGeom>
            <a:noFill/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grpSp>
        <p:nvGrpSpPr>
          <p:cNvPr name="Group 33" id="33"/>
          <p:cNvGrpSpPr/>
          <p:nvPr/>
        </p:nvGrpSpPr>
        <p:grpSpPr>
          <a:xfrm>
            <a:off x="609600" y="3676650"/>
            <a:ext cx="10972800" cy="2057400"/>
            <a:chOff x="609600" y="3676650"/>
            <a:chExt cx="10972800" cy="2057400"/>
          </a:xfrm>
        </p:grpSpPr>
        <p:sp>
          <p:nvSpPr>
            <p:cNvPr name="AutoShape 34" id="34"/>
            <p:cNvSpPr/>
            <p:nvPr/>
          </p:nvSpPr>
          <p:spPr>
            <a:xfrm rot="0" flipH="false" flipV="false">
              <a:off x="609600" y="3676650"/>
              <a:ext cx="2590800" cy="2057400"/>
            </a:xfrm>
            <a:prstGeom prst="roundRect">
              <a:avLst>
                <a:gd name="adj" fmla="val 277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830199" y="3887629"/>
              <a:ext cx="158684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为什么需要 MES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831342" y="4311968"/>
              <a:ext cx="2088261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ERP 知道“要做多少”，</a:t>
              </a:r>
              <a:b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但不知道“此刻做到了哪”。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831723" y="5043964"/>
              <a:ext cx="143828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MES 填的正是这道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831723" y="5310664"/>
              <a:ext cx="1391463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计划与现场的鸿沟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3390900" y="3676650"/>
              <a:ext cx="2590800" cy="2057400"/>
            </a:xfrm>
            <a:prstGeom prst="roundRect">
              <a:avLst>
                <a:gd name="adj" fmla="val 277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3611499" y="3887629"/>
              <a:ext cx="12922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三大核心功能</a:t>
              </a:r>
              <a:endParaRPr lang="en-US" sz="1100"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3612642" y="4311968"/>
              <a:ext cx="1359598" cy="949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7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工单执行与派工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过程质量与 SPC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全流程追溯</a:t>
              </a:r>
              <a:endParaRPr lang="en-US" sz="1100"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3613023" y="5367814"/>
              <a:ext cx="173609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人机料法环全要素采集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6172200" y="3676650"/>
              <a:ext cx="2590800" cy="2057400"/>
            </a:xfrm>
            <a:prstGeom prst="roundRect">
              <a:avLst>
                <a:gd name="adj" fmla="val 277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6392799" y="388762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数字主线是什么</a:t>
              </a:r>
              <a:endParaRPr lang="en-US" sz="1100"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6393942" y="4311968"/>
              <a:ext cx="1651064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一条贯穿需求→设计→</a:t>
              </a:r>
              <a:b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制造→服务的数据链。</a:t>
              </a:r>
              <a:endParaRPr lang="en-US" sz="1100"/>
            </a:p>
          </p:txBody>
        </p:sp>
        <p:sp>
          <p:nvSpPr>
            <p:cNvPr name="AutoShape 46" id="46"/>
            <p:cNvSpPr/>
            <p:nvPr/>
          </p:nvSpPr>
          <p:spPr>
            <a:xfrm rot="0" flipH="false" flipV="false">
              <a:off x="6394323" y="504396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它让每一台产品</a:t>
              </a:r>
              <a:endParaRPr lang="en-US" sz="1100"/>
            </a:p>
          </p:txBody>
        </p:sp>
        <p:sp>
          <p:nvSpPr>
            <p:cNvPr name="AutoShape 47" id="47"/>
            <p:cNvSpPr/>
            <p:nvPr/>
          </p:nvSpPr>
          <p:spPr>
            <a:xfrm rot="0" flipH="false" flipV="false">
              <a:off x="6394323" y="5310664"/>
              <a:ext cx="192563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都可被反向追问“为什么”</a:t>
              </a:r>
              <a:endParaRPr lang="en-US" sz="1100"/>
            </a:p>
          </p:txBody>
        </p:sp>
        <p:sp>
          <p:nvSpPr>
            <p:cNvPr name="AutoShape 48" id="48"/>
            <p:cNvSpPr/>
            <p:nvPr/>
          </p:nvSpPr>
          <p:spPr>
            <a:xfrm rot="0" flipH="false" flipV="false">
              <a:off x="8953500" y="3676650"/>
              <a:ext cx="2628900" cy="2057400"/>
            </a:xfrm>
            <a:prstGeom prst="roundRect">
              <a:avLst>
                <a:gd name="adj" fmla="val 277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9" id="49"/>
            <p:cNvSpPr/>
            <p:nvPr/>
          </p:nvSpPr>
          <p:spPr>
            <a:xfrm rot="0" flipH="false" flipV="false">
              <a:off x="9174099" y="3887629"/>
              <a:ext cx="17175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落地最容易踩的坑</a:t>
              </a:r>
              <a:endParaRPr lang="en-US" sz="1100"/>
            </a:p>
          </p:txBody>
        </p:sp>
        <p:sp>
          <p:nvSpPr>
            <p:cNvPr name="AutoShape 50" id="50"/>
            <p:cNvSpPr/>
            <p:nvPr/>
          </p:nvSpPr>
          <p:spPr>
            <a:xfrm rot="0" flipH="false" flipV="false">
              <a:off x="9175242" y="4311968"/>
              <a:ext cx="1728216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 MES 当“电子表格”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只做记录，不做约束。</a:t>
              </a:r>
              <a:endParaRPr lang="en-US" sz="1100"/>
            </a:p>
          </p:txBody>
        </p:sp>
        <p:sp>
          <p:nvSpPr>
            <p:cNvPr name="AutoShape 51" id="51"/>
            <p:cNvSpPr/>
            <p:nvPr/>
          </p:nvSpPr>
          <p:spPr>
            <a:xfrm rot="0" flipH="false" flipV="false">
              <a:off x="9175623" y="504396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真正的价值在于</a:t>
              </a:r>
              <a:endParaRPr lang="en-US" sz="1100"/>
            </a:p>
          </p:txBody>
        </p:sp>
        <p:sp>
          <p:nvSpPr>
            <p:cNvPr name="AutoShape 52" id="52"/>
            <p:cNvSpPr/>
            <p:nvPr/>
          </p:nvSpPr>
          <p:spPr>
            <a:xfrm rot="0" flipH="false" flipV="false">
              <a:off x="9175623" y="531066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防错与实时纠偏</a:t>
              </a:r>
              <a:endParaRPr lang="en-US" sz="1100"/>
            </a:p>
          </p:txBody>
        </p:sp>
      </p:grpSp>
      <p:grpSp>
        <p:nvGrpSpPr>
          <p:cNvPr name="Group 53" id="53"/>
          <p:cNvGrpSpPr/>
          <p:nvPr/>
        </p:nvGrpSpPr>
        <p:grpSpPr>
          <a:xfrm>
            <a:off x="601599" y="6078379"/>
            <a:ext cx="7405908" cy="308039"/>
            <a:chOff x="601599" y="6078379"/>
            <a:chExt cx="7405908" cy="308039"/>
          </a:xfrm>
        </p:grpSpPr>
        <p:sp>
          <p:nvSpPr>
            <p:cNvPr name="AutoShape 54" id="54"/>
            <p:cNvSpPr/>
            <p:nvPr/>
          </p:nvSpPr>
          <p:spPr>
            <a:xfrm rot="0" flipH="false" flipV="false">
              <a:off x="601599" y="6078379"/>
              <a:ext cx="740590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一句话记住：PLM 管“它是怎么被设计出来的”，MES 管“它是怎么做出来的”。</a:t>
              </a:r>
              <a:endParaRPr lang="en-US" sz="1100"/>
            </a:p>
          </p:txBody>
        </p:sp>
      </p:grpSp>
      <p:sp>
        <p:nvSpPr>
          <p:cNvPr name="Freeform 55" id="55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609600" y="6710362"/>
            <a:ext cx="24003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30099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600">
    <p:push dir="u"/>
  </p:transition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4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 id="7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600" fill="hold" id="8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00" fill="hold" id="9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7934706" cy="1127951"/>
            <a:chOff x="609600" y="495300"/>
            <a:chExt cx="7934706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E5FF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70380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02 / PLM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与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 MES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7664958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00E5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骨架的两根梁：数据从哪来，指令往哪去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306449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BOM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工艺路线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工单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数字主线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286500" cy="4171950"/>
            <a:chOff x="609600" y="1866900"/>
            <a:chExt cx="62865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2865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99379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一个订单，在两个系统里走一遍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8111" y="2589371"/>
              <a:ext cx="1647042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PLM 管“该怎么造”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873" y="2910364"/>
              <a:ext cx="4044442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EBOM（设计 BOM）→ MBOM（制造 BOM）→ 工艺路线。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改一个零件，所有相关图档与工艺自动关联版本。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111" y="3751421"/>
              <a:ext cx="1838202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MES 管“实际怎么造”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888873" y="4072414"/>
              <a:ext cx="391439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把工艺路线拆成工单，派到工位，收设备与人的回执。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谁在哪台设备上、几点做的、用了什么料，全程留痕。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88111" y="4913471"/>
              <a:ext cx="2517965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数字主线（Digital Thread）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88873" y="5234464"/>
              <a:ext cx="3694938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设计—工艺—制造—售后，用同一个数据身份串起来。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没有它，PLM 和 MES 就是两个各自美丽的孤岛。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7124700" y="1866900"/>
            <a:ext cx="4457700" cy="2092928"/>
            <a:chOff x="7124700" y="1866900"/>
            <a:chExt cx="4457700" cy="2092928"/>
          </a:xfrm>
        </p:grpSpPr>
        <p:sp>
          <p:nvSpPr>
            <p:cNvPr name="AutoShape 19" id="19"/>
            <p:cNvSpPr/>
            <p:nvPr/>
          </p:nvSpPr>
          <p:spPr>
            <a:xfrm rot="0" flipH="false" flipV="false">
              <a:off x="7124700" y="1866900"/>
              <a:ext cx="44577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71247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7402449" y="2096929"/>
              <a:ext cx="175056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为什么它是“骨架”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403973" y="2529364"/>
              <a:ext cx="328691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因为所有其他系统的数据，都挂在它上面。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415212" y="30337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613523" y="29865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视觉检测要按工单号归档结果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415212" y="339566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613523" y="3348514"/>
              <a:ext cx="243997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IIoT 采集的数据要能对应到批次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415212" y="37576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7613523" y="3710464"/>
              <a:ext cx="280703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AI 要预测，得有历史工单与工艺参数</a:t>
              </a:r>
              <a:endParaRPr lang="en-US" sz="1100"/>
            </a:p>
          </p:txBody>
        </p:sp>
      </p:grpSp>
      <p:grpSp>
        <p:nvGrpSpPr>
          <p:cNvPr name="Group 29" id="29"/>
          <p:cNvGrpSpPr/>
          <p:nvPr/>
        </p:nvGrpSpPr>
        <p:grpSpPr>
          <a:xfrm>
            <a:off x="7124700" y="4038600"/>
            <a:ext cx="4457700" cy="2000250"/>
            <a:chOff x="7124700" y="4038600"/>
            <a:chExt cx="4457700" cy="2000250"/>
          </a:xfrm>
        </p:grpSpPr>
        <p:sp>
          <p:nvSpPr>
            <p:cNvPr name="AutoShape 30" id="30"/>
            <p:cNvSpPr/>
            <p:nvPr/>
          </p:nvSpPr>
          <p:spPr>
            <a:xfrm rot="0" flipH="false" flipV="false">
              <a:off x="7124700" y="4038600"/>
              <a:ext cx="44577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1247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402449" y="426862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最常见的三个坑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415212" y="48244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613523" y="4777264"/>
              <a:ext cx="243769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先上 MES，才发现 BOM 是错的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415212" y="52244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613523" y="5177314"/>
              <a:ext cx="242534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两套系统各维护一份物料主数据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415212" y="56245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7613523" y="5577364"/>
              <a:ext cx="269909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 MES 当报表工具，不做闭环回写</a:t>
              </a:r>
              <a:endParaRPr lang="en-US" sz="1100"/>
            </a:p>
          </p:txBody>
        </p:sp>
      </p:grpSp>
      <p:sp>
        <p:nvSpPr>
          <p:cNvPr name="AutoShape 39" id="39"/>
          <p:cNvSpPr/>
          <p:nvPr/>
        </p:nvSpPr>
        <p:spPr>
          <a:xfrm rot="0" flipH="false" flipV="false">
            <a:off x="10890809" y="6385560"/>
            <a:ext cx="545287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9 / 32</a:t>
            </a:r>
            <a:endParaRPr lang="en-US" sz="1100"/>
          </a:p>
        </p:txBody>
      </p:sp>
      <p:sp>
        <p:nvSpPr>
          <p:cNvPr name="Freeform 40" id="40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09600" y="6710362"/>
            <a:ext cx="27432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33528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45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23" presetSubtype="16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50" fill="hold" id="13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4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714500"/>
                </a:moveTo>
                <a:lnTo>
                  <a:pt x="12192000" y="17145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9144000" y="0"/>
                </a:moveTo>
                <a:lnTo>
                  <a:pt x="9144000" y="6858000"/>
                </a:lnTo>
              </a:path>
            </a:pathLst>
          </a:custGeom>
          <a:noFill/>
          <a:ln w="12700">
            <a:solidFill>
              <a:srgbClr val="12314A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429500" y="762000"/>
            <a:ext cx="4381500" cy="4381500"/>
          </a:xfrm>
          <a:prstGeom prst="ellipse">
            <a:avLst/>
          </a:prstGeom>
          <a:gradFill rotWithShape="true">
            <a:gsLst>
              <a:gs pos="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10 / 32</a:t>
            </a:r>
            <a:endParaRPr lang="en-US" sz="1100"/>
          </a:p>
        </p:txBody>
      </p:sp>
      <p:grpSp>
        <p:nvGrpSpPr>
          <p:cNvPr name="Group 11" id="11"/>
          <p:cNvGrpSpPr/>
          <p:nvPr/>
        </p:nvGrpSpPr>
        <p:grpSpPr>
          <a:xfrm>
            <a:off x="609600" y="590550"/>
            <a:ext cx="5902432" cy="880301"/>
            <a:chOff x="609600" y="590550"/>
            <a:chExt cx="5902432" cy="880301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9B7B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79348" y="669608"/>
              <a:ext cx="5632684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第八讲 · 机器视觉与智能检测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492" y="1206818"/>
              <a:ext cx="268833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工业之眼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VISION · AI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质检</a:t>
              </a:r>
              <a:endParaRPr lang="en-US" sz="1100"/>
            </a:p>
          </p:txBody>
        </p:sp>
      </p:grpSp>
      <p:grpSp>
        <p:nvGrpSpPr>
          <p:cNvPr name="Group 15" id="15"/>
          <p:cNvGrpSpPr/>
          <p:nvPr/>
        </p:nvGrpSpPr>
        <p:grpSpPr>
          <a:xfrm>
            <a:off x="609600" y="1676400"/>
            <a:ext cx="6667500" cy="4000500"/>
            <a:chOff x="609600" y="1676400"/>
            <a:chExt cx="6667500" cy="4000500"/>
          </a:xfrm>
        </p:grpSpPr>
        <p:sp>
          <p:nvSpPr>
            <p:cNvPr name="AutoShape 16" id="16"/>
            <p:cNvSpPr/>
            <p:nvPr/>
          </p:nvSpPr>
          <p:spPr>
            <a:xfrm rot="0" flipH="false" flipV="false">
              <a:off x="609600" y="1676400"/>
              <a:ext cx="6667500" cy="4000500"/>
            </a:xfrm>
            <a:prstGeom prst="roundRect">
              <a:avLst>
                <a:gd name="adj" fmla="val 142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68299" y="1887379"/>
              <a:ext cx="256839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一条检测流水线的五个环节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95350" y="2495550"/>
              <a:ext cx="457200" cy="4572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054532" y="2630329"/>
              <a:ext cx="13883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573149" y="2496979"/>
              <a:ext cx="441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成像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574673" y="2815114"/>
              <a:ext cx="230472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相机 / 镜头 / 光源，决定上限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895350" y="3314700"/>
              <a:ext cx="457200" cy="4572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054532" y="3449479"/>
              <a:ext cx="13883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1573149" y="3316129"/>
              <a:ext cx="6541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预处理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574673" y="3634264"/>
              <a:ext cx="173739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去噪、增强、ROI 对齐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895350" y="4133850"/>
              <a:ext cx="457200" cy="4572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054532" y="4268629"/>
              <a:ext cx="13883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1573149" y="413527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特征提取与判定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1574673" y="4453414"/>
              <a:ext cx="168439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传统算子 or 深度学习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895350" y="4953000"/>
              <a:ext cx="457200" cy="4572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1054532" y="5087779"/>
              <a:ext cx="13883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1573149" y="4954429"/>
              <a:ext cx="10795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通信与执行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1574673" y="5272564"/>
              <a:ext cx="191880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结果下发 PLC，联动剔除</a:t>
              </a:r>
              <a:endParaRPr lang="en-US" sz="1100"/>
            </a:p>
          </p:txBody>
        </p:sp>
        <p:sp>
          <p:nvSpPr>
            <p:cNvPr name="Freeform 34" id="34"/>
            <p:cNvSpPr/>
            <p:nvPr/>
          </p:nvSpPr>
          <p:spPr>
            <a:xfrm rot="0" flipH="false" flipV="false">
              <a:off x="1123950" y="2952750"/>
              <a:ext cx="0" cy="2000250"/>
            </a:xfrm>
            <a:custGeom>
              <a:avLst/>
              <a:gdLst/>
              <a:ahLst/>
              <a:cxnLst/>
              <a:rect r="r" b="b" t="t" l="l"/>
              <a:pathLst>
                <a:path h="2000250" w="0">
                  <a:moveTo>
                    <a:pt x="0" y="0"/>
                  </a:moveTo>
                  <a:lnTo>
                    <a:pt x="0" y="361950"/>
                  </a:lnTo>
                  <a:moveTo>
                    <a:pt x="0" y="819150"/>
                  </a:moveTo>
                  <a:lnTo>
                    <a:pt x="0" y="1181100"/>
                  </a:lnTo>
                  <a:moveTo>
                    <a:pt x="0" y="1638300"/>
                  </a:moveTo>
                  <a:lnTo>
                    <a:pt x="0" y="2000250"/>
                  </a:lnTo>
                </a:path>
              </a:pathLst>
            </a:custGeom>
            <a:noFill/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grpSp>
        <p:nvGrpSpPr>
          <p:cNvPr name="Group 35" id="35"/>
          <p:cNvGrpSpPr/>
          <p:nvPr/>
        </p:nvGrpSpPr>
        <p:grpSpPr>
          <a:xfrm>
            <a:off x="7505700" y="1676400"/>
            <a:ext cx="4076700" cy="1905000"/>
            <a:chOff x="7505700" y="1676400"/>
            <a:chExt cx="4076700" cy="1905000"/>
          </a:xfrm>
        </p:grpSpPr>
        <p:sp>
          <p:nvSpPr>
            <p:cNvPr name="AutoShape 36" id="36"/>
            <p:cNvSpPr/>
            <p:nvPr/>
          </p:nvSpPr>
          <p:spPr>
            <a:xfrm rot="0" flipH="false" flipV="false">
              <a:off x="7505700" y="1676400"/>
              <a:ext cx="4076700" cy="1905000"/>
            </a:xfrm>
            <a:prstGeom prst="roundRect">
              <a:avLst>
                <a:gd name="adj" fmla="val 30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764399" y="18873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必须看懂的三个指标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7765542" y="2311718"/>
              <a:ext cx="2221821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漏检率 — 缺陷流到客户手里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7765542" y="2673668"/>
              <a:ext cx="204008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过杀率 — 好品被误判报废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7765542" y="3035618"/>
              <a:ext cx="204008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节拍 — 能否跟上产线速度</a:t>
              </a:r>
              <a:endParaRPr lang="en-US" sz="1100"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7765923" y="33294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三者互相制约，不能只看一个</a:t>
              </a:r>
              <a:endParaRPr lang="en-US" sz="1100"/>
            </a:p>
          </p:txBody>
        </p:sp>
      </p:grpSp>
      <p:grpSp>
        <p:nvGrpSpPr>
          <p:cNvPr name="Group 42" id="42"/>
          <p:cNvGrpSpPr/>
          <p:nvPr/>
        </p:nvGrpSpPr>
        <p:grpSpPr>
          <a:xfrm>
            <a:off x="7505700" y="3771900"/>
            <a:ext cx="4076700" cy="1905000"/>
            <a:chOff x="7505700" y="3771900"/>
            <a:chExt cx="4076700" cy="1905000"/>
          </a:xfrm>
        </p:grpSpPr>
        <p:sp>
          <p:nvSpPr>
            <p:cNvPr name="AutoShape 43" id="43"/>
            <p:cNvSpPr/>
            <p:nvPr/>
          </p:nvSpPr>
          <p:spPr>
            <a:xfrm rot="0" flipH="false" flipV="false">
              <a:off x="7505700" y="3771900"/>
              <a:ext cx="4076700" cy="1905000"/>
            </a:xfrm>
            <a:prstGeom prst="roundRect">
              <a:avLst>
                <a:gd name="adj" fmla="val 30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7764399" y="398287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技术的三次跃迁</a:t>
              </a:r>
              <a:endParaRPr lang="en-US" sz="1100"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7765542" y="4407218"/>
              <a:ext cx="2122551" cy="9117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550"/>
                </a:lnSpc>
                <a:defRPr/>
              </a:pPr>
              <a: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规则算法 → 特征工程</a:t>
              </a:r>
              <a:b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特征工程 → 深度学习</a:t>
              </a:r>
              <a:b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深度学习 → 大模型 + 少样本</a:t>
              </a:r>
              <a:endParaRPr lang="en-US" sz="1100"/>
            </a:p>
          </p:txBody>
        </p:sp>
        <p:sp>
          <p:nvSpPr>
            <p:cNvPr name="AutoShape 46" id="46"/>
            <p:cNvSpPr/>
            <p:nvPr/>
          </p:nvSpPr>
          <p:spPr>
            <a:xfrm rot="0" flipH="false" flipV="false">
              <a:off x="7765923" y="5386864"/>
              <a:ext cx="244257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现在最缺的是“会定义问题的人”</a:t>
              </a:r>
              <a:endParaRPr lang="en-US" sz="1100"/>
            </a:p>
          </p:txBody>
        </p:sp>
      </p:grpSp>
      <p:sp>
        <p:nvSpPr>
          <p:cNvPr name="Freeform 47" id="47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609600" y="6710362"/>
            <a:ext cx="30861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36957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42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50" id="7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950" fill="hold" id="8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950" fill="hold" id="9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3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 id="13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700" fill="hold" id="14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630" fill="hold" id="15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70" fill="hold" id="16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 spc="3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VISION / 机器视觉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41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工业之眼 · 检测线实景图解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1460500" y="1066800"/>
            <a:ext cx="9271000" cy="520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眼睛看见缺陷，是智能制造的第一道输入——成像、判定、剔除环环相扣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main="http://schemas.microsoft.com/office/powerpoint/2010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4542282" cy="1127951"/>
            <a:chOff x="609600" y="495300"/>
            <a:chExt cx="4542282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FF8A3D">
                    <a:alpha val="100000"/>
                  </a:srgbClr>
                </a:gs>
                <a:gs pos="100000">
                  <a:srgbClr val="FF8A3D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15009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03 /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机器视觉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4272534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FF8A3D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视觉项目八成输在打光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3094158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打光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标定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缺陷分类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样本策略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096000" cy="2092928"/>
            <a:chOff x="609600" y="1866900"/>
            <a:chExt cx="6096000" cy="2092928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0960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78109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第一步永远是打光，不是算法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8873" y="2529364"/>
              <a:ext cx="363154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缺陷在图像里看不见，再强的模型也学不出来。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900112" y="30337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098423" y="2986564"/>
              <a:ext cx="210656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同轴光 — 看平面划痕、字符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900112" y="339566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1098423" y="3348514"/>
              <a:ext cx="245119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背光 — 看轮廓、尺寸、有无穿孔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900112" y="37576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098423" y="3710464"/>
              <a:ext cx="279581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低角度暗场 — 让微小凸起与划痕发亮</a:t>
              </a:r>
              <a:endParaRPr lang="en-US" sz="1100"/>
            </a:p>
          </p:txBody>
        </p:sp>
      </p:grpSp>
      <p:grpSp>
        <p:nvGrpSpPr>
          <p:cNvPr name="Group 19" id="19"/>
          <p:cNvGrpSpPr/>
          <p:nvPr/>
        </p:nvGrpSpPr>
        <p:grpSpPr>
          <a:xfrm>
            <a:off x="609600" y="4038600"/>
            <a:ext cx="6096000" cy="2000250"/>
            <a:chOff x="609600" y="4038600"/>
            <a:chExt cx="6096000" cy="2000250"/>
          </a:xfrm>
        </p:grpSpPr>
        <p:sp>
          <p:nvSpPr>
            <p:cNvPr name="AutoShape 20" id="20"/>
            <p:cNvSpPr/>
            <p:nvPr/>
          </p:nvSpPr>
          <p:spPr>
            <a:xfrm rot="0" flipH="false" flipV="false">
              <a:off x="609600" y="4038600"/>
              <a:ext cx="60960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096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887349" y="4268629"/>
              <a:ext cx="2847034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标定：把“像素”翻译成“毫米”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888873" y="4701064"/>
              <a:ext cx="3426714" cy="11066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像素当量（每像素几毫米）决定测量精度下限。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镜头畸变必须校正，否则越靠边越不准。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要做定位取放，还要做手眼标定，把相机坐标系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和机器人坐标系对齐。</a:t>
              </a:r>
              <a:endParaRPr lang="en-US" sz="1100"/>
            </a:p>
          </p:txBody>
        </p:sp>
      </p:grpSp>
      <p:grpSp>
        <p:nvGrpSpPr>
          <p:cNvPr name="Group 24" id="24"/>
          <p:cNvGrpSpPr/>
          <p:nvPr/>
        </p:nvGrpSpPr>
        <p:grpSpPr>
          <a:xfrm>
            <a:off x="6934200" y="1866900"/>
            <a:ext cx="4648200" cy="4171950"/>
            <a:chOff x="6934200" y="1866900"/>
            <a:chExt cx="4648200" cy="4171950"/>
          </a:xfrm>
        </p:grpSpPr>
        <p:sp>
          <p:nvSpPr>
            <p:cNvPr name="AutoShape 25" id="25"/>
            <p:cNvSpPr/>
            <p:nvPr/>
          </p:nvSpPr>
          <p:spPr>
            <a:xfrm rot="0" flipH="false" flipV="false">
              <a:off x="6934200" y="1866900"/>
              <a:ext cx="46482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69342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211949" y="2096929"/>
              <a:ext cx="299379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深度学习项目的真实瓶颈：样本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7213473" y="2548414"/>
              <a:ext cx="330414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好品成千上万，坏品屈指可数——这是常态。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7212711" y="3046571"/>
              <a:ext cx="1161440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三条可用路径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7224712" y="35861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423023" y="3539014"/>
              <a:ext cx="242534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造缺陷：人为制造，可控可标注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224712" y="39862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423023" y="3939064"/>
              <a:ext cx="242534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无监督：只学好品，异常即报警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224712" y="43862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423023" y="4339114"/>
              <a:ext cx="296813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少样本微调：预训练模型 + 少量现场图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212711" y="4894421"/>
              <a:ext cx="1543761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验收别只看准确率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213473" y="5253514"/>
              <a:ext cx="3288538" cy="5351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要看漏检率与过杀率的组合。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漏检率 0.1% 但过杀 10%，产线照样不接受。</a:t>
              </a:r>
              <a:endParaRPr lang="en-US" sz="1100"/>
            </a:p>
          </p:txBody>
        </p:sp>
      </p:grpSp>
      <p:sp>
        <p:nvSpPr>
          <p:cNvPr name="AutoShape 38" id="38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11 / 32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34290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40386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550">
    <p:cover dir="r"/>
  </p:transition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31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50" fill="hold" id="8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9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50" id="7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2857500"/>
                </a:moveTo>
                <a:lnTo>
                  <a:pt x="12192000" y="28575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10858500" y="0"/>
                </a:moveTo>
                <a:lnTo>
                  <a:pt x="10858500" y="6858000"/>
                </a:lnTo>
              </a:path>
            </a:pathLst>
          </a:custGeom>
          <a:noFill/>
          <a:ln w="12700">
            <a:solidFill>
              <a:srgbClr val="12314A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12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6326485" cy="880301"/>
            <a:chOff x="609600" y="590550"/>
            <a:chExt cx="6326485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2ED47A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6056737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第九讲 · 工业物联网与边缘计算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294619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IIOT · EDGE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数据从车间到云端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676400"/>
            <a:ext cx="6858000" cy="4095750"/>
            <a:chOff x="609600" y="1676400"/>
            <a:chExt cx="6858000" cy="409575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676400"/>
              <a:ext cx="6858000" cy="4095750"/>
            </a:xfrm>
            <a:prstGeom prst="roundRect">
              <a:avLst>
                <a:gd name="adj" fmla="val 1395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1887379"/>
              <a:ext cx="278109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四层架构：数据是怎么上云的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76300" y="2324100"/>
              <a:ext cx="6324600" cy="685800"/>
            </a:xfrm>
            <a:prstGeom prst="roundRect">
              <a:avLst>
                <a:gd name="adj" fmla="val 555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4E7A9E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096899" y="2477929"/>
              <a:ext cx="843935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感知层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098423" y="2757964"/>
              <a:ext cx="301527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传感器 · PLC · 仪表 · 振动/温度/电流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76300" y="3200400"/>
              <a:ext cx="6324600" cy="685800"/>
            </a:xfrm>
            <a:prstGeom prst="roundRect">
              <a:avLst>
                <a:gd name="adj" fmla="val 555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4E7A9E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096899" y="3354229"/>
              <a:ext cx="843935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网络层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1098423" y="3634264"/>
              <a:ext cx="35975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现场总线 · 工业以太网 · 5G · TSN 时延确定性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876300" y="4076700"/>
              <a:ext cx="6324600" cy="685800"/>
            </a:xfrm>
            <a:prstGeom prst="roundRect">
              <a:avLst>
                <a:gd name="adj" fmla="val 555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1096899" y="4230529"/>
              <a:ext cx="843935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边缘层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098423" y="4510564"/>
              <a:ext cx="345922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就近计算与实时决策，把毫秒级控制留在现场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876300" y="4953000"/>
              <a:ext cx="6324600" cy="685800"/>
            </a:xfrm>
            <a:prstGeom prst="roundRect">
              <a:avLst>
                <a:gd name="adj" fmla="val 555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096899" y="5106829"/>
              <a:ext cx="843935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④ 平台层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1098423" y="5386864"/>
              <a:ext cx="282166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时序库 · 数字孪生 · 训练与全局优化</a:t>
              </a:r>
              <a:endParaRPr lang="en-US" sz="1100"/>
            </a:p>
          </p:txBody>
        </p:sp>
        <p:sp>
          <p:nvSpPr>
            <p:cNvPr name="Freeform 29" id="29"/>
            <p:cNvSpPr/>
            <p:nvPr/>
          </p:nvSpPr>
          <p:spPr>
            <a:xfrm rot="0" flipH="false" flipV="false">
              <a:off x="4038600" y="3009900"/>
              <a:ext cx="0" cy="1943100"/>
            </a:xfrm>
            <a:custGeom>
              <a:avLst/>
              <a:gdLst/>
              <a:ahLst/>
              <a:cxnLst/>
              <a:rect r="r" b="b" t="t" l="l"/>
              <a:pathLst>
                <a:path h="1943100" w="0">
                  <a:moveTo>
                    <a:pt x="0" y="0"/>
                  </a:moveTo>
                  <a:lnTo>
                    <a:pt x="0" y="190500"/>
                  </a:lnTo>
                  <a:moveTo>
                    <a:pt x="0" y="876300"/>
                  </a:moveTo>
                  <a:lnTo>
                    <a:pt x="0" y="1066800"/>
                  </a:lnTo>
                  <a:moveTo>
                    <a:pt x="0" y="1752600"/>
                  </a:moveTo>
                  <a:lnTo>
                    <a:pt x="0" y="1943100"/>
                  </a:lnTo>
                </a:path>
              </a:pathLst>
            </a:custGeom>
            <a:noFill/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grpSp>
        <p:nvGrpSpPr>
          <p:cNvPr name="Group 30" id="30"/>
          <p:cNvGrpSpPr/>
          <p:nvPr/>
        </p:nvGrpSpPr>
        <p:grpSpPr>
          <a:xfrm>
            <a:off x="7696200" y="1676400"/>
            <a:ext cx="3886200" cy="1905000"/>
            <a:chOff x="7696200" y="1676400"/>
            <a:chExt cx="3886200" cy="1905000"/>
          </a:xfrm>
        </p:grpSpPr>
        <p:sp>
          <p:nvSpPr>
            <p:cNvPr name="AutoShape 31" id="31"/>
            <p:cNvSpPr/>
            <p:nvPr/>
          </p:nvSpPr>
          <p:spPr>
            <a:xfrm rot="0" flipH="false" flipV="false">
              <a:off x="7696200" y="1676400"/>
              <a:ext cx="3886200" cy="1905000"/>
            </a:xfrm>
            <a:prstGeom prst="roundRect">
              <a:avLst>
                <a:gd name="adj" fmla="val 30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935849" y="1887379"/>
              <a:ext cx="17175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为什么必须做边缘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936992" y="2311718"/>
              <a:ext cx="2362581" cy="8355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带宽：一天几十 GB 的原始数据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时延：云端往返撑不住闭环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可靠：断网时产线不能停</a:t>
              </a:r>
              <a:endParaRPr lang="en-US" sz="1100"/>
            </a:p>
          </p:txBody>
        </p:sp>
      </p:grpSp>
      <p:grpSp>
        <p:nvGrpSpPr>
          <p:cNvPr name="Group 34" id="34"/>
          <p:cNvGrpSpPr/>
          <p:nvPr/>
        </p:nvGrpSpPr>
        <p:grpSpPr>
          <a:xfrm>
            <a:off x="7696200" y="3771900"/>
            <a:ext cx="3886200" cy="2000250"/>
            <a:chOff x="7696200" y="3771900"/>
            <a:chExt cx="3886200" cy="2000250"/>
          </a:xfrm>
        </p:grpSpPr>
        <p:sp>
          <p:nvSpPr>
            <p:cNvPr name="AutoShape 35" id="35"/>
            <p:cNvSpPr/>
            <p:nvPr/>
          </p:nvSpPr>
          <p:spPr>
            <a:xfrm rot="0" flipH="false" flipV="false">
              <a:off x="7696200" y="3771900"/>
              <a:ext cx="3886200" cy="2000250"/>
            </a:xfrm>
            <a:prstGeom prst="roundRect">
              <a:avLst>
                <a:gd name="adj" fmla="val 285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935849" y="398287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现实中的三道坎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936992" y="4407218"/>
              <a:ext cx="2259711" cy="8736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协议不统一，老设备说不上话</a:t>
              </a:r>
              <a:b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数据质量差，“垃圾进垃圾出”</a:t>
              </a:r>
              <a:b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安全暴露面变大，必须隔离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7943850" y="5334000"/>
              <a:ext cx="3486150" cy="28575"/>
            </a:xfrm>
            <a:prstGeom prst="rect">
              <a:avLst/>
            </a:prstGeom>
            <a:solidFill>
              <a:srgbClr val="FF8A3D">
                <a:alpha val="55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sp>
        <p:nvSpPr>
          <p:cNvPr name="Freeform 39" id="39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37719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43815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42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 id="7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100" fill="hold" id="8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100" fill="hold" id="9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5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00" fill="hold" id="14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00" fill="hold" id="15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700" id="13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childTnLst>
                              <p:par>
                                <p:cTn fill="hold" id="17" nodeType="afterEffect" presetClass="entr" presetID="4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 id="19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700" fill="hold" id="2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00" fill="hold" id="21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 spc="3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IIOT / 工业物联网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41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神经 · 数据四层上云实景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1460500" y="1066800"/>
            <a:ext cx="9271000" cy="520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感知→网络→边缘→平台，数据是这样活着走到云端的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5390388" cy="1127951"/>
            <a:chOff x="609600" y="495300"/>
            <a:chExt cx="5390388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7FB2FF">
                    <a:alpha val="100000"/>
                  </a:srgbClr>
                </a:gs>
                <a:gs pos="100000">
                  <a:srgbClr val="7FB2FF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37289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04 /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工业物联网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5120640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7FB2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数据要从车间活着走到云端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3275895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协议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边缘计算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时序库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网络架构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477000" cy="4171950"/>
            <a:chOff x="609600" y="1866900"/>
            <a:chExt cx="64770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4770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7FB2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3026765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协议选型，取决于设备有多“老”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8111" y="2608421"/>
              <a:ext cx="2719214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7FB2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Modbus / Profinet / OPC UA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873" y="2929414"/>
              <a:ext cx="3191002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PLC 与产线设备的主流语系。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OPC UA 带语义模型，是往上走的标准入口。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111" y="3770471"/>
              <a:ext cx="1926443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7FB2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MQTT / Sparkplug B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888873" y="4091464"/>
              <a:ext cx="293903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弱网、跨厂区场景的常见选择。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发布订阅模式，天然适合海量点位上报。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88111" y="4932521"/>
              <a:ext cx="3231874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时序数据库（InfluxDB / TDengine）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88873" y="5253514"/>
              <a:ext cx="310159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按时间写入、按时间窗口聚合，压缩率高。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用关系库存传感器数据，三个月就会撑爆。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7315200" y="1866900"/>
            <a:ext cx="4267200" cy="2038350"/>
            <a:chOff x="7315200" y="1866900"/>
            <a:chExt cx="4267200" cy="2038350"/>
          </a:xfrm>
        </p:grpSpPr>
        <p:sp>
          <p:nvSpPr>
            <p:cNvPr name="AutoShape 19" id="19"/>
            <p:cNvSpPr/>
            <p:nvPr/>
          </p:nvSpPr>
          <p:spPr>
            <a:xfrm rot="0" flipH="false" flipV="false">
              <a:off x="7315200" y="1866900"/>
              <a:ext cx="42672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73152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7592949" y="2096929"/>
              <a:ext cx="21429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为什么必须做边缘计算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605712" y="26527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804023" y="2605564"/>
              <a:ext cx="328691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带宽：每台设备每秒上千点位，全传云太贵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605712" y="305276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804023" y="3005614"/>
              <a:ext cx="294228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时延：剔除动作必须毫秒级，不能等云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605712" y="34528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804023" y="340566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可用性：断网时产线不能停</a:t>
              </a:r>
              <a:endParaRPr lang="en-US" sz="110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7315200" y="4038600"/>
            <a:ext cx="4267200" cy="2000250"/>
            <a:chOff x="7315200" y="4038600"/>
            <a:chExt cx="4267200" cy="2000250"/>
          </a:xfrm>
        </p:grpSpPr>
        <p:sp>
          <p:nvSpPr>
            <p:cNvPr name="AutoShape 29" id="29"/>
            <p:cNvSpPr/>
            <p:nvPr/>
          </p:nvSpPr>
          <p:spPr>
            <a:xfrm rot="0" flipH="false" flipV="false">
              <a:off x="7315200" y="4038600"/>
              <a:ext cx="42672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73152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592949" y="426862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最常见的三个坑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605712" y="48244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804023" y="477726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采了点位，但没有时间同步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605712" y="52244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804023" y="517731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点表命名混乱，谁也看不懂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605712" y="56245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804023" y="557736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只采不洗，脏数据直接入湖</a:t>
              </a:r>
              <a:endParaRPr lang="en-US" sz="1100"/>
            </a:p>
          </p:txBody>
        </p:sp>
      </p:grpSp>
      <p:sp>
        <p:nvSpPr>
          <p:cNvPr name="AutoShape 38" id="38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13 / 32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41148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47244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76250" y="2190750"/>
            <a:ext cx="4572000" cy="4572000"/>
          </a:xfrm>
          <a:prstGeom prst="ellipse">
            <a:avLst/>
          </a:prstGeom>
          <a:gradFill rotWithShape="true">
            <a:gsLst>
              <a:gs pos="0">
                <a:srgbClr val="FF8A3D">
                  <a:alpha val="28000"/>
                </a:srgbClr>
              </a:gs>
              <a:gs pos="100000">
                <a:srgbClr val="FF8A3D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714500"/>
                </a:moveTo>
                <a:lnTo>
                  <a:pt x="12192000" y="1714500"/>
                </a:lnTo>
                <a:moveTo>
                  <a:pt x="0" y="4476750"/>
                </a:moveTo>
                <a:lnTo>
                  <a:pt x="12192000" y="4476750"/>
                </a:lnTo>
                <a:moveTo>
                  <a:pt x="6096000" y="0"/>
                </a:moveTo>
                <a:lnTo>
                  <a:pt x="6096000" y="6858000"/>
                </a:lnTo>
              </a:path>
            </a:pathLst>
          </a:custGeom>
          <a:noFill/>
          <a:ln w="12700">
            <a:solidFill>
              <a:srgbClr val="12314A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14 / 32</a:t>
            </a:r>
            <a:endParaRPr lang="en-US" sz="1100"/>
          </a:p>
        </p:txBody>
      </p:sp>
      <p:grpSp>
        <p:nvGrpSpPr>
          <p:cNvPr name="Group 11" id="11"/>
          <p:cNvGrpSpPr/>
          <p:nvPr/>
        </p:nvGrpSpPr>
        <p:grpSpPr>
          <a:xfrm>
            <a:off x="609600" y="590550"/>
            <a:ext cx="6750538" cy="880301"/>
            <a:chOff x="609600" y="590550"/>
            <a:chExt cx="6750538" cy="880301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FF8A3D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79348" y="669608"/>
              <a:ext cx="6480790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第十讲 · 工业机器人与自动化产线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492" y="1206818"/>
              <a:ext cx="261238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ROBOT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运动控制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柔性制造</a:t>
              </a:r>
              <a:endParaRPr lang="en-US" sz="1100"/>
            </a:p>
          </p:txBody>
        </p:sp>
      </p:grpSp>
      <p:grpSp>
        <p:nvGrpSpPr>
          <p:cNvPr name="Group 15" id="15"/>
          <p:cNvGrpSpPr/>
          <p:nvPr/>
        </p:nvGrpSpPr>
        <p:grpSpPr>
          <a:xfrm>
            <a:off x="609600" y="1676400"/>
            <a:ext cx="5334000" cy="4095750"/>
            <a:chOff x="609600" y="1676400"/>
            <a:chExt cx="5334000" cy="4095750"/>
          </a:xfrm>
        </p:grpSpPr>
        <p:sp>
          <p:nvSpPr>
            <p:cNvPr name="AutoShape 16" id="16"/>
            <p:cNvSpPr/>
            <p:nvPr/>
          </p:nvSpPr>
          <p:spPr>
            <a:xfrm rot="0" flipH="false" flipV="false">
              <a:off x="609600" y="1676400"/>
              <a:ext cx="5334000" cy="4095750"/>
            </a:xfrm>
            <a:prstGeom prst="roundRect">
              <a:avLst>
                <a:gd name="adj" fmla="val 1395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68299" y="1887379"/>
              <a:ext cx="256839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机器人系统的五个组成部分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76300" y="2324100"/>
              <a:ext cx="4800600" cy="590550"/>
            </a:xfrm>
            <a:prstGeom prst="roundRect">
              <a:avLst>
                <a:gd name="adj" fmla="val 645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058799" y="2525554"/>
              <a:ext cx="2174903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本体 · 机械结构与关节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76300" y="3028950"/>
              <a:ext cx="4800600" cy="590550"/>
            </a:xfrm>
            <a:prstGeom prst="roundRect">
              <a:avLst>
                <a:gd name="adj" fmla="val 645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058799" y="3230404"/>
              <a:ext cx="2174903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伺服驱动 · 精度与响应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876300" y="3733800"/>
              <a:ext cx="4800600" cy="590550"/>
            </a:xfrm>
            <a:prstGeom prst="roundRect">
              <a:avLst>
                <a:gd name="adj" fmla="val 645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058799" y="3935254"/>
              <a:ext cx="2174903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控制系统 · 轨迹与节拍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876300" y="4438650"/>
              <a:ext cx="4800600" cy="590550"/>
            </a:xfrm>
            <a:prstGeom prst="roundRect">
              <a:avLst>
                <a:gd name="adj" fmla="val 645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058799" y="4640104"/>
              <a:ext cx="2834272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末端执行器 · 抓手/焊枪/吸盘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876300" y="5143500"/>
              <a:ext cx="48006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058799" y="5287804"/>
              <a:ext cx="3238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安全系统 · 光栅、急停与协作分级</a:t>
              </a:r>
              <a:endParaRPr lang="en-US" sz="110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6172200" y="1676400"/>
            <a:ext cx="5410200" cy="1905000"/>
            <a:chOff x="6172200" y="1676400"/>
            <a:chExt cx="5410200" cy="1905000"/>
          </a:xfrm>
        </p:grpSpPr>
        <p:sp>
          <p:nvSpPr>
            <p:cNvPr name="AutoShape 29" id="29"/>
            <p:cNvSpPr/>
            <p:nvPr/>
          </p:nvSpPr>
          <p:spPr>
            <a:xfrm rot="0" flipH="false" flipV="false">
              <a:off x="6172200" y="1676400"/>
              <a:ext cx="5410200" cy="1905000"/>
            </a:xfrm>
            <a:prstGeom prst="roundRect">
              <a:avLst>
                <a:gd name="adj" fmla="val 30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6411849" y="1887379"/>
              <a:ext cx="252266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刚性自动化 vs 柔性自动化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6412992" y="2311718"/>
              <a:ext cx="4299966" cy="54978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刚性线：大批量、低换型、投资重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柔性线：多品种、快换型、靠视觉和协作机器人撑住弹性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6413373" y="3196114"/>
              <a:ext cx="328691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未来的主流是小批量多品种，柔性是必答题</a:t>
              </a:r>
              <a:endParaRPr lang="en-US" sz="1100"/>
            </a:p>
          </p:txBody>
        </p:sp>
      </p:grpSp>
      <p:grpSp>
        <p:nvGrpSpPr>
          <p:cNvPr name="Group 33" id="33"/>
          <p:cNvGrpSpPr/>
          <p:nvPr/>
        </p:nvGrpSpPr>
        <p:grpSpPr>
          <a:xfrm>
            <a:off x="6172200" y="3771900"/>
            <a:ext cx="5410200" cy="2000250"/>
            <a:chOff x="6172200" y="3771900"/>
            <a:chExt cx="5410200" cy="2000250"/>
          </a:xfrm>
        </p:grpSpPr>
        <p:sp>
          <p:nvSpPr>
            <p:cNvPr name="AutoShape 34" id="34"/>
            <p:cNvSpPr/>
            <p:nvPr/>
          </p:nvSpPr>
          <p:spPr>
            <a:xfrm rot="0" flipH="false" flipV="false">
              <a:off x="6172200" y="3771900"/>
              <a:ext cx="5410200" cy="2000250"/>
            </a:xfrm>
            <a:prstGeom prst="roundRect">
              <a:avLst>
                <a:gd name="adj" fmla="val 285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6411849" y="39828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什么时候该上机器人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6412992" y="4407218"/>
              <a:ext cx="3442716" cy="8355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三个信号：招不到人、质量波动大、节拍瓶颈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算清三笔账：投资回收期、稼动率、维护成本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上错了比不上更贵——闲置的机器人是纯负债</a:t>
              </a:r>
              <a:endParaRPr lang="en-US" sz="1100"/>
            </a:p>
          </p:txBody>
        </p:sp>
      </p:grpSp>
      <p:sp>
        <p:nvSpPr>
          <p:cNvPr name="Freeform 37" id="37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09600" y="6710362"/>
            <a:ext cx="44577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50673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id="5" nodeType="afterEffect" presetClass="entr" presetID="49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950" fill="hold" id="8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950" fill="hold" id="9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950" fill="hold" id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950" id="7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 spc="3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ROBOT / 机器人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41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手脚 · 柔性产线实景图解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1460500" y="1066800"/>
            <a:ext cx="9271000" cy="520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本体、末端、控制、安全——机器人系统的五个部分缺一不可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main="http://schemas.microsoft.com/office/powerpoint/2010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7086600" cy="1127951"/>
            <a:chOff x="609600" y="495300"/>
            <a:chExt cx="7086600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9B7BFF">
                    <a:alpha val="100000"/>
                  </a:srgbClr>
                </a:gs>
                <a:gs pos="100000">
                  <a:srgbClr val="9B7BFF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37289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05 /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具身机器人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6816852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9B7B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让机器人动起来，先搞懂三个坐标系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254894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坐标系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示教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节拍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安全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286500" cy="4171950"/>
            <a:chOff x="609600" y="1866900"/>
            <a:chExt cx="62865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2865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9B7B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3556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三个坐标系，一个不能错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8111" y="2608421"/>
              <a:ext cx="1702533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工具坐标系（TCP）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873" y="2929414"/>
              <a:ext cx="2280666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机器人手爪的“指尖”在哪。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TCP 不准，所有轨迹整体偏移。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111" y="3770471"/>
              <a:ext cx="970280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工件坐标系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888873" y="4091464"/>
              <a:ext cx="277647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相对于产品的位置与姿态。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换产品只换工件坐标，不必重写程序。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88111" y="4932521"/>
              <a:ext cx="1774587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基坐标系 + 手眼标定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88873" y="5253514"/>
              <a:ext cx="342671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机器人本体原点，以及相机看的位置如何映射。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“看得见抓不准”，九成卡在这一步。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7124700" y="1866900"/>
            <a:ext cx="4457700" cy="2092928"/>
            <a:chOff x="7124700" y="1866900"/>
            <a:chExt cx="4457700" cy="2092928"/>
          </a:xfrm>
        </p:grpSpPr>
        <p:sp>
          <p:nvSpPr>
            <p:cNvPr name="AutoShape 19" id="19"/>
            <p:cNvSpPr/>
            <p:nvPr/>
          </p:nvSpPr>
          <p:spPr>
            <a:xfrm rot="0" flipH="false" flipV="false">
              <a:off x="7124700" y="1866900"/>
              <a:ext cx="44577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71247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7402449" y="209692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人机协作的安全底线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403973" y="2529364"/>
              <a:ext cx="345922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协作机器人不等于绝对安全，要看风险评估。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415212" y="30337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613523" y="2986564"/>
              <a:ext cx="245119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安全光栅 / 激光扫描仪划定区域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415212" y="33956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613523" y="334851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速度与力矩限制，碰撞即停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415212" y="37576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7613523" y="37104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急停回路独立于控制系统之外</a:t>
              </a:r>
              <a:endParaRPr lang="en-US" sz="1100"/>
            </a:p>
          </p:txBody>
        </p:sp>
      </p:grpSp>
      <p:grpSp>
        <p:nvGrpSpPr>
          <p:cNvPr name="Group 29" id="29"/>
          <p:cNvGrpSpPr/>
          <p:nvPr/>
        </p:nvGrpSpPr>
        <p:grpSpPr>
          <a:xfrm>
            <a:off x="7124700" y="4038600"/>
            <a:ext cx="4457700" cy="2000250"/>
            <a:chOff x="7124700" y="4038600"/>
            <a:chExt cx="4457700" cy="2000250"/>
          </a:xfrm>
        </p:grpSpPr>
        <p:sp>
          <p:nvSpPr>
            <p:cNvPr name="AutoShape 30" id="30"/>
            <p:cNvSpPr/>
            <p:nvPr/>
          </p:nvSpPr>
          <p:spPr>
            <a:xfrm rot="0" flipH="false" flipV="false">
              <a:off x="7124700" y="4038600"/>
              <a:ext cx="44577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1247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402449" y="4268629"/>
              <a:ext cx="10795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节拍怎么算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403973" y="4720114"/>
              <a:ext cx="3077210" cy="85896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单件时间 = 抓取 + 移动 + 放置 + 等待。</a:t>
              </a:r>
              <a:b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真正的瓶颈常在“等待”——等相机、等PLC、</a:t>
              </a:r>
              <a:b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等上下料。先测再优化，别急着调速度。</a:t>
              </a:r>
              <a:endParaRPr lang="en-US" sz="1100"/>
            </a:p>
          </p:txBody>
        </p:sp>
      </p:grpSp>
      <p:sp>
        <p:nvSpPr>
          <p:cNvPr name="AutoShape 34" id="34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15 / 32</a:t>
            </a:r>
            <a:endParaRPr lang="en-US" sz="1100"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09600" y="6710362"/>
            <a:ext cx="48006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4102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550">
    <p:pull dir="r"/>
  </p:transition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id="5" nodeType="afterEffect" presetClass="entr" presetID="49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50" fill="hold" id="8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9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50" id="7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childTnLst>
                              <p:par>
                                <p:cTn fill="hold" id="12" nodeType="afterEffect" presetClass="entr" presetID="4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 id="14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50" fill="hold" id="15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6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9166" b="29166"/>
          <a:stretch>
            <a:fillRect/>
          </a:stretch>
        </p:blipFill>
        <p:spPr>
          <a:xfrm rot="0" flipH="false" flipV="false">
            <a:off x="0" y="0"/>
            <a:ext cx="12192000" cy="28575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2857500"/>
          </a:xfrm>
          <a:prstGeom prst="rect">
            <a:avLst/>
          </a:prstGeom>
          <a:gradFill rotWithShape="true">
            <a:gsLst>
              <a:gs pos="0">
                <a:srgbClr val="060D16">
                  <a:alpha val="32000"/>
                </a:srgbClr>
              </a:gs>
              <a:gs pos="55000">
                <a:srgbClr val="060D16">
                  <a:alpha val="72000"/>
                </a:srgbClr>
              </a:gs>
              <a:gs pos="100000">
                <a:srgbClr val="060D16">
                  <a:alpha val="10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2857500"/>
          </a:xfrm>
          <a:prstGeom prst="rect">
            <a:avLst/>
          </a:prstGeom>
          <a:solidFill>
            <a:srgbClr val="060D16">
              <a:alpha val="32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905000"/>
                </a:moveTo>
                <a:lnTo>
                  <a:pt x="12192000" y="1905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6096000" y="0"/>
                </a:moveTo>
                <a:lnTo>
                  <a:pt x="6096000" y="6858000"/>
                </a:lnTo>
              </a:path>
            </a:pathLst>
          </a:custGeom>
          <a:noFill/>
          <a:ln w="12700">
            <a:solidFill>
              <a:srgbClr val="12314A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16 / 32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609600" y="590550"/>
            <a:ext cx="6750538" cy="880301"/>
            <a:chOff x="609600" y="590550"/>
            <a:chExt cx="6750538" cy="880301"/>
          </a:xfrm>
        </p:grpSpPr>
        <p:sp>
          <p:nvSpPr>
            <p:cNvPr name="AutoShape 8" id="8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879348" y="669608"/>
              <a:ext cx="6480790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贯穿主线 · 从订单到交付的一条线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88492" y="1206818"/>
              <a:ext cx="2929052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ORDER → DELIVERY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全流程串联</a:t>
              </a:r>
              <a:endParaRPr lang="en-US" sz="110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609600" y="1676400"/>
            <a:ext cx="10972800" cy="1705356"/>
            <a:chOff x="609600" y="1676400"/>
            <a:chExt cx="10972800" cy="1705356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609600" y="1676400"/>
              <a:ext cx="10972800" cy="1676400"/>
            </a:xfrm>
            <a:prstGeom prst="roundRect">
              <a:avLst>
                <a:gd name="adj" fmla="val 340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914400" y="2819400"/>
              <a:ext cx="10363200" cy="381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5000"/>
                  </a:srgbClr>
                </a:gs>
                <a:gs pos="50000">
                  <a:srgbClr val="00E5FF">
                    <a:alpha val="85000"/>
                  </a:srgbClr>
                </a:gs>
                <a:gs pos="100000">
                  <a:srgbClr val="00E5FF">
                    <a:alpha val="1500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276350" y="2686050"/>
              <a:ext cx="304800" cy="3048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240155" y="2292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订单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1281836" y="3147060"/>
              <a:ext cx="29382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ERP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3371850" y="2686050"/>
              <a:ext cx="304800" cy="3048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3335655" y="2292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排产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3377336" y="3147060"/>
              <a:ext cx="29382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APS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5467350" y="2686050"/>
              <a:ext cx="304800" cy="3048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5431155" y="2292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加工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5455768" y="3147060"/>
              <a:ext cx="327965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MES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562850" y="2686050"/>
              <a:ext cx="304800" cy="3048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526655" y="2292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检测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453122" y="3147060"/>
              <a:ext cx="524256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VISION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9658350" y="2686050"/>
              <a:ext cx="304800" cy="3048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9622155" y="2292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交付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9629699" y="3147060"/>
              <a:ext cx="362102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WMS</a:t>
              </a:r>
              <a:endParaRPr lang="en-US" sz="1100"/>
            </a:p>
          </p:txBody>
        </p:sp>
      </p:grpSp>
      <p:grpSp>
        <p:nvGrpSpPr>
          <p:cNvPr name="Group 29" id="29"/>
          <p:cNvGrpSpPr/>
          <p:nvPr/>
        </p:nvGrpSpPr>
        <p:grpSpPr>
          <a:xfrm>
            <a:off x="609600" y="3543300"/>
            <a:ext cx="5334000" cy="2228850"/>
            <a:chOff x="609600" y="3543300"/>
            <a:chExt cx="5334000" cy="2228850"/>
          </a:xfrm>
        </p:grpSpPr>
        <p:sp>
          <p:nvSpPr>
            <p:cNvPr name="AutoShape 30" id="30"/>
            <p:cNvSpPr/>
            <p:nvPr/>
          </p:nvSpPr>
          <p:spPr>
            <a:xfrm rot="0" flipH="false" flipV="false">
              <a:off x="609600" y="3543300"/>
              <a:ext cx="5334000" cy="2228850"/>
            </a:xfrm>
            <a:prstGeom prst="roundRect">
              <a:avLst>
                <a:gd name="adj" fmla="val 2564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868299" y="3754279"/>
              <a:ext cx="21429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信息流与物流必须同步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869442" y="4178618"/>
              <a:ext cx="1753933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信息流超前 → 现场乱套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物流超前 → 库存积压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869823" y="5063014"/>
              <a:ext cx="29595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两者对齐的那一刻，才叫“数字化打通”</a:t>
              </a:r>
              <a:endParaRPr lang="en-US" sz="1100"/>
            </a:p>
          </p:txBody>
        </p:sp>
      </p:grpSp>
      <p:grpSp>
        <p:nvGrpSpPr>
          <p:cNvPr name="Group 34" id="34"/>
          <p:cNvGrpSpPr/>
          <p:nvPr/>
        </p:nvGrpSpPr>
        <p:grpSpPr>
          <a:xfrm>
            <a:off x="6248400" y="3543300"/>
            <a:ext cx="5334000" cy="2228850"/>
            <a:chOff x="6248400" y="3543300"/>
            <a:chExt cx="5334000" cy="2228850"/>
          </a:xfrm>
        </p:grpSpPr>
        <p:sp>
          <p:nvSpPr>
            <p:cNvPr name="AutoShape 35" id="35"/>
            <p:cNvSpPr/>
            <p:nvPr/>
          </p:nvSpPr>
          <p:spPr>
            <a:xfrm rot="0" flipH="false" flipV="false">
              <a:off x="6248400" y="3543300"/>
              <a:ext cx="5334000" cy="2228850"/>
            </a:xfrm>
            <a:prstGeom prst="roundRect">
              <a:avLst>
                <a:gd name="adj" fmla="val 2564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6507099" y="3754279"/>
              <a:ext cx="17175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整条线的瓶颈在哪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6508242" y="4178618"/>
              <a:ext cx="2071116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产能由最慢的那道工序决定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改善非瓶颈工序=浪费资源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6508623" y="5063014"/>
              <a:ext cx="259765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找到瓶颈、保护瓶颈、再提升瓶颈</a:t>
              </a:r>
              <a:endParaRPr lang="en-US" sz="1100"/>
            </a:p>
          </p:txBody>
        </p:sp>
      </p:grpSp>
      <p:sp>
        <p:nvSpPr>
          <p:cNvPr name="Freeform 39" id="39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51435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57531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5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00" fill="hold" id="8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00" fill="hold" id="9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700" id="7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 spc="3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ORDER → DELIVERY / 全流程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41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一条线 · 从订单到交付实景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1460500" y="1066800"/>
            <a:ext cx="9271000" cy="520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ERP→MES→VISION→WMS，信息流与物流对齐，才叫数字化打通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2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2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905000"/>
                </a:moveTo>
                <a:lnTo>
                  <a:pt x="12192000" y="1905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4191000" y="0"/>
                </a:moveTo>
                <a:lnTo>
                  <a:pt x="4191000" y="6858000"/>
                </a:lnTo>
              </a:path>
            </a:pathLst>
          </a:custGeom>
          <a:noFill/>
          <a:ln w="12700">
            <a:solidFill>
              <a:srgbClr val="12314A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17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7101252" cy="880301"/>
            <a:chOff x="609600" y="590550"/>
            <a:chExt cx="7101252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9B7B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6831504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第十一讲 · Python 与工业数据分析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282343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PYTHON · PANDAS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让数据说话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676400"/>
            <a:ext cx="5334000" cy="2857500"/>
            <a:chOff x="609600" y="1676400"/>
            <a:chExt cx="5334000" cy="285750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676400"/>
              <a:ext cx="5334000" cy="2857500"/>
            </a:xfrm>
            <a:prstGeom prst="roundRect">
              <a:avLst>
                <a:gd name="adj" fmla="val 20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18873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数据分析的固定五步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69442" y="2311718"/>
              <a:ext cx="2311146" cy="54978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取数</a:t>
              </a:r>
              <a:b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读取 CSV / 数据库 / MES 接口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69442" y="2959418"/>
              <a:ext cx="2071116" cy="54978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清洗</a:t>
              </a:r>
              <a:b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处理缺失、异常、时间对齐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869442" y="3607118"/>
              <a:ext cx="2211371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分析 → ④ 可视化 → ⑤ 结论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69823" y="4167664"/>
              <a:ext cx="229610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80% 的时间花在①和②，别跳过</a:t>
              </a:r>
              <a:endParaRPr lang="en-US" sz="1100"/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6248400" y="1676400"/>
            <a:ext cx="5334000" cy="2857500"/>
            <a:chOff x="6248400" y="1676400"/>
            <a:chExt cx="5334000" cy="2857500"/>
          </a:xfrm>
        </p:grpSpPr>
        <p:sp>
          <p:nvSpPr>
            <p:cNvPr name="AutoShape 22" id="22"/>
            <p:cNvSpPr/>
            <p:nvPr/>
          </p:nvSpPr>
          <p:spPr>
            <a:xfrm rot="0" flipH="false" flipV="false">
              <a:off x="6248400" y="1676400"/>
              <a:ext cx="5334000" cy="2857500"/>
            </a:xfrm>
            <a:prstGeom prst="roundRect">
              <a:avLst>
                <a:gd name="adj" fmla="val 2000"/>
              </a:avLst>
            </a:prstGeom>
            <a:solidFill>
              <a:srgbClr val="0A2233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6509004" y="1889760"/>
              <a:ext cx="1966874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# </a:t>
              </a: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一次典型的质量数据分析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6508242" y="2216468"/>
              <a:ext cx="1912868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00E5FF"/>
                  </a:solidFill>
                  <a:latin typeface="Consolas"/>
                  <a:ea typeface="Consolas"/>
                  <a:cs typeface="Consolas"/>
                  <a:sym typeface="Consolas"/>
                </a:rPr>
                <a:t>import pandas as pd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6508242" y="2540318"/>
              <a:ext cx="2654046" cy="9117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55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Consolas"/>
                  <a:ea typeface="Consolas"/>
                  <a:cs typeface="Consolas"/>
                  <a:sym typeface="Consolas"/>
                </a:rPr>
                <a:t>df = pd.read_csv("line.csv")</a:t>
              </a:r>
              <a:br>
                <a:rPr lang="en-US" b="false" i="false" strike="noStrike" u="none" sz="1350">
                  <a:solidFill>
                    <a:srgbClr val="EAF6FF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b="false" i="false" strike="noStrike" u="none" sz="1350">
                  <a:solidFill>
                    <a:srgbClr val="EAF6FF"/>
                  </a:solidFill>
                  <a:latin typeface="Consolas"/>
                  <a:ea typeface="Consolas"/>
                  <a:cs typeface="Consolas"/>
                  <a:sym typeface="Consolas"/>
                </a:rPr>
                <a:t>g = df.groupby("shift")</a:t>
              </a:r>
              <a:br>
                <a:rPr lang="en-US" b="false" i="false" strike="noStrike" u="none" sz="1350">
                  <a:solidFill>
                    <a:srgbClr val="EAF6FF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-US" b="false" i="false" strike="noStrike" u="none" sz="1350">
                  <a:solidFill>
                    <a:srgbClr val="EAF6FF"/>
                  </a:solidFill>
                  <a:latin typeface="Consolas"/>
                  <a:ea typeface="Consolas"/>
                  <a:cs typeface="Consolas"/>
                  <a:sym typeface="Consolas"/>
                </a:rPr>
                <a:t>.defect_rate.mean()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6508242" y="3645218"/>
              <a:ext cx="204008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2ED47A"/>
                  </a:solidFill>
                  <a:latin typeface="Consolas"/>
                  <a:ea typeface="Consolas"/>
                  <a:cs typeface="Consolas"/>
                  <a:sym typeface="Consolas"/>
                </a:rPr>
                <a:t># </a:t>
              </a:r>
              <a:r>
                <a:rPr lang="en-US" b="false" i="false" strike="noStrike" u="none" sz="13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早班</a:t>
              </a:r>
              <a:r>
                <a:rPr lang="en-US" b="false" i="false" strike="noStrike" u="none" sz="1350">
                  <a:solidFill>
                    <a:srgbClr val="2ED47A"/>
                  </a:solidFill>
                  <a:latin typeface="Consolas"/>
                  <a:ea typeface="Consolas"/>
                  <a:cs typeface="Consolas"/>
                  <a:sym typeface="Consolas"/>
                </a:rPr>
                <a:t> 1.8% </a:t>
              </a:r>
              <a:r>
                <a:rPr lang="en-US" b="false" i="false" strike="noStrike" u="none" sz="13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晚班</a:t>
              </a:r>
              <a:r>
                <a:rPr lang="en-US" b="false" i="false" strike="noStrike" u="none" sz="1350">
                  <a:solidFill>
                    <a:srgbClr val="2ED47A"/>
                  </a:solidFill>
                  <a:latin typeface="Consolas"/>
                  <a:ea typeface="Consolas"/>
                  <a:cs typeface="Consolas"/>
                  <a:sym typeface="Consolas"/>
                </a:rPr>
                <a:t> 3.4%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6508623" y="4053364"/>
              <a:ext cx="175332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Consolas"/>
                  <a:ea typeface="Consolas"/>
                  <a:cs typeface="Consolas"/>
                  <a:sym typeface="Consolas"/>
                </a:rPr>
                <a:t># </a:t>
              </a: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结论：晚班需要排查</a:t>
              </a:r>
              <a:endParaRPr lang="en-US" sz="110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609600" y="4762500"/>
            <a:ext cx="10972800" cy="1162050"/>
            <a:chOff x="609600" y="4762500"/>
            <a:chExt cx="10972800" cy="1162050"/>
          </a:xfrm>
        </p:grpSpPr>
        <p:sp>
          <p:nvSpPr>
            <p:cNvPr name="AutoShape 29" id="29"/>
            <p:cNvSpPr/>
            <p:nvPr/>
          </p:nvSpPr>
          <p:spPr>
            <a:xfrm rot="0" flipH="false" flipV="false">
              <a:off x="609600" y="4762500"/>
              <a:ext cx="10972800" cy="1162050"/>
            </a:xfrm>
            <a:prstGeom prst="roundRect">
              <a:avLst>
                <a:gd name="adj" fmla="val 4917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868299" y="4954429"/>
              <a:ext cx="21429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比语法更重要的三件事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869442" y="5378768"/>
              <a:ext cx="497513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知道业务问题是什么 · 知道数据怎么来的 · 知道结论会被谁用</a:t>
              </a:r>
              <a:endParaRPr lang="en-US" sz="1100"/>
            </a:p>
          </p:txBody>
        </p:sp>
      </p:grpSp>
      <p:sp>
        <p:nvSpPr>
          <p:cNvPr name="Freeform 32" id="32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09600" y="6710362"/>
            <a:ext cx="54864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0960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31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800" fill="hold" id="8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800" fill="hold" id="9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800" fill="hold" id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800" id="7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7218056" cy="1127951"/>
            <a:chOff x="609600" y="495300"/>
            <a:chExt cx="7218056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E5FF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4160853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06 / Python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数据分析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6948308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00E5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工业数据的第一课是“洗”，不是“算”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2793692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Pandas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清洗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特征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可视化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096000" cy="4171950"/>
            <a:chOff x="609600" y="1866900"/>
            <a:chExt cx="60960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0960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78109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一条数据管道，四个必经步骤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914400" y="262890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067717" y="276748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516380" y="2619375"/>
              <a:ext cx="1024890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读取与对齐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517523" y="2929414"/>
              <a:ext cx="3231642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 PLC、MES、检测机的数据按时间戳对齐。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时钟不同步，是所有错误结论的源头。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914400" y="358140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067717" y="371998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516380" y="3571875"/>
              <a:ext cx="419100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清洗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517523" y="3881914"/>
              <a:ext cx="3605530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缺失、停机、超量程、重复上报——先标记再处理。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停机时段绝不能用均值填充，会掩盖真问题。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914400" y="453390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067717" y="467248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1516380" y="4524375"/>
              <a:ext cx="822960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特征构造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517523" y="4834414"/>
              <a:ext cx="310159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均值、波动、斜率、周期统计、班次差异。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工艺参数本身，往往不如它的波动有用。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914400" y="5486400"/>
              <a:ext cx="419100" cy="4191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067717" y="5624989"/>
              <a:ext cx="11246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1516380" y="5476875"/>
              <a:ext cx="1226820" cy="2933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0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可视化与结论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517523" y="5786914"/>
              <a:ext cx="345922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图要能让车间师傅看懂，否则分析等于没做。</a:t>
              </a:r>
              <a:endParaRPr lang="en-US" sz="110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6934200" y="1866900"/>
            <a:ext cx="4648200" cy="2188178"/>
            <a:chOff x="6934200" y="1866900"/>
            <a:chExt cx="4648200" cy="2188178"/>
          </a:xfrm>
        </p:grpSpPr>
        <p:sp>
          <p:nvSpPr>
            <p:cNvPr name="AutoShape 29" id="29"/>
            <p:cNvSpPr/>
            <p:nvPr/>
          </p:nvSpPr>
          <p:spPr>
            <a:xfrm rot="0" flipH="false" flipV="false">
              <a:off x="6934200" y="1866900"/>
              <a:ext cx="46482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69342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211949" y="2096929"/>
              <a:ext cx="167839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为什么是 Python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224712" y="26527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423023" y="2605564"/>
              <a:ext cx="236227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Pandas 处理表格数据最快上手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224712" y="305276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423023" y="300561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科学计算与机器学习生态完整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224712" y="34528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423023" y="3405664"/>
              <a:ext cx="247216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能和上位机、MES 对接做自动化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7224712" y="385286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7423023" y="380571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代码即文档，分析过程可复现</a:t>
              </a:r>
              <a:endParaRPr lang="en-US" sz="1100"/>
            </a:p>
          </p:txBody>
        </p:sp>
      </p:grpSp>
      <p:grpSp>
        <p:nvGrpSpPr>
          <p:cNvPr name="Group 40" id="40"/>
          <p:cNvGrpSpPr/>
          <p:nvPr/>
        </p:nvGrpSpPr>
        <p:grpSpPr>
          <a:xfrm>
            <a:off x="6934200" y="4038600"/>
            <a:ext cx="4648200" cy="2000250"/>
            <a:chOff x="6934200" y="4038600"/>
            <a:chExt cx="4648200" cy="2000250"/>
          </a:xfrm>
        </p:grpSpPr>
        <p:sp>
          <p:nvSpPr>
            <p:cNvPr name="AutoShape 41" id="41"/>
            <p:cNvSpPr/>
            <p:nvPr/>
          </p:nvSpPr>
          <p:spPr>
            <a:xfrm rot="0" flipH="false" flipV="false">
              <a:off x="6934200" y="4038600"/>
              <a:ext cx="46482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69342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7211949" y="4268629"/>
              <a:ext cx="441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自检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7213473" y="4720114"/>
              <a:ext cx="3069082" cy="97326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850"/>
                </a:lnSpc>
                <a:defRPr/>
              </a:pP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能否用 20 行代码读出一个 CSV 并出图？</a:t>
              </a:r>
              <a:b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数据里的停机时段，你是怎么处理的？</a:t>
              </a:r>
              <a:b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你的结论，车间师傅看得懂吗？</a:t>
              </a:r>
              <a:endParaRPr lang="en-US" sz="1100"/>
            </a:p>
          </p:txBody>
        </p:sp>
      </p:grpSp>
      <p:sp>
        <p:nvSpPr>
          <p:cNvPr name="AutoShape 45" id="45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18 / 32</a:t>
            </a:r>
            <a:endParaRPr lang="en-US" sz="1100"/>
          </a:p>
        </p:txBody>
      </p:sp>
      <p:sp>
        <p:nvSpPr>
          <p:cNvPr name="Freeform 46" id="46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09600" y="6710362"/>
            <a:ext cx="58293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64389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2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275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275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275" fill="hold" id="1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275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275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275" fill="hold" id="14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ecel="50000" dur="550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19500" y="1333500"/>
            <a:ext cx="4953000" cy="4953000"/>
          </a:xfrm>
          <a:prstGeom prst="ellipse">
            <a:avLst/>
          </a:prstGeom>
          <a:gradFill rotWithShape="true">
            <a:gsLst>
              <a:gs pos="0">
                <a:srgbClr val="9B7BFF">
                  <a:alpha val="45000"/>
                </a:srgbClr>
              </a:gs>
              <a:gs pos="100000">
                <a:srgbClr val="9B7BFF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19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6896496" cy="880301"/>
            <a:chOff x="609600" y="590550"/>
            <a:chExt cx="6896496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9B7B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6626748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第十二讲 · AI 智能体与工业大模型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258272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AGENT · LLM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从问答到行动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676400"/>
            <a:ext cx="10972800" cy="2038350"/>
            <a:chOff x="609600" y="1676400"/>
            <a:chExt cx="10972800" cy="203835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676400"/>
              <a:ext cx="10972800" cy="2038350"/>
            </a:xfrm>
            <a:prstGeom prst="roundRect">
              <a:avLst>
                <a:gd name="adj" fmla="val 2804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1868329"/>
              <a:ext cx="37643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智能体闭环：感知 → 规划 → 行动 → 反馈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76300" y="2362200"/>
              <a:ext cx="2095500" cy="990600"/>
            </a:xfrm>
            <a:prstGeom prst="roundRect">
              <a:avLst>
                <a:gd name="adj" fmla="val 384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703349" y="2573179"/>
              <a:ext cx="441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感知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029462" y="2899410"/>
              <a:ext cx="1789176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读设备数据、报表、工单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3314700" y="2362200"/>
              <a:ext cx="2095500" cy="990600"/>
            </a:xfrm>
            <a:prstGeom prst="roundRect">
              <a:avLst>
                <a:gd name="adj" fmla="val 384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4141749" y="2573179"/>
              <a:ext cx="441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规划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3548634" y="2899410"/>
              <a:ext cx="1627632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拆解目标，选定工具链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5753100" y="2362200"/>
              <a:ext cx="2095500" cy="990600"/>
            </a:xfrm>
            <a:prstGeom prst="roundRect">
              <a:avLst>
                <a:gd name="adj" fmla="val 384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6580149" y="2573179"/>
              <a:ext cx="441401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行动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5825490" y="2899410"/>
              <a:ext cx="1950720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调接口、下发指令、生成单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8191500" y="2362200"/>
              <a:ext cx="3086100" cy="990600"/>
            </a:xfrm>
            <a:prstGeom prst="roundRect">
              <a:avLst>
                <a:gd name="adj" fmla="val 384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9194800" y="2573179"/>
              <a:ext cx="10795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反馈与校验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8759190" y="2899410"/>
              <a:ext cx="1950720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结果回灌，形成经验与约束</a:t>
              </a:r>
              <a:endParaRPr lang="en-US" sz="1100"/>
            </a:p>
          </p:txBody>
        </p:sp>
        <p:sp>
          <p:nvSpPr>
            <p:cNvPr name="Freeform 29" id="29"/>
            <p:cNvSpPr/>
            <p:nvPr/>
          </p:nvSpPr>
          <p:spPr>
            <a:xfrm rot="0" flipH="false" flipV="false">
              <a:off x="2971800" y="2857500"/>
              <a:ext cx="5219700" cy="0"/>
            </a:xfrm>
            <a:custGeom>
              <a:avLst/>
              <a:gdLst/>
              <a:ahLst/>
              <a:cxnLst/>
              <a:rect r="r" b="b" t="t" l="l"/>
              <a:pathLst>
                <a:path h="0" w="5219700">
                  <a:moveTo>
                    <a:pt x="0" y="0"/>
                  </a:moveTo>
                  <a:lnTo>
                    <a:pt x="342900" y="0"/>
                  </a:lnTo>
                  <a:moveTo>
                    <a:pt x="2438400" y="0"/>
                  </a:moveTo>
                  <a:lnTo>
                    <a:pt x="2781300" y="0"/>
                  </a:lnTo>
                  <a:moveTo>
                    <a:pt x="4876800" y="0"/>
                  </a:moveTo>
                  <a:lnTo>
                    <a:pt x="5219700" y="0"/>
                  </a:lnTo>
                </a:path>
              </a:pathLst>
            </a:custGeom>
            <a:noFill/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grpSp>
        <p:nvGrpSpPr>
          <p:cNvPr name="Group 30" id="30"/>
          <p:cNvGrpSpPr/>
          <p:nvPr/>
        </p:nvGrpSpPr>
        <p:grpSpPr>
          <a:xfrm>
            <a:off x="609600" y="3905250"/>
            <a:ext cx="5334000" cy="2019300"/>
            <a:chOff x="609600" y="3905250"/>
            <a:chExt cx="5334000" cy="2019300"/>
          </a:xfrm>
        </p:grpSpPr>
        <p:sp>
          <p:nvSpPr>
            <p:cNvPr name="AutoShape 31" id="31"/>
            <p:cNvSpPr/>
            <p:nvPr/>
          </p:nvSpPr>
          <p:spPr>
            <a:xfrm rot="0" flipH="false" flipV="false">
              <a:off x="609600" y="3905250"/>
              <a:ext cx="5334000" cy="2019300"/>
            </a:xfrm>
            <a:prstGeom prst="roundRect">
              <a:avLst>
                <a:gd name="adj" fmla="val 283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868299" y="4116229"/>
              <a:ext cx="21429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已经能落地的四类场景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869442" y="4540568"/>
              <a:ext cx="2045398" cy="112128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设备故障问答与维修指导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工艺参数推荐与调优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质量报告自动生成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④ 排产方案的候选生成</a:t>
              </a:r>
              <a:endParaRPr lang="en-US" sz="1100"/>
            </a:p>
          </p:txBody>
        </p:sp>
      </p:grpSp>
      <p:grpSp>
        <p:nvGrpSpPr>
          <p:cNvPr name="Group 34" id="34"/>
          <p:cNvGrpSpPr/>
          <p:nvPr/>
        </p:nvGrpSpPr>
        <p:grpSpPr>
          <a:xfrm>
            <a:off x="6248400" y="3905250"/>
            <a:ext cx="5334000" cy="2019300"/>
            <a:chOff x="6248400" y="3905250"/>
            <a:chExt cx="5334000" cy="2019300"/>
          </a:xfrm>
        </p:grpSpPr>
        <p:sp>
          <p:nvSpPr>
            <p:cNvPr name="AutoShape 35" id="35"/>
            <p:cNvSpPr/>
            <p:nvPr/>
          </p:nvSpPr>
          <p:spPr>
            <a:xfrm rot="0" flipH="false" flipV="false">
              <a:off x="6248400" y="3905250"/>
              <a:ext cx="5334000" cy="2019300"/>
            </a:xfrm>
            <a:prstGeom prst="roundRect">
              <a:avLst>
                <a:gd name="adj" fmla="val 283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6507099" y="411622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工业场景的三条红线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6508242" y="4540568"/>
              <a:ext cx="2439734" cy="8736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幻觉不可接受 → 必须可溯源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响应要确定 → 关键环节人工兜底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数据不出厂 → 私有化部署优先</a:t>
              </a:r>
              <a:endParaRPr lang="en-US" sz="1100"/>
            </a:p>
          </p:txBody>
        </p:sp>
      </p:grpSp>
      <p:sp>
        <p:nvSpPr>
          <p:cNvPr name="Freeform 38" id="38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61722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7818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5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50" fill="hold" id="8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9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750" id="7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7642109" cy="1127951"/>
            <a:chOff x="609600" y="495300"/>
            <a:chExt cx="7642109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9B7BFF">
                    <a:alpha val="100000"/>
                  </a:srgbClr>
                </a:gs>
                <a:gs pos="100000">
                  <a:srgbClr val="9B7BFF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38773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07 / AI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智能体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7372361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9B7B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从“会聊天”到“能办事”，中间差三件事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258289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RAG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工具调用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评测与兜底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286500" cy="4171950"/>
            <a:chOff x="609600" y="1866900"/>
            <a:chExt cx="62865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2865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9B7B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3556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让它真正能干活的三件事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8111" y="2627471"/>
              <a:ext cx="2519906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RAG — 让它知道你们厂的规矩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873" y="2948464"/>
              <a:ext cx="358927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把作业指导书、故障手册、历史工单向量化检索。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回答必须带出处，能追溯才敢让现场用。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111" y="3808571"/>
              <a:ext cx="2348069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工具调用 — 让它能真的动手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888873" y="4129564"/>
              <a:ext cx="326415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查工单、读设备状态、生成报表、下发指令。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关键设计：高权限动作必须有人确认。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88111" y="4989671"/>
              <a:ext cx="2348069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评测与兜底 — 让它不会闯祸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88873" y="5310664"/>
              <a:ext cx="3117850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建一套问题集，量化“答对率 / 幻觉率”。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边界之外要会说“不知道”，而不是编一个。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7124700" y="1866900"/>
            <a:ext cx="4457700" cy="2188178"/>
            <a:chOff x="7124700" y="1866900"/>
            <a:chExt cx="4457700" cy="2188178"/>
          </a:xfrm>
        </p:grpSpPr>
        <p:sp>
          <p:nvSpPr>
            <p:cNvPr name="AutoShape 19" id="19"/>
            <p:cNvSpPr/>
            <p:nvPr/>
          </p:nvSpPr>
          <p:spPr>
            <a:xfrm rot="0" flipH="false" flipV="false">
              <a:off x="7124700" y="1866900"/>
              <a:ext cx="44577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71247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7402449" y="209692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工业场景的额外约束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415212" y="26527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613523" y="26055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数据不出厂：优先私有化部署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415212" y="30527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613523" y="3005614"/>
              <a:ext cx="259765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必须可追溯：每次回答留审计日志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415212" y="34528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613523" y="3405664"/>
              <a:ext cx="259765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安全等级：不能直接控制关键设备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7415212" y="38528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7613523" y="3805714"/>
              <a:ext cx="237365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响应时间：现场不接受等 30 秒</a:t>
              </a:r>
              <a:endParaRPr lang="en-US" sz="1100"/>
            </a:p>
          </p:txBody>
        </p:sp>
      </p:grpSp>
      <p:grpSp>
        <p:nvGrpSpPr>
          <p:cNvPr name="Group 30" id="30"/>
          <p:cNvGrpSpPr/>
          <p:nvPr/>
        </p:nvGrpSpPr>
        <p:grpSpPr>
          <a:xfrm>
            <a:off x="7124700" y="4038600"/>
            <a:ext cx="4457700" cy="2000250"/>
            <a:chOff x="7124700" y="4038600"/>
            <a:chExt cx="4457700" cy="2000250"/>
          </a:xfrm>
        </p:grpSpPr>
        <p:sp>
          <p:nvSpPr>
            <p:cNvPr name="AutoShape 31" id="31"/>
            <p:cNvSpPr/>
            <p:nvPr/>
          </p:nvSpPr>
          <p:spPr>
            <a:xfrm rot="0" flipH="false" flipV="false">
              <a:off x="7124700" y="4038600"/>
              <a:ext cx="44577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1247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402449" y="426862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一个务实的起点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403973" y="4720114"/>
              <a:ext cx="2939034" cy="11637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别一上来做“全能助手”。</a:t>
              </a:r>
              <a:b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挑一个高频、低风险、答案明确的场景：</a:t>
              </a:r>
              <a:b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比如“设备报警代码怎么处理”。</a:t>
              </a:r>
              <a:b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跑通闭环，再逐步放权。</a:t>
              </a:r>
              <a:endParaRPr lang="en-US" sz="1100"/>
            </a:p>
          </p:txBody>
        </p:sp>
      </p:grpSp>
      <p:sp>
        <p:nvSpPr>
          <p:cNvPr name="AutoShape 35" id="35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20 / 32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09600" y="6710362"/>
            <a:ext cx="65151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1247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26000"/>
                </a:srgbClr>
              </a:gs>
              <a:gs pos="100000">
                <a:srgbClr val="060D16">
                  <a:alpha val="9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97000"/>
                </a:srgbClr>
              </a:gs>
              <a:gs pos="41999">
                <a:srgbClr val="060D16">
                  <a:alpha val="86000"/>
                </a:srgbClr>
              </a:gs>
              <a:gs pos="100000">
                <a:srgbClr val="060D16">
                  <a:alpha val="62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060D16">
              <a:alpha val="26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714500"/>
                </a:moveTo>
                <a:lnTo>
                  <a:pt x="12192000" y="1714500"/>
                </a:lnTo>
                <a:moveTo>
                  <a:pt x="0" y="4762500"/>
                </a:moveTo>
                <a:lnTo>
                  <a:pt x="12192000" y="47625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</a:path>
            </a:pathLst>
          </a:custGeom>
          <a:noFill/>
          <a:ln w="12700">
            <a:solidFill>
              <a:srgbClr val="12314A">
                <a:alpha val="35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21 / 32</a:t>
            </a:r>
            <a:endParaRPr lang="en-US" sz="1100"/>
          </a:p>
        </p:txBody>
      </p:sp>
      <p:grpSp>
        <p:nvGrpSpPr>
          <p:cNvPr name="Group 8" id="8"/>
          <p:cNvGrpSpPr/>
          <p:nvPr/>
        </p:nvGrpSpPr>
        <p:grpSpPr>
          <a:xfrm>
            <a:off x="609600" y="590550"/>
            <a:ext cx="5478379" cy="880301"/>
            <a:chOff x="609600" y="590550"/>
            <a:chExt cx="5478379" cy="880301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FF8A3D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79348" y="669608"/>
              <a:ext cx="5208631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FFF3E6">
                          <a:alpha val="100000"/>
                        </a:srgbClr>
                      </a:gs>
                      <a:gs pos="100000">
                        <a:srgbClr val="FF8A3D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综合实战 · 一个车间的一天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8492" y="1206818"/>
              <a:ext cx="244762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CAPSTONE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九门课同时上场</a:t>
              </a:r>
              <a:endParaRPr lang="en-US" sz="1100"/>
            </a:p>
          </p:txBody>
        </p:sp>
      </p:grpSp>
      <p:grpSp>
        <p:nvGrpSpPr>
          <p:cNvPr name="Group 12" id="12"/>
          <p:cNvGrpSpPr/>
          <p:nvPr/>
        </p:nvGrpSpPr>
        <p:grpSpPr>
          <a:xfrm>
            <a:off x="609600" y="1676400"/>
            <a:ext cx="10972800" cy="1238250"/>
            <a:chOff x="609600" y="1676400"/>
            <a:chExt cx="10972800" cy="1238250"/>
          </a:xfrm>
        </p:grpSpPr>
        <p:sp>
          <p:nvSpPr>
            <p:cNvPr name="AutoShape 13" id="13"/>
            <p:cNvSpPr/>
            <p:nvPr/>
          </p:nvSpPr>
          <p:spPr>
            <a:xfrm rot="0" flipH="false" flipV="false">
              <a:off x="609600" y="1676400"/>
              <a:ext cx="10972800" cy="1238250"/>
            </a:xfrm>
            <a:prstGeom prst="roundRect">
              <a:avLst>
                <a:gd name="adj" fmla="val 4615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68299" y="1868329"/>
              <a:ext cx="5117602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任务：晚班某型号壳体不良率突然从 1.8% 升到 3.4%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869442" y="2292668"/>
              <a:ext cx="512961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要求在 4 小时内定位原因、给出对策，并让同类问题不再复发。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9823" y="2605564"/>
              <a:ext cx="294228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这道题的答案，不在任何单一课程里。</a:t>
              </a:r>
              <a:endParaRPr lang="en-US" sz="1100"/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609600" y="3067050"/>
            <a:ext cx="10972800" cy="2857500"/>
            <a:chOff x="609600" y="3067050"/>
            <a:chExt cx="10972800" cy="2857500"/>
          </a:xfrm>
        </p:grpSpPr>
        <p:sp>
          <p:nvSpPr>
            <p:cNvPr name="AutoShape 18" id="18"/>
            <p:cNvSpPr/>
            <p:nvPr/>
          </p:nvSpPr>
          <p:spPr>
            <a:xfrm rot="0" flipH="false" flipV="false">
              <a:off x="609600" y="3067050"/>
              <a:ext cx="2590800" cy="2857500"/>
            </a:xfrm>
            <a:prstGeom prst="roundRect">
              <a:avLst>
                <a:gd name="adj" fmla="val 2205"/>
              </a:avLst>
            </a:prstGeom>
            <a:gradFill rotWithShape="true">
              <a:gsLst>
                <a:gs pos="0">
                  <a:srgbClr val="12293C">
                    <a:alpha val="100000"/>
                  </a:srgbClr>
                </a:gs>
                <a:gs pos="100000">
                  <a:srgbClr val="0B1A28">
                    <a:alpha val="100000"/>
                  </a:srgbClr>
                </a:gs>
              </a:gsLst>
              <a:lin ang="5400000"/>
            </a:gra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830199" y="3278029"/>
              <a:ext cx="1694734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先把数据拉出来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38200" y="3619500"/>
              <a:ext cx="571500" cy="28575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831342" y="3835718"/>
              <a:ext cx="176456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Python 清洗生产数据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831723" y="4262914"/>
              <a:ext cx="1475994" cy="5160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1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按班次、设备、批次</a:t>
              </a:r>
              <a:b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三个维度做交叉对比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832104" y="5356860"/>
              <a:ext cx="575462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PYTHON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390900" y="3067050"/>
              <a:ext cx="2590800" cy="2857500"/>
            </a:xfrm>
            <a:prstGeom prst="roundRect">
              <a:avLst>
                <a:gd name="adj" fmla="val 2205"/>
              </a:avLst>
            </a:prstGeom>
            <a:gradFill rotWithShape="true">
              <a:gsLst>
                <a:gs pos="0">
                  <a:srgbClr val="12293C">
                    <a:alpha val="100000"/>
                  </a:srgbClr>
                </a:gs>
                <a:gs pos="100000">
                  <a:srgbClr val="0B1A28">
                    <a:alpha val="100000"/>
                  </a:srgbClr>
                </a:gs>
              </a:gsLst>
              <a:lin ang="5400000"/>
            </a:gra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3611499" y="3278029"/>
              <a:ext cx="1269334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定位到工序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3619500" y="3619500"/>
              <a:ext cx="571500" cy="28575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3612642" y="3835718"/>
              <a:ext cx="1213866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MES 追溯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找出全流程记录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3613023" y="452961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锁定到焊接工位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3613023" y="4910614"/>
              <a:ext cx="176193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不良集中在第 3 台设备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3613404" y="5356860"/>
              <a:ext cx="857098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MES / PLM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6172200" y="3067050"/>
              <a:ext cx="2590800" cy="2857500"/>
            </a:xfrm>
            <a:prstGeom prst="roundRect">
              <a:avLst>
                <a:gd name="adj" fmla="val 2205"/>
              </a:avLst>
            </a:prstGeom>
            <a:gradFill rotWithShape="true">
              <a:gsLst>
                <a:gs pos="0">
                  <a:srgbClr val="12293C">
                    <a:alpha val="100000"/>
                  </a:srgbClr>
                </a:gs>
                <a:gs pos="100000">
                  <a:srgbClr val="0B1A28">
                    <a:alpha val="100000"/>
                  </a:srgbClr>
                </a:gs>
              </a:gsLst>
              <a:lin ang="5400000"/>
            </a:gra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6392799" y="3278029"/>
              <a:ext cx="1056635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验证假设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6400800" y="3619500"/>
              <a:ext cx="571500" cy="28575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6393942" y="3835718"/>
              <a:ext cx="1385316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IIoT 取振动曲线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视觉复核焊缝外观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6394323" y="452961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确认是电极磨损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6394323" y="491061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而非来料或人为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6394704" y="5356860"/>
              <a:ext cx="1232611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IIOT / VISION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8953500" y="3067050"/>
              <a:ext cx="2628900" cy="2857500"/>
            </a:xfrm>
            <a:prstGeom prst="roundRect">
              <a:avLst>
                <a:gd name="adj" fmla="val 2173"/>
              </a:avLst>
            </a:prstGeom>
            <a:gradFill rotWithShape="true">
              <a:gsLst>
                <a:gs pos="0">
                  <a:srgbClr val="12293C">
                    <a:alpha val="100000"/>
                  </a:srgbClr>
                </a:gs>
                <a:gs pos="100000">
                  <a:srgbClr val="0B1A28">
                    <a:alpha val="100000"/>
                  </a:srgbClr>
                </a:gs>
              </a:gsLst>
              <a:lin ang="5400000"/>
            </a:gra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9174099" y="3278029"/>
              <a:ext cx="1269334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④ 固化与预防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9182100" y="3619500"/>
              <a:ext cx="571500" cy="28575"/>
            </a:xfrm>
            <a:prstGeom prst="rect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9175242" y="3835718"/>
              <a:ext cx="1042416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更新保养标准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加装检测点</a:t>
              </a:r>
              <a:endParaRPr lang="en-US" sz="1100"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9175623" y="4529614"/>
              <a:ext cx="149290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写入 MES 防错规则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9175623" y="4910614"/>
              <a:ext cx="1391463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由智能体自动巡检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9176004" y="5356860"/>
              <a:ext cx="1138733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AGENT / LEAN</a:t>
              </a:r>
              <a:endParaRPr lang="en-US" sz="1100"/>
            </a:p>
          </p:txBody>
        </p:sp>
        <p:sp>
          <p:nvSpPr>
            <p:cNvPr name="Freeform 45" id="45"/>
            <p:cNvSpPr/>
            <p:nvPr/>
          </p:nvSpPr>
          <p:spPr>
            <a:xfrm rot="0" flipH="false" flipV="false">
              <a:off x="3200400" y="4495800"/>
              <a:ext cx="5753100" cy="0"/>
            </a:xfrm>
            <a:custGeom>
              <a:avLst/>
              <a:gdLst/>
              <a:ahLst/>
              <a:cxnLst/>
              <a:rect r="r" b="b" t="t" l="l"/>
              <a:pathLst>
                <a:path h="0" w="5753100">
                  <a:moveTo>
                    <a:pt x="0" y="0"/>
                  </a:moveTo>
                  <a:lnTo>
                    <a:pt x="190500" y="0"/>
                  </a:lnTo>
                  <a:moveTo>
                    <a:pt x="2781300" y="0"/>
                  </a:moveTo>
                  <a:lnTo>
                    <a:pt x="2971800" y="0"/>
                  </a:lnTo>
                  <a:moveTo>
                    <a:pt x="5562600" y="0"/>
                  </a:moveTo>
                  <a:lnTo>
                    <a:pt x="5753100" y="0"/>
                  </a:lnTo>
                </a:path>
              </a:pathLst>
            </a:custGeom>
            <a:noFill/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sp>
        <p:nvSpPr>
          <p:cNvPr name="Freeform 46" id="46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09600" y="6710362"/>
            <a:ext cx="68580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74676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6662547" cy="1127951"/>
            <a:chOff x="609600" y="495300"/>
            <a:chExt cx="6662547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FF8A3D">
                    <a:alpha val="100000"/>
                  </a:srgbClr>
                </a:gs>
                <a:gs pos="100000">
                  <a:srgbClr val="FF8A3D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284314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CASE STUDY /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工厂实战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6392799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FF8A3D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一条壳体加工线，九门课同时上场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3094158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起点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打法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结果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可复制的经验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3619500" cy="4171950"/>
            <a:chOff x="609600" y="1866900"/>
            <a:chExt cx="36195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3619500" cy="4171950"/>
            </a:xfrm>
            <a:prstGeom prst="roundRect">
              <a:avLst>
                <a:gd name="adj" fmla="val 2104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起点：四个具体痛点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1062" y="27289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079373" y="2681764"/>
              <a:ext cx="237365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不良率 3.4%，靠人工全检兜底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1062" y="31670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079373" y="3119914"/>
              <a:ext cx="2468423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换型 2.5 小时，占了整整一个班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81062" y="36052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079373" y="3558064"/>
              <a:ext cx="251897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设备 OEE 58%，瓶颈工序不透明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81062" y="40433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079373" y="3996214"/>
              <a:ext cx="276997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工艺与质量记录两张皮，追溯要两天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88111" y="4722971"/>
              <a:ext cx="779120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诊断结论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888873" y="5043964"/>
              <a:ext cx="245135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问题不在设备不够先进，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而在于流程没理顺、数据没打通。</a:t>
              </a:r>
              <a:endParaRPr lang="en-US" sz="1100"/>
            </a:p>
          </p:txBody>
        </p:sp>
      </p:grpSp>
      <p:grpSp>
        <p:nvGrpSpPr>
          <p:cNvPr name="Group 22" id="22"/>
          <p:cNvGrpSpPr/>
          <p:nvPr/>
        </p:nvGrpSpPr>
        <p:grpSpPr>
          <a:xfrm>
            <a:off x="4457700" y="1866900"/>
            <a:ext cx="3619500" cy="4171950"/>
            <a:chOff x="4457700" y="1866900"/>
            <a:chExt cx="3619500" cy="4171950"/>
          </a:xfrm>
        </p:grpSpPr>
        <p:sp>
          <p:nvSpPr>
            <p:cNvPr name="AutoShape 23" id="23"/>
            <p:cNvSpPr/>
            <p:nvPr/>
          </p:nvSpPr>
          <p:spPr>
            <a:xfrm rot="0" flipH="false" flipV="false">
              <a:off x="4457700" y="1866900"/>
              <a:ext cx="3619500" cy="4171950"/>
            </a:xfrm>
            <a:prstGeom prst="roundRect">
              <a:avLst>
                <a:gd name="adj" fmla="val 2104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44577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4735449" y="2096929"/>
              <a:ext cx="278109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打法：四步，各门课各司其职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4736973" y="2605564"/>
              <a:ext cx="145759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STEP 1　精益诊断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4737354" y="2861310"/>
              <a:ext cx="2596896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价值流图找瓶颈，先消除等待与搬运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4736973" y="3329464"/>
              <a:ext cx="145759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STEP 2　数据打通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4737354" y="3585210"/>
              <a:ext cx="2689250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IIoT 采集 + MES 统一工艺路线与工单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4736973" y="4053364"/>
              <a:ext cx="162990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STEP 3　检测与执行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4737354" y="4309110"/>
              <a:ext cx="2459584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机器视觉全检 + 机器人柔性上下料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4736973" y="4777264"/>
              <a:ext cx="162990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STEP 4　分析与决策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4737354" y="5033010"/>
              <a:ext cx="3091129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Python 归因分析 + SPC 预警 + 智能体辅助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4737354" y="5509260"/>
              <a:ext cx="3081528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7FB2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关键顺序：先精益，后自动化，再智能化。</a:t>
              </a:r>
              <a:endParaRPr lang="en-US" sz="1100"/>
            </a:p>
          </p:txBody>
        </p:sp>
      </p:grpSp>
      <p:grpSp>
        <p:nvGrpSpPr>
          <p:cNvPr name="Group 35" id="35"/>
          <p:cNvGrpSpPr/>
          <p:nvPr/>
        </p:nvGrpSpPr>
        <p:grpSpPr>
          <a:xfrm>
            <a:off x="8305800" y="1866900"/>
            <a:ext cx="3276600" cy="4171950"/>
            <a:chOff x="8305800" y="1866900"/>
            <a:chExt cx="3276600" cy="4171950"/>
          </a:xfrm>
        </p:grpSpPr>
        <p:sp>
          <p:nvSpPr>
            <p:cNvPr name="AutoShape 36" id="36"/>
            <p:cNvSpPr/>
            <p:nvPr/>
          </p:nvSpPr>
          <p:spPr>
            <a:xfrm rot="0" flipH="false" flipV="false">
              <a:off x="8305800" y="1866900"/>
              <a:ext cx="3276600" cy="4171950"/>
            </a:xfrm>
            <a:prstGeom prst="roundRect">
              <a:avLst>
                <a:gd name="adj" fmla="val 23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83058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8583549" y="209692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结果：四个数字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8585835" y="2659856"/>
              <a:ext cx="463753" cy="22002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119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不良率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8580120" y="2843212"/>
              <a:ext cx="786155" cy="4400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22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1.1%</a:t>
              </a:r>
              <a:endParaRPr lang="en-US" sz="1100"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9957816" y="2972752"/>
              <a:ext cx="653815" cy="20535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0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was 3.4%</a:t>
              </a:r>
              <a:endParaRPr lang="en-US" sz="1100"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8585835" y="3440906"/>
              <a:ext cx="614528" cy="22002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119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换型时间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8580120" y="3624262"/>
              <a:ext cx="976979" cy="4400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22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45 min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9957816" y="3753802"/>
              <a:ext cx="816369" cy="20535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0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was 150 min</a:t>
              </a:r>
              <a:endParaRPr lang="en-US" sz="1100"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8585835" y="4221956"/>
              <a:ext cx="655493" cy="22002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119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设备 OEE</a:t>
              </a:r>
              <a:endParaRPr lang="en-US" sz="1100"/>
            </a:p>
          </p:txBody>
        </p:sp>
        <p:sp>
          <p:nvSpPr>
            <p:cNvPr name="AutoShape 46" id="46"/>
            <p:cNvSpPr/>
            <p:nvPr/>
          </p:nvSpPr>
          <p:spPr>
            <a:xfrm rot="0" flipH="false" flipV="false">
              <a:off x="8580120" y="4405312"/>
              <a:ext cx="611234" cy="4400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22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76%</a:t>
              </a:r>
              <a:endParaRPr lang="en-US" sz="1100"/>
            </a:p>
          </p:txBody>
        </p:sp>
        <p:sp>
          <p:nvSpPr>
            <p:cNvPr name="AutoShape 47" id="47"/>
            <p:cNvSpPr/>
            <p:nvPr/>
          </p:nvSpPr>
          <p:spPr>
            <a:xfrm rot="0" flipH="false" flipV="false">
              <a:off x="9957816" y="4534852"/>
              <a:ext cx="576072" cy="20535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0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was 58%</a:t>
              </a:r>
              <a:endParaRPr lang="en-US" sz="1100"/>
            </a:p>
          </p:txBody>
        </p:sp>
        <p:sp>
          <p:nvSpPr>
            <p:cNvPr name="AutoShape 48" id="48"/>
            <p:cNvSpPr/>
            <p:nvPr/>
          </p:nvSpPr>
          <p:spPr>
            <a:xfrm rot="0" flipH="false" flipV="false">
              <a:off x="8585835" y="5003006"/>
              <a:ext cx="614528" cy="22002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119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质检人力</a:t>
              </a:r>
              <a:endParaRPr lang="en-US" sz="1100"/>
            </a:p>
          </p:txBody>
        </p:sp>
        <p:sp>
          <p:nvSpPr>
            <p:cNvPr name="AutoShape 49" id="49"/>
            <p:cNvSpPr/>
            <p:nvPr/>
          </p:nvSpPr>
          <p:spPr>
            <a:xfrm rot="0" flipH="false" flipV="false">
              <a:off x="8580120" y="5186362"/>
              <a:ext cx="786155" cy="4400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22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-60%</a:t>
              </a:r>
              <a:endParaRPr lang="en-US" sz="1100"/>
            </a:p>
          </p:txBody>
        </p:sp>
        <p:sp>
          <p:nvSpPr>
            <p:cNvPr name="AutoShape 50" id="50"/>
            <p:cNvSpPr/>
            <p:nvPr/>
          </p:nvSpPr>
          <p:spPr>
            <a:xfrm rot="0" flipH="false" flipV="false">
              <a:off x="9957816" y="5315902"/>
              <a:ext cx="597275" cy="20535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0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释放 6 人</a:t>
              </a:r>
              <a:endParaRPr lang="en-US" sz="1100"/>
            </a:p>
          </p:txBody>
        </p:sp>
      </p:grpSp>
      <p:sp>
        <p:nvSpPr>
          <p:cNvPr name="AutoShape 51" id="51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22 / 32</a:t>
            </a:r>
            <a:endParaRPr lang="en-US" sz="1100"/>
          </a:p>
        </p:txBody>
      </p:sp>
      <p:sp>
        <p:nvSpPr>
          <p:cNvPr name="Freeform 52" id="52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609600" y="6710362"/>
            <a:ext cx="72009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78105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55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42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 id="13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50" fill="hold" id="14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5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childTnLst>
                              <p:par>
                                <p:cTn fill="hold" id="17" nodeType="afterEffect" presetClass="entr" presetID="42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 id="19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50" fill="hold" id="2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2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 spc="3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CASE / 壳体线实战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41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一条壳体线 · 九门课同时上场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1460500" y="1066800"/>
            <a:ext cx="9271000" cy="520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先精益、后自动化、再智能化——不良率 3.4% → 1.1%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9166" b="29166"/>
          <a:stretch>
            <a:fillRect/>
          </a:stretch>
        </p:blipFill>
        <p:spPr>
          <a:xfrm rot="0" flipH="false" flipV="false">
            <a:off x="0" y="0"/>
            <a:ext cx="12192000" cy="28575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2857500"/>
          </a:xfrm>
          <a:prstGeom prst="rect">
            <a:avLst/>
          </a:prstGeom>
          <a:gradFill rotWithShape="true">
            <a:gsLst>
              <a:gs pos="0">
                <a:srgbClr val="060D16">
                  <a:alpha val="30000"/>
                </a:srgbClr>
              </a:gs>
              <a:gs pos="55000">
                <a:srgbClr val="060D16">
                  <a:alpha val="72000"/>
                </a:srgbClr>
              </a:gs>
              <a:gs pos="100000">
                <a:srgbClr val="060D16">
                  <a:alpha val="10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2857500"/>
          </a:xfrm>
          <a:prstGeom prst="rect">
            <a:avLst/>
          </a:prstGeom>
          <a:solidFill>
            <a:srgbClr val="060D16">
              <a:alpha val="3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0" y="1714500"/>
            <a:ext cx="12192000" cy="3238500"/>
          </a:xfrm>
          <a:custGeom>
            <a:avLst/>
            <a:gdLst/>
            <a:ahLst/>
            <a:cxnLst/>
            <a:rect r="r" b="b" t="t" l="l"/>
            <a:pathLst>
              <a:path h="3238500" w="12192000">
                <a:moveTo>
                  <a:pt x="0" y="0"/>
                </a:moveTo>
                <a:lnTo>
                  <a:pt x="12192000" y="0"/>
                </a:lnTo>
                <a:moveTo>
                  <a:pt x="0" y="3238500"/>
                </a:moveTo>
                <a:lnTo>
                  <a:pt x="12192000" y="3238500"/>
                </a:lnTo>
              </a:path>
            </a:pathLst>
          </a:custGeom>
          <a:noFill/>
          <a:ln w="12700">
            <a:solidFill>
              <a:srgbClr val="12314A">
                <a:alpha val="3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23 / 32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609600" y="590550"/>
            <a:ext cx="6750538" cy="880301"/>
            <a:chOff x="609600" y="590550"/>
            <a:chExt cx="6750538" cy="880301"/>
          </a:xfrm>
        </p:grpSpPr>
        <p:sp>
          <p:nvSpPr>
            <p:cNvPr name="AutoShape 8" id="8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879348" y="669608"/>
              <a:ext cx="6480790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回头看 · 九门课拼成了一个生命体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88492" y="1206818"/>
              <a:ext cx="194904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RESET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从零件到整体</a:t>
              </a:r>
              <a:endParaRPr lang="en-US" sz="110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609600" y="1676400"/>
            <a:ext cx="6286500" cy="3810000"/>
            <a:chOff x="609600" y="1676400"/>
            <a:chExt cx="6286500" cy="3810000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609600" y="1676400"/>
              <a:ext cx="6286500" cy="3810000"/>
            </a:xfrm>
            <a:prstGeom prst="roundRect">
              <a:avLst>
                <a:gd name="adj" fmla="val 15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68299" y="1887379"/>
              <a:ext cx="39216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九门课的“人体”归位（六部位 + 三延伸）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76300" y="2286000"/>
              <a:ext cx="28575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059942" y="2454592"/>
              <a:ext cx="2454478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大脑皮层 → AI 智能体与大模型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76300" y="2895600"/>
              <a:ext cx="28575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059942" y="3064192"/>
              <a:ext cx="2221821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神经 → 工业物联网（传输）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76300" y="3505200"/>
              <a:ext cx="28575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059942" y="3673792"/>
              <a:ext cx="185834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眼睛 → 视觉与智能检测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76300" y="4114800"/>
              <a:ext cx="28575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059942" y="4283392"/>
              <a:ext cx="204008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手脚 → 机器人与产线执行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876300" y="4724400"/>
              <a:ext cx="28575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059942" y="4892992"/>
              <a:ext cx="199276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骨架·中枢 → PLM / MES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962400" y="2286000"/>
              <a:ext cx="26670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4146042" y="2454592"/>
              <a:ext cx="191852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血液 → 数据（Python）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3962400" y="2895600"/>
              <a:ext cx="26670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4146042" y="3064192"/>
              <a:ext cx="167661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肌肉 → 精益与自动化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3962400" y="3505200"/>
              <a:ext cx="26670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4146042" y="3673792"/>
              <a:ext cx="167661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呼吸 → 能源与可持续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3962400" y="4114800"/>
              <a:ext cx="26670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4146042" y="4283392"/>
              <a:ext cx="149487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免疫 → 质量与防错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3962400" y="4724400"/>
              <a:ext cx="2667000" cy="495300"/>
            </a:xfrm>
            <a:prstGeom prst="roundRect">
              <a:avLst>
                <a:gd name="adj" fmla="val 7692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4146042" y="4892992"/>
              <a:ext cx="167661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意志 → 持续改善文化</a:t>
              </a:r>
              <a:endParaRPr lang="en-US" sz="1100"/>
            </a:p>
          </p:txBody>
        </p:sp>
      </p:grpSp>
      <p:grpSp>
        <p:nvGrpSpPr>
          <p:cNvPr name="Group 34" id="34"/>
          <p:cNvGrpSpPr/>
          <p:nvPr/>
        </p:nvGrpSpPr>
        <p:grpSpPr>
          <a:xfrm>
            <a:off x="7162800" y="1676400"/>
            <a:ext cx="4419600" cy="3810000"/>
            <a:chOff x="7162800" y="1676400"/>
            <a:chExt cx="4419600" cy="3810000"/>
          </a:xfrm>
        </p:grpSpPr>
        <p:sp>
          <p:nvSpPr>
            <p:cNvPr name="AutoShape 35" id="35"/>
            <p:cNvSpPr/>
            <p:nvPr/>
          </p:nvSpPr>
          <p:spPr>
            <a:xfrm rot="0" flipH="false" flipV="false">
              <a:off x="7162800" y="1676400"/>
              <a:ext cx="4419600" cy="3810000"/>
            </a:xfrm>
            <a:prstGeom prst="roundRect">
              <a:avLst>
                <a:gd name="adj" fmla="val 1500"/>
              </a:avLst>
            </a:prstGeom>
            <a:gradFill rotWithShape="true">
              <a:gsLst>
                <a:gs pos="0">
                  <a:srgbClr val="00E5FF">
                    <a:alpha val="30000"/>
                  </a:srgbClr>
                </a:gs>
                <a:gs pos="100000">
                  <a:srgbClr val="00A3C4">
                    <a:alpha val="6000"/>
                  </a:srgbClr>
                </a:gs>
              </a:gsLst>
              <a:lin ang="5400000"/>
            </a:gra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421499" y="1944529"/>
              <a:ext cx="866800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三句总结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421499" y="24207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单点技术不产生价值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7422642" y="2749868"/>
              <a:ext cx="183108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只有连成闭环才有价值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7429500" y="3143250"/>
              <a:ext cx="571500" cy="28575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7421499" y="341137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数据是新的工艺</a:t>
              </a:r>
              <a:endParaRPr lang="en-US" sz="1100"/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7422642" y="3740468"/>
              <a:ext cx="164934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没有数据就没有改善</a:t>
              </a:r>
              <a:endParaRPr lang="en-US" sz="1100"/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7429500" y="4133850"/>
              <a:ext cx="571500" cy="28575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7421499" y="44019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最后的瓶颈永远是人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7422642" y="4731068"/>
              <a:ext cx="1467612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技术只是人的延伸</a:t>
              </a:r>
              <a:endParaRPr lang="en-US" sz="1100"/>
            </a:p>
          </p:txBody>
        </p:sp>
      </p:grpSp>
      <p:sp>
        <p:nvSpPr>
          <p:cNvPr name="Freeform 45" id="45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09600" y="6710362"/>
            <a:ext cx="75438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81534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42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 id="7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100" fill="hold" id="8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100" fill="hold" id="9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23" presetSubtype="16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950" fill="hold" id="13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950" fill="hold" id="14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LINKAGE / 依赖关系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9728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九门课，谁是谁的基础？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524000"/>
            <a:ext cx="3556000" cy="3810000"/>
          </a:xfrm>
          <a:prstGeom prst="roundRect">
            <a:avLst>
              <a:gd name="adj" fmla="val 321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17780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基础层 · 思维与骨架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" y="2413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精益生产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92200" y="27432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决定'该不该自动化'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3600" y="3149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PLM / MES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2200" y="34798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提供工单与工艺数据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524000"/>
            <a:ext cx="3556000" cy="3810000"/>
          </a:xfrm>
          <a:prstGeom prst="roundRect">
            <a:avLst>
              <a:gd name="adj" fmla="val 321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17780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0E5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执行层 · 感知与手脚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413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机器视觉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00600" y="27432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看见缺陷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149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工业物联网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00600" y="34798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传输数据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0" y="38862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工业机器人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800600" y="42164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执行动作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26400" y="1524000"/>
            <a:ext cx="3556000" cy="3810000"/>
          </a:xfrm>
          <a:prstGeom prst="roundRect">
            <a:avLst>
              <a:gd name="adj" fmla="val 3214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80400" y="17780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78DCA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智能层 · 血液与大脑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80400" y="2413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Python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509000" y="27432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数据变成结论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80400" y="3149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AI 智能体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509000" y="34798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综合判断决策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下层是上层的前提：没有精益就不该自动化，没有数据就没有智能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LINKAGE / 学习路径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9728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为什么是这个顺序？每门课为下一门铺路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" y="13716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5113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精益生产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29000" y="15240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4DCE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先懂浪费，决定'该不该自动化'——所有课的前提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20574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1971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PLM / MES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29000" y="22098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4DCE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提供工单与工艺数据——是视觉、IIoT、AI 的数据来源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27432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28829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工业物联网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28956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4DCE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把设备数据采上来——喂给 Python 分析与 AI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" y="34290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35687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机器视觉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29000" y="35814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4DCE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提供质量数据——喂给 SPC 与 Python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" y="41148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42545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工业机器人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429000" y="42672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4DCE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执行机构——靠 MES 派工、靠视觉定位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600" y="48006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" y="49403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Python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429000" y="49530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4DCE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把数据变成结论——喂给 AI 智能体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" y="5486400"/>
            <a:ext cx="10972800" cy="609600"/>
          </a:xfrm>
          <a:prstGeom prst="roundRect">
            <a:avLst>
              <a:gd name="adj" fmla="val 18750"/>
            </a:avLst>
          </a:prstGeom>
          <a:gradFill rotWithShape="true">
            <a:gsLst>
              <a:gs pos="0">
                <a:srgbClr val="152F45">
                  <a:alpha val="100000"/>
                </a:srgbClr>
              </a:gs>
              <a:gs pos="100000">
                <a:srgbClr val="0B1A28">
                  <a:alpha val="100000"/>
                </a:srgbClr>
              </a:gs>
            </a:gsLst>
            <a:lin ang="5400000"/>
          </a:gradFill>
          <a:ln w="12700" cmpd="sng" cap="flat">
            <a:solidFill>
              <a:srgbClr val="1E4B6B">
                <a:alpha val="100000"/>
              </a:srgbClr>
            </a:solidFill>
            <a:prstDash val="solid"/>
            <a:miter lim="1000000"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9000" y="56261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A3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AI 智能体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429000" y="5638800"/>
            <a:ext cx="787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4DCE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综合所有课做决策——闭环的终点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先精益、后自动化、再智能化——顺序错了，越学越乱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905000"/>
                </a:moveTo>
                <a:lnTo>
                  <a:pt x="12192000" y="1905000"/>
                </a:lnTo>
                <a:moveTo>
                  <a:pt x="0" y="4762500"/>
                </a:moveTo>
                <a:lnTo>
                  <a:pt x="12192000" y="4762500"/>
                </a:lnTo>
                <a:moveTo>
                  <a:pt x="4057650" y="0"/>
                </a:moveTo>
                <a:lnTo>
                  <a:pt x="4057650" y="6858000"/>
                </a:lnTo>
                <a:moveTo>
                  <a:pt x="8115300" y="0"/>
                </a:moveTo>
                <a:lnTo>
                  <a:pt x="8115300" y="6858000"/>
                </a:lnTo>
              </a:path>
            </a:pathLst>
          </a:custGeom>
          <a:noFill/>
          <a:ln w="12700">
            <a:solidFill>
              <a:srgbClr val="12314A">
                <a:alpha val="32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24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5054326" cy="880301"/>
            <a:chOff x="609600" y="590550"/>
            <a:chExt cx="5054326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2ED47A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4784578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往前走 · 三条可以走的路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223639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CAREER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能力定位与进阶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905000"/>
            <a:ext cx="3238500" cy="4095750"/>
            <a:chOff x="609600" y="1905000"/>
            <a:chExt cx="3238500" cy="409575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905000"/>
              <a:ext cx="3238500" cy="4095750"/>
            </a:xfrm>
            <a:prstGeom prst="roundRect">
              <a:avLst>
                <a:gd name="adj" fmla="val 1765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2192179"/>
              <a:ext cx="1764152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路线 A · 技术纵深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76300" y="2552700"/>
              <a:ext cx="571500" cy="28575"/>
            </a:xfrm>
            <a:prstGeom prst="rect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69442" y="2826068"/>
              <a:ext cx="1651064" cy="9117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5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视觉算法工程师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数据工程师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自动化/机器人工程师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869823" y="4281964"/>
              <a:ext cx="1475994" cy="5160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1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核心壁垒：</a:t>
              </a:r>
              <a:b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能把问题建模成算法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69823" y="5063014"/>
              <a:ext cx="190840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适合喜欢钻深、动手的人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870204" y="5547360"/>
              <a:ext cx="857098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DEEP TECH</a:t>
              </a:r>
              <a:endParaRPr lang="en-US" sz="1100"/>
            </a:p>
          </p:txBody>
        </p:sp>
      </p:grpSp>
      <p:grpSp>
        <p:nvGrpSpPr>
          <p:cNvPr name="Group 22" id="22"/>
          <p:cNvGrpSpPr/>
          <p:nvPr/>
        </p:nvGrpSpPr>
        <p:grpSpPr>
          <a:xfrm>
            <a:off x="4248150" y="1905000"/>
            <a:ext cx="3238500" cy="4095750"/>
            <a:chOff x="4248150" y="1905000"/>
            <a:chExt cx="3238500" cy="4095750"/>
          </a:xfrm>
        </p:grpSpPr>
        <p:sp>
          <p:nvSpPr>
            <p:cNvPr name="AutoShape 23" id="23"/>
            <p:cNvSpPr/>
            <p:nvPr/>
          </p:nvSpPr>
          <p:spPr>
            <a:xfrm rot="0" flipH="false" flipV="false">
              <a:off x="4248150" y="1905000"/>
              <a:ext cx="3238500" cy="4095750"/>
            </a:xfrm>
            <a:prstGeom prst="roundRect">
              <a:avLst>
                <a:gd name="adj" fmla="val 1765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4506849" y="2192179"/>
              <a:ext cx="1764152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路线 B · 系统集成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4514850" y="2552700"/>
              <a:ext cx="571500" cy="28575"/>
            </a:xfrm>
            <a:prstGeom prst="rect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4507992" y="2826068"/>
              <a:ext cx="1479614" cy="9117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5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智能制造工程师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MES/PLM 实施顾问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项目经理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4508373" y="4281964"/>
              <a:ext cx="1801114" cy="5160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1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核心壁垒：</a:t>
              </a:r>
              <a:b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能听懂车间也能听懂代码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4508373" y="5063014"/>
              <a:ext cx="190840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适合擅长沟通与统筹的人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4508754" y="5547360"/>
              <a:ext cx="1608125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SYSTEM INTEGRATOR</a:t>
              </a:r>
              <a:endParaRPr lang="en-US" sz="1100"/>
            </a:p>
          </p:txBody>
        </p:sp>
      </p:grpSp>
      <p:grpSp>
        <p:nvGrpSpPr>
          <p:cNvPr name="Group 30" id="30"/>
          <p:cNvGrpSpPr/>
          <p:nvPr/>
        </p:nvGrpSpPr>
        <p:grpSpPr>
          <a:xfrm>
            <a:off x="7886700" y="1905000"/>
            <a:ext cx="3695700" cy="4095750"/>
            <a:chOff x="7886700" y="1905000"/>
            <a:chExt cx="3695700" cy="4095750"/>
          </a:xfrm>
        </p:grpSpPr>
        <p:sp>
          <p:nvSpPr>
            <p:cNvPr name="AutoShape 31" id="31"/>
            <p:cNvSpPr/>
            <p:nvPr/>
          </p:nvSpPr>
          <p:spPr>
            <a:xfrm rot="0" flipH="false" flipV="false">
              <a:off x="7886700" y="1905000"/>
              <a:ext cx="3695700" cy="4095750"/>
            </a:xfrm>
            <a:prstGeom prst="roundRect">
              <a:avLst>
                <a:gd name="adj" fmla="val 1545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8145399" y="2192179"/>
              <a:ext cx="1764152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路线 C · 精益改善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8153400" y="2552700"/>
              <a:ext cx="571500" cy="28575"/>
            </a:xfrm>
            <a:prstGeom prst="rect">
              <a:avLst/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8146542" y="2826068"/>
              <a:ext cx="1385316" cy="9117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5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精益/IE 工程师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工艺工程师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数字化转型负责人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8146923" y="4281964"/>
              <a:ext cx="1638554" cy="5160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1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核心壁垒：</a:t>
              </a:r>
              <a:b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能用数据推动组织改变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8146923" y="506301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适合对人敏感、有耐心的人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8147304" y="5547360"/>
              <a:ext cx="207751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CONTINUOUS IMPROVEMENT</a:t>
              </a:r>
              <a:endParaRPr lang="en-US" sz="1100"/>
            </a:p>
          </p:txBody>
        </p:sp>
      </p:grpSp>
      <p:sp>
        <p:nvSpPr>
          <p:cNvPr name="Freeform 38" id="38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78867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4963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3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 id="7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700" fill="hold" id="8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630" fill="hold" id="9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70" fill="hold" id="1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714500"/>
                </a:moveTo>
                <a:lnTo>
                  <a:pt x="12192000" y="1714500"/>
                </a:lnTo>
                <a:moveTo>
                  <a:pt x="0" y="4000500"/>
                </a:moveTo>
                <a:lnTo>
                  <a:pt x="12192000" y="4000500"/>
                </a:lnTo>
                <a:moveTo>
                  <a:pt x="7239000" y="0"/>
                </a:moveTo>
                <a:lnTo>
                  <a:pt x="7239000" y="6858000"/>
                </a:lnTo>
              </a:path>
            </a:pathLst>
          </a:custGeom>
          <a:noFill/>
          <a:ln w="12700">
            <a:solidFill>
              <a:srgbClr val="12314A">
                <a:alpha val="32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25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5902432" cy="880301"/>
            <a:chOff x="609600" y="590550"/>
            <a:chExt cx="5902432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2ED47A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5632684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2ED47A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延伸一 · 能源管理与绿色制造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318691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ENERGY · CARBON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双碳下的新考卷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676400"/>
            <a:ext cx="6286500" cy="3810000"/>
            <a:chOff x="609600" y="1676400"/>
            <a:chExt cx="6286500" cy="381000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676400"/>
              <a:ext cx="6286500" cy="3810000"/>
            </a:xfrm>
            <a:prstGeom prst="roundRect">
              <a:avLst>
                <a:gd name="adj" fmla="val 15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1887379"/>
              <a:ext cx="299379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工厂能耗结构（典型离散制造）</a:t>
              </a:r>
              <a:endParaRPr lang="en-US" sz="1100"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1143000" y="4572000"/>
              <a:ext cx="5143500" cy="0"/>
            </a:xfrm>
            <a:custGeom>
              <a:avLst/>
              <a:gdLst/>
              <a:ahLst/>
              <a:cxnLst/>
              <a:rect r="r" b="b" t="t" l="l"/>
              <a:pathLst>
                <a:path h="0" w="5143500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1143000" y="2286000"/>
              <a:ext cx="0" cy="2286000"/>
            </a:xfrm>
            <a:custGeom>
              <a:avLst/>
              <a:gdLst/>
              <a:ahLst/>
              <a:cxnLst/>
              <a:rect r="r" b="b" t="t" l="l"/>
              <a:pathLst>
                <a:path h="2286000" w="0">
                  <a:moveTo>
                    <a:pt x="0" y="22860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562100" y="2857500"/>
              <a:ext cx="723900" cy="1714500"/>
            </a:xfrm>
            <a:prstGeom prst="roundRect">
              <a:avLst>
                <a:gd name="adj" fmla="val 3946"/>
              </a:avLst>
            </a:prstGeom>
            <a:solidFill>
              <a:srgbClr val="00A3C4">
                <a:alpha val="75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740680" y="2616518"/>
              <a:ext cx="36674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42%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525560" y="4739164"/>
              <a:ext cx="79698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空压/动力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2781300" y="3257550"/>
              <a:ext cx="723900" cy="1314450"/>
            </a:xfrm>
            <a:prstGeom prst="roundRect">
              <a:avLst>
                <a:gd name="adj" fmla="val 3946"/>
              </a:avLst>
            </a:prstGeom>
            <a:gradFill rotWithShape="true">
              <a:gsLst>
                <a:gs pos="0">
                  <a:srgbClr val="2ED47A">
                    <a:alpha val="45000"/>
                  </a:srgbClr>
                </a:gs>
                <a:gs pos="100000">
                  <a:srgbClr val="2ED47A">
                    <a:alpha val="2000"/>
                  </a:srgbClr>
                </a:gs>
              </a:gsLst>
              <a:lin ang="5400000"/>
            </a:gra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2959880" y="3016568"/>
              <a:ext cx="36674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31%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2792146" y="4739164"/>
              <a:ext cx="70220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工艺设备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4000500" y="3771900"/>
              <a:ext cx="723900" cy="800100"/>
            </a:xfrm>
            <a:prstGeom prst="roundRect">
              <a:avLst>
                <a:gd name="adj" fmla="val 3946"/>
              </a:avLst>
            </a:prstGeom>
            <a:solidFill>
              <a:srgbClr val="00A3C4">
                <a:alpha val="55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4179080" y="3530918"/>
              <a:ext cx="36674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18%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4011346" y="4739164"/>
              <a:ext cx="70220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照明空调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5219700" y="4171950"/>
              <a:ext cx="723900" cy="400050"/>
            </a:xfrm>
            <a:prstGeom prst="roundRect">
              <a:avLst>
                <a:gd name="adj" fmla="val 7143"/>
              </a:avLst>
            </a:prstGeom>
            <a:solidFill>
              <a:srgbClr val="00A3C4">
                <a:alpha val="4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5450756" y="3930968"/>
              <a:ext cx="26178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9%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5402859" y="4739164"/>
              <a:ext cx="35758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其他</a:t>
              </a:r>
              <a:endParaRPr lang="en-US" sz="1100"/>
            </a:p>
          </p:txBody>
        </p:sp>
      </p:grpSp>
      <p:grpSp>
        <p:nvGrpSpPr>
          <p:cNvPr name="Group 31" id="31"/>
          <p:cNvGrpSpPr/>
          <p:nvPr/>
        </p:nvGrpSpPr>
        <p:grpSpPr>
          <a:xfrm>
            <a:off x="7467600" y="1676400"/>
            <a:ext cx="4114800" cy="2095500"/>
            <a:chOff x="7467600" y="1676400"/>
            <a:chExt cx="4114800" cy="2095500"/>
          </a:xfrm>
        </p:grpSpPr>
        <p:sp>
          <p:nvSpPr>
            <p:cNvPr name="AutoShape 32" id="32"/>
            <p:cNvSpPr/>
            <p:nvPr/>
          </p:nvSpPr>
          <p:spPr>
            <a:xfrm rot="0" flipH="false" flipV="false">
              <a:off x="7467600" y="1676400"/>
              <a:ext cx="4114800" cy="2095500"/>
            </a:xfrm>
            <a:prstGeom prst="roundRect">
              <a:avLst>
                <a:gd name="adj" fmla="val 27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726299" y="18873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四个立竿见影的抓手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727442" y="2311718"/>
              <a:ext cx="1873948" cy="8736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空压系统泄漏治理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分时电价下的负荷调度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设备待机自动断电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727442" y="3226118"/>
              <a:ext cx="89514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④ 余热回收</a:t>
              </a:r>
              <a:endParaRPr lang="en-US" sz="1100"/>
            </a:p>
          </p:txBody>
        </p:sp>
      </p:grpSp>
      <p:grpSp>
        <p:nvGrpSpPr>
          <p:cNvPr name="Group 36" id="36"/>
          <p:cNvGrpSpPr/>
          <p:nvPr/>
        </p:nvGrpSpPr>
        <p:grpSpPr>
          <a:xfrm>
            <a:off x="7467600" y="3962400"/>
            <a:ext cx="4114800" cy="1524000"/>
            <a:chOff x="7467600" y="3962400"/>
            <a:chExt cx="4114800" cy="1524000"/>
          </a:xfrm>
        </p:grpSpPr>
        <p:sp>
          <p:nvSpPr>
            <p:cNvPr name="AutoShape 37" id="37"/>
            <p:cNvSpPr/>
            <p:nvPr/>
          </p:nvSpPr>
          <p:spPr>
            <a:xfrm rot="0" flipH="false" flipV="false">
              <a:off x="7467600" y="3962400"/>
              <a:ext cx="4114800" cy="1524000"/>
            </a:xfrm>
            <a:prstGeom prst="roundRect">
              <a:avLst>
                <a:gd name="adj" fmla="val 375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7726299" y="4173379"/>
              <a:ext cx="17175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为什么值得现在做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7727442" y="4597718"/>
              <a:ext cx="2414016" cy="54978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25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电费占制造成本 5%–15%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碳指标正在变成关税与订单门槛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7727823" y="519636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省下的电费，直接等于利润</a:t>
              </a:r>
              <a:endParaRPr lang="en-US" sz="1100"/>
            </a:p>
          </p:txBody>
        </p:sp>
      </p:grpSp>
      <p:sp>
        <p:nvSpPr>
          <p:cNvPr name="Freeform 41" id="41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609600" y="6710362"/>
            <a:ext cx="82296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8392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23" presetSubtype="16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childTnLst>
                              <p:par>
                                <p:cTn fill="hold" id="10" nodeType="afterEffect" presetClass="entr" presetID="5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00" fill="hold" id="13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00" fill="hold" id="14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700" id="12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 spc="3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ENERGY / 能源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41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呼吸 · 工厂能耗实景图解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1460500" y="1066800"/>
            <a:ext cx="9271000" cy="520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空压 42% 是最大头，省下的电费直接等于利润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5814441" cy="1127951"/>
            <a:chOff x="609600" y="495300"/>
            <a:chExt cx="5814441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2ED47A">
                    <a:alpha val="100000"/>
                  </a:srgbClr>
                </a:gs>
                <a:gs pos="100000">
                  <a:srgbClr val="2ED47A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81848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08 /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能源与数字孪生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5544693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2ED47A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先把工厂复制一份，再谈优化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418458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能耗结构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单位产品能耗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需量管理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虚实映射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477000" cy="4171950"/>
            <a:chOff x="609600" y="1866900"/>
            <a:chExt cx="64770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4770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3556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能源管理，管的是三个数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8111" y="2608421"/>
              <a:ext cx="2479013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能耗结构：先知道电去哪了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873" y="2929414"/>
              <a:ext cx="3662426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典型离散制造：空压 22%、空调 18%、机加 31%、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其他 29%。不分项计量，节能就是空话。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111" y="3770471"/>
              <a:ext cx="3243655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单位产品能耗：唯一可比的管理指标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888873" y="4091464"/>
              <a:ext cx="310159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kWh / 件，而不是总电费。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产量翻倍但单耗不变，说明没有真正改善。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88111" y="4932521"/>
              <a:ext cx="2670174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需量管理：被忽视的电费大头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88873" y="5253514"/>
              <a:ext cx="391439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按最大需量计费，一台设备同时启动就能拉高一整月。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错峰排产是零成本的节流手段。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7315200" y="1866900"/>
            <a:ext cx="4267200" cy="2038350"/>
            <a:chOff x="7315200" y="1866900"/>
            <a:chExt cx="4267200" cy="2038350"/>
          </a:xfrm>
        </p:grpSpPr>
        <p:sp>
          <p:nvSpPr>
            <p:cNvPr name="AutoShape 19" id="19"/>
            <p:cNvSpPr/>
            <p:nvPr/>
          </p:nvSpPr>
          <p:spPr>
            <a:xfrm rot="0" flipH="false" flipV="false">
              <a:off x="7315200" y="1866900"/>
              <a:ext cx="42672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73152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7592949" y="209692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数字孪生的三个层次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605712" y="26527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804023" y="2605564"/>
              <a:ext cx="259765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几何孪生：看得见，三维还原现场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605712" y="305276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804023" y="3005614"/>
              <a:ext cx="276997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机理孪生：算得准，有物理方程支撑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605712" y="34528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804023" y="3405664"/>
              <a:ext cx="276997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数据孪生：能预测，靠历史数据校准</a:t>
              </a:r>
              <a:endParaRPr lang="en-US" sz="110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7315200" y="4038600"/>
            <a:ext cx="4267200" cy="2000250"/>
            <a:chOff x="7315200" y="4038600"/>
            <a:chExt cx="4267200" cy="2000250"/>
          </a:xfrm>
        </p:grpSpPr>
        <p:sp>
          <p:nvSpPr>
            <p:cNvPr name="AutoShape 29" id="29"/>
            <p:cNvSpPr/>
            <p:nvPr/>
          </p:nvSpPr>
          <p:spPr>
            <a:xfrm rot="0" flipH="false" flipV="false">
              <a:off x="7315200" y="4038600"/>
              <a:ext cx="42672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73152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592949" y="426862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最常见的三个坑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605712" y="48244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804023" y="4777264"/>
              <a:ext cx="276997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做完只用于展厅演示，没有决策闭环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605712" y="522446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804023" y="5177314"/>
              <a:ext cx="218215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模型与 MES 实时数据没打通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7605712" y="5624512"/>
              <a:ext cx="66675" cy="66675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804023" y="55773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仿真工况与现场实际长期脱节</a:t>
              </a:r>
              <a:endParaRPr lang="en-US" sz="1100"/>
            </a:p>
          </p:txBody>
        </p:sp>
      </p:grpSp>
      <p:sp>
        <p:nvSpPr>
          <p:cNvPr name="AutoShape 38" id="38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26 / 32</a:t>
            </a:r>
            <a:endParaRPr lang="en-US" sz="1100"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85725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1821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55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3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 id="13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50" fill="hold" id="14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495" fill="hold" id="15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55" fill="hold" id="16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childTnLst>
                              <p:par>
                                <p:cTn fill="hold" id="18" nodeType="afterEffect" presetClass="entr" presetID="4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 id="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50" fill="hold" id="2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22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2857500"/>
            <a:ext cx="12192000" cy="2476500"/>
          </a:xfrm>
          <a:custGeom>
            <a:avLst/>
            <a:gdLst/>
            <a:ahLst/>
            <a:cxnLst/>
            <a:rect r="r" b="b" t="t" l="l"/>
            <a:pathLst>
              <a:path h="2476500" w="12192000">
                <a:moveTo>
                  <a:pt x="0" y="0"/>
                </a:moveTo>
                <a:lnTo>
                  <a:pt x="12192000" y="0"/>
                </a:lnTo>
                <a:moveTo>
                  <a:pt x="0" y="2476500"/>
                </a:moveTo>
                <a:lnTo>
                  <a:pt x="12192000" y="2476500"/>
                </a:lnTo>
              </a:path>
            </a:pathLst>
          </a:custGeom>
          <a:noFill/>
          <a:ln w="12700">
            <a:solidFill>
              <a:srgbClr val="12314A">
                <a:alpha val="32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27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6750538" cy="880301"/>
            <a:chOff x="609600" y="590550"/>
            <a:chExt cx="6750538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6480790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延伸二 · 质量工程与统计过程控制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255323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SPC · CPK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把质量做进过程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676400"/>
            <a:ext cx="6477000" cy="3810000"/>
            <a:chOff x="609600" y="1676400"/>
            <a:chExt cx="6477000" cy="381000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676400"/>
              <a:ext cx="6477000" cy="3810000"/>
            </a:xfrm>
            <a:prstGeom prst="roundRect">
              <a:avLst>
                <a:gd name="adj" fmla="val 15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1887379"/>
              <a:ext cx="23556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控制图：让异常自己浮现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047750" y="2400300"/>
              <a:ext cx="5715000" cy="1143000"/>
            </a:xfrm>
            <a:prstGeom prst="rect">
              <a:avLst/>
            </a:prstGeom>
            <a:gradFill rotWithShape="true">
              <a:gsLst>
                <a:gs pos="0">
                  <a:srgbClr val="2ED47A">
                    <a:alpha val="22000"/>
                  </a:srgbClr>
                </a:gs>
                <a:gs pos="100000">
                  <a:srgbClr val="2ED47A">
                    <a:alpha val="600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1047750" y="2971800"/>
              <a:ext cx="5715000" cy="0"/>
            </a:xfrm>
            <a:custGeom>
              <a:avLst/>
              <a:gdLst/>
              <a:ahLst/>
              <a:cxnLst/>
              <a:rect r="r" b="b" t="t" l="l"/>
              <a:pathLst>
                <a:path h="0" w="5715000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1047750" y="2552700"/>
              <a:ext cx="5715000" cy="0"/>
            </a:xfrm>
            <a:custGeom>
              <a:avLst/>
              <a:gdLst/>
              <a:ahLst/>
              <a:cxnLst/>
              <a:rect r="r" b="b" t="t" l="l"/>
              <a:pathLst>
                <a:path h="0" w="5715000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2700">
              <a:solidFill>
                <a:srgbClr val="FF8A3D">
                  <a:alpha val="7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1047750" y="3390900"/>
              <a:ext cx="5715000" cy="0"/>
            </a:xfrm>
            <a:custGeom>
              <a:avLst/>
              <a:gdLst/>
              <a:ahLst/>
              <a:cxnLst/>
              <a:rect r="r" b="b" t="t" l="l"/>
              <a:pathLst>
                <a:path h="0" w="5715000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2700">
              <a:solidFill>
                <a:srgbClr val="FF8A3D">
                  <a:alpha val="75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371600" y="2857500"/>
              <a:ext cx="114300" cy="114300"/>
            </a:xfrm>
            <a:prstGeom prst="ellipse">
              <a:avLst/>
            </a:prstGeom>
            <a:solidFill>
              <a:srgbClr val="5FE8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2038350" y="2971800"/>
              <a:ext cx="114300" cy="114300"/>
            </a:xfrm>
            <a:prstGeom prst="ellipse">
              <a:avLst/>
            </a:prstGeom>
            <a:solidFill>
              <a:srgbClr val="5FE8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2705100" y="2800350"/>
              <a:ext cx="114300" cy="114300"/>
            </a:xfrm>
            <a:prstGeom prst="ellipse">
              <a:avLst/>
            </a:prstGeom>
            <a:solidFill>
              <a:srgbClr val="5FE8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371850" y="3009900"/>
              <a:ext cx="114300" cy="114300"/>
            </a:xfrm>
            <a:prstGeom prst="ellipse">
              <a:avLst/>
            </a:prstGeom>
            <a:solidFill>
              <a:srgbClr val="5FE8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4038600" y="2876550"/>
              <a:ext cx="114300" cy="114300"/>
            </a:xfrm>
            <a:prstGeom prst="ellipse">
              <a:avLst/>
            </a:prstGeom>
            <a:solidFill>
              <a:srgbClr val="5FE8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4705350" y="2952750"/>
              <a:ext cx="114300" cy="114300"/>
            </a:xfrm>
            <a:prstGeom prst="ellipse">
              <a:avLst/>
            </a:prstGeom>
            <a:solidFill>
              <a:srgbClr val="5FE8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5353050" y="2762250"/>
              <a:ext cx="152400" cy="152400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6019800" y="3276600"/>
              <a:ext cx="152400" cy="152400"/>
            </a:xfrm>
            <a:prstGeom prst="ellipse">
              <a:avLst/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1041654" y="2308860"/>
              <a:ext cx="29382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FF8A3D"/>
                  </a:solidFill>
                  <a:latin typeface="Consolas"/>
                  <a:ea typeface="Consolas"/>
                  <a:cs typeface="Consolas"/>
                  <a:sym typeface="Consolas"/>
                </a:rPr>
                <a:t>UCL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1041654" y="2804160"/>
              <a:ext cx="199949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2ED47A"/>
                  </a:solidFill>
                  <a:latin typeface="Consolas"/>
                  <a:ea typeface="Consolas"/>
                  <a:cs typeface="Consolas"/>
                  <a:sym typeface="Consolas"/>
                </a:rPr>
                <a:t>CL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1041654" y="3413760"/>
              <a:ext cx="293827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FF8A3D"/>
                  </a:solidFill>
                  <a:latin typeface="Consolas"/>
                  <a:ea typeface="Consolas"/>
                  <a:cs typeface="Consolas"/>
                  <a:sym typeface="Consolas"/>
                </a:rPr>
                <a:t>LCL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4318036" y="3710464"/>
              <a:ext cx="245119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橙点 = 失控信号，必须立刻查因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1041273" y="3710464"/>
              <a:ext cx="168439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正常波动 vs 异常波动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1040892" y="4426268"/>
              <a:ext cx="960111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判稳 ≠ 合格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1040892" y="4769168"/>
              <a:ext cx="2776118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要区分“随机噪声”与“系统性偏移”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1041273" y="5120164"/>
              <a:ext cx="29595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控制图不判断好坏，只判断“是否稳定”</a:t>
              </a:r>
              <a:endParaRPr lang="en-US" sz="1100"/>
            </a:p>
          </p:txBody>
        </p:sp>
      </p:grpSp>
      <p:grpSp>
        <p:nvGrpSpPr>
          <p:cNvPr name="Group 37" id="37"/>
          <p:cNvGrpSpPr/>
          <p:nvPr/>
        </p:nvGrpSpPr>
        <p:grpSpPr>
          <a:xfrm>
            <a:off x="7391400" y="1676400"/>
            <a:ext cx="4191000" cy="1809750"/>
            <a:chOff x="7391400" y="1676400"/>
            <a:chExt cx="4191000" cy="1809750"/>
          </a:xfrm>
        </p:grpSpPr>
        <p:sp>
          <p:nvSpPr>
            <p:cNvPr name="AutoShape 38" id="38"/>
            <p:cNvSpPr/>
            <p:nvPr/>
          </p:nvSpPr>
          <p:spPr>
            <a:xfrm rot="0" flipH="false" flipV="false">
              <a:off x="7391400" y="1676400"/>
              <a:ext cx="4191000" cy="1809750"/>
            </a:xfrm>
            <a:prstGeom prst="roundRect">
              <a:avLst>
                <a:gd name="adj" fmla="val 315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7650099" y="188737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能力指数怎么读</a:t>
              </a:r>
              <a:endParaRPr lang="en-US" sz="1100"/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7651242" y="2311718"/>
              <a:ext cx="2096833" cy="8736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CPK &lt; 1.0 → 过程不可接受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1.0 – 1.33 → 勉强，需改善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≥ 1.33 → 行业常规要求</a:t>
              </a:r>
              <a:endParaRPr lang="en-US" sz="1100"/>
            </a:p>
          </p:txBody>
        </p:sp>
      </p:grpSp>
      <p:grpSp>
        <p:nvGrpSpPr>
          <p:cNvPr name="Group 41" id="41"/>
          <p:cNvGrpSpPr/>
          <p:nvPr/>
        </p:nvGrpSpPr>
        <p:grpSpPr>
          <a:xfrm>
            <a:off x="7391400" y="3676650"/>
            <a:ext cx="4191000" cy="1809750"/>
            <a:chOff x="7391400" y="3676650"/>
            <a:chExt cx="4191000" cy="1809750"/>
          </a:xfrm>
        </p:grpSpPr>
        <p:sp>
          <p:nvSpPr>
            <p:cNvPr name="AutoShape 42" id="42"/>
            <p:cNvSpPr/>
            <p:nvPr/>
          </p:nvSpPr>
          <p:spPr>
            <a:xfrm rot="0" flipH="false" flipV="false">
              <a:off x="7391400" y="3676650"/>
              <a:ext cx="4191000" cy="1809750"/>
            </a:xfrm>
            <a:prstGeom prst="roundRect">
              <a:avLst>
                <a:gd name="adj" fmla="val 315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7650099" y="388762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质量成本的四张账单</a:t>
              </a:r>
              <a:endParaRPr lang="en-US" sz="1100"/>
            </a:p>
          </p:txBody>
        </p:sp>
        <p:sp>
          <p:nvSpPr>
            <p:cNvPr name="AutoShape 44" id="44"/>
            <p:cNvSpPr/>
            <p:nvPr/>
          </p:nvSpPr>
          <p:spPr>
            <a:xfrm rot="0" flipH="false" flipV="false">
              <a:off x="7651242" y="4311968"/>
              <a:ext cx="1582483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预防成本 · 鉴定成本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内部失效 · 外部失效</a:t>
              </a:r>
              <a:endParaRPr lang="en-US" sz="1100"/>
            </a:p>
          </p:txBody>
        </p:sp>
        <p:sp>
          <p:nvSpPr>
            <p:cNvPr name="AutoShape 45" id="45"/>
            <p:cNvSpPr/>
            <p:nvPr/>
          </p:nvSpPr>
          <p:spPr>
            <a:xfrm rot="0" flipH="false" flipV="false">
              <a:off x="7651623" y="5101114"/>
              <a:ext cx="268381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 元预防 ≈ 10 元鉴定 ≈ 100 元失效</a:t>
              </a:r>
              <a:endParaRPr lang="en-US" sz="1100"/>
            </a:p>
          </p:txBody>
        </p:sp>
      </p:grpSp>
      <p:sp>
        <p:nvSpPr>
          <p:cNvPr name="Freeform 46" id="46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09600" y="6710362"/>
            <a:ext cx="89154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95250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1771650"/>
            <a:ext cx="12192000" cy="2990850"/>
          </a:xfrm>
          <a:custGeom>
            <a:avLst/>
            <a:gdLst/>
            <a:ahLst/>
            <a:cxnLst/>
            <a:rect r="r" b="b" t="t" l="l"/>
            <a:pathLst>
              <a:path h="2990850" w="12192000">
                <a:moveTo>
                  <a:pt x="0" y="0"/>
                </a:moveTo>
                <a:lnTo>
                  <a:pt x="12192000" y="0"/>
                </a:lnTo>
                <a:moveTo>
                  <a:pt x="0" y="2990850"/>
                </a:moveTo>
                <a:lnTo>
                  <a:pt x="12192000" y="299085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09600" y="495300"/>
            <a:ext cx="6238494" cy="1127951"/>
            <a:chOff x="609600" y="495300"/>
            <a:chExt cx="6238494" cy="1127951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609600" y="495300"/>
              <a:ext cx="57150" cy="647700"/>
            </a:xfrm>
            <a:prstGeom prst="rect">
              <a:avLst/>
            </a:prstGeom>
            <a:gradFill rotWithShape="true">
              <a:gsLst>
                <a:gs pos="0">
                  <a:srgbClr val="2ED47A">
                    <a:alpha val="100000"/>
                  </a:srgbClr>
                </a:gs>
                <a:gs pos="100000">
                  <a:srgbClr val="2ED47A">
                    <a:alpha val="12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88873" y="586264"/>
              <a:ext cx="315009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280" spc="375">
                  <a:solidFill>
                    <a:srgbClr val="5FE8FF"/>
                  </a:solidFill>
                  <a:latin typeface="Consolas"/>
                  <a:ea typeface="Consolas"/>
                  <a:cs typeface="Consolas"/>
                  <a:sym typeface="Consolas"/>
                </a:rPr>
                <a:t>DEEP DIVE 09 / </a:t>
              </a:r>
              <a:r>
                <a:rPr lang="en-US" b="true" i="false" strike="noStrike" u="none" sz="1280" spc="375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质量工程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879348" y="898208"/>
              <a:ext cx="5968746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2ED47A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质量不是检出来的，是做出来的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888492" y="1359218"/>
              <a:ext cx="2536088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SPC · CPK · 8D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防错设计</a:t>
              </a:r>
              <a:endParaRPr lang="en-US" sz="110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609600" y="1866900"/>
            <a:ext cx="6096000" cy="4171950"/>
            <a:chOff x="609600" y="1866900"/>
            <a:chExt cx="6096000" cy="4171950"/>
          </a:xfrm>
        </p:grpSpPr>
        <p:sp>
          <p:nvSpPr>
            <p:cNvPr name="AutoShape 9" id="9"/>
            <p:cNvSpPr/>
            <p:nvPr/>
          </p:nvSpPr>
          <p:spPr>
            <a:xfrm rot="0" flipH="false" flipV="false">
              <a:off x="609600" y="1866900"/>
              <a:ext cx="6096000" cy="4171950"/>
            </a:xfrm>
            <a:prstGeom prst="roundRect">
              <a:avLst>
                <a:gd name="adj" fmla="val 1826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600" y="1866900"/>
              <a:ext cx="57150" cy="4171950"/>
            </a:xfrm>
            <a:prstGeom prst="roundRect">
              <a:avLst>
                <a:gd name="adj" fmla="val 50000"/>
              </a:avLst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887349" y="2096929"/>
              <a:ext cx="2847034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从“事后检验”走到“过程控制”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88111" y="2589371"/>
              <a:ext cx="2711066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SPC — 用控制图看过程是否稳定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873" y="2910364"/>
              <a:ext cx="3751834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只区分两件事：普通波动（系统固有）与异常波动。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控制限由过程自己算出来，不是拍脑袋定的公差。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888111" y="3751421"/>
              <a:ext cx="2711066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CPK — 能力够不够，看这两个数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888873" y="4072414"/>
              <a:ext cx="3808730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CP 看精度（分布宽不宽），CPK 看准度（偏不偏）。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行业习惯：CPK ≥ 1.33 才算过程受控可信。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88111" y="4913471"/>
              <a:ext cx="2020941" cy="27870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419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8D — 出了问题怎么收场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88873" y="5234464"/>
              <a:ext cx="3816858" cy="49701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195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D1 组队 → D4 找根因 → D5 定对策 → D7 防再发。</a:t>
              </a:r>
              <a:b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关键在 D7：把教训写进标准与设计，否则必然复发。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6934200" y="1866900"/>
            <a:ext cx="4648200" cy="2092928"/>
            <a:chOff x="6934200" y="1866900"/>
            <a:chExt cx="4648200" cy="2092928"/>
          </a:xfrm>
        </p:grpSpPr>
        <p:sp>
          <p:nvSpPr>
            <p:cNvPr name="AutoShape 19" id="19"/>
            <p:cNvSpPr/>
            <p:nvPr/>
          </p:nvSpPr>
          <p:spPr>
            <a:xfrm rot="0" flipH="false" flipV="false">
              <a:off x="6934200" y="1866900"/>
              <a:ext cx="4648200" cy="2038350"/>
            </a:xfrm>
            <a:prstGeom prst="roundRect">
              <a:avLst>
                <a:gd name="adj" fmla="val 3737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6934200" y="18669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7211949" y="2096929"/>
              <a:ext cx="305144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终极目标：防错（Poka-Yoke）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213473" y="2529364"/>
              <a:ext cx="3131830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让人“想犯错也犯不了”，而不是靠提醒。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7224712" y="30337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7423023" y="29865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定位销：装反了根本装不进去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7224712" y="339566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423023" y="3348514"/>
              <a:ext cx="294228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顺序互锁：上一步没完成，下一步锁死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7224712" y="3757612"/>
              <a:ext cx="66675" cy="66675"/>
            </a:xfrm>
            <a:prstGeom prst="ellipse">
              <a:avLst/>
            </a:prstGeom>
            <a:solidFill>
              <a:srgbClr val="00E5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7423023" y="3710464"/>
              <a:ext cx="2942285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自动校验：参数超范围，设备拒绝启动</a:t>
              </a:r>
              <a:endParaRPr lang="en-US" sz="1100"/>
            </a:p>
          </p:txBody>
        </p:sp>
      </p:grpSp>
      <p:grpSp>
        <p:nvGrpSpPr>
          <p:cNvPr name="Group 29" id="29"/>
          <p:cNvGrpSpPr/>
          <p:nvPr/>
        </p:nvGrpSpPr>
        <p:grpSpPr>
          <a:xfrm>
            <a:off x="6934200" y="4038600"/>
            <a:ext cx="4648200" cy="2000250"/>
            <a:chOff x="6934200" y="4038600"/>
            <a:chExt cx="4648200" cy="2000250"/>
          </a:xfrm>
        </p:grpSpPr>
        <p:sp>
          <p:nvSpPr>
            <p:cNvPr name="AutoShape 30" id="30"/>
            <p:cNvSpPr/>
            <p:nvPr/>
          </p:nvSpPr>
          <p:spPr>
            <a:xfrm rot="0" flipH="false" flipV="false">
              <a:off x="6934200" y="4038600"/>
              <a:ext cx="4648200" cy="2000250"/>
            </a:xfrm>
            <a:prstGeom prst="roundRect">
              <a:avLst>
                <a:gd name="adj" fmla="val 381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6934200" y="40386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FF8A3D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211949" y="4268629"/>
              <a:ext cx="2568397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自检：你真的在管质量吗？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213473" y="4720114"/>
              <a:ext cx="3077210" cy="97326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850"/>
                </a:lnSpc>
                <a:defRPr/>
              </a:pP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你厂里的 CPK 是多少？多久算一次？</a:t>
              </a:r>
              <a:b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上次客诉，8D 报告里的 D7 落实了吗？</a:t>
              </a:r>
              <a:b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28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有没有哪道工序，做错了会被物理挡住？</a:t>
              </a:r>
              <a:endParaRPr lang="en-US" sz="1100"/>
            </a:p>
          </p:txBody>
        </p:sp>
      </p:grpSp>
      <p:sp>
        <p:nvSpPr>
          <p:cNvPr name="AutoShape 34" id="34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28 / 32</a:t>
            </a:r>
            <a:endParaRPr lang="en-US" sz="1100"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09600" y="6710362"/>
            <a:ext cx="92583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8679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23" presetSubtype="16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childTnLst>
                              <p:par>
                                <p:cTn fill="hold" id="10" nodeType="afterEffect" presetClass="entr" presetID="31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50" fill="hold" id="13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4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50" fill="hold" id="15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50" id="12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714500"/>
                </a:moveTo>
                <a:lnTo>
                  <a:pt x="12192000" y="17145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4095750" y="0"/>
                </a:moveTo>
                <a:lnTo>
                  <a:pt x="4095750" y="6858000"/>
                </a:lnTo>
                <a:moveTo>
                  <a:pt x="8191500" y="0"/>
                </a:moveTo>
                <a:lnTo>
                  <a:pt x="8191500" y="6858000"/>
                </a:lnTo>
              </a:path>
            </a:pathLst>
          </a:custGeom>
          <a:noFill/>
          <a:ln w="12700">
            <a:solidFill>
              <a:srgbClr val="12314A">
                <a:alpha val="32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29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5902432" cy="880301"/>
            <a:chOff x="609600" y="590550"/>
            <a:chExt cx="5902432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9B7B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5632684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9B7B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延伸三 · 数字孪生与仿真优化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287007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DIGITAL TWIN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先在电脑里试错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676400"/>
            <a:ext cx="6096000" cy="3810000"/>
            <a:chOff x="609600" y="1676400"/>
            <a:chExt cx="6096000" cy="381000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676400"/>
              <a:ext cx="6096000" cy="3810000"/>
            </a:xfrm>
            <a:prstGeom prst="roundRect">
              <a:avLst>
                <a:gd name="adj" fmla="val 15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18873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9B7B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虚实映射：三个层次</a:t>
              </a:r>
              <a:endParaRPr lang="en-US" sz="1100"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1257300" y="2495550"/>
              <a:ext cx="1295400" cy="723900"/>
            </a:xfrm>
            <a:custGeom>
              <a:avLst/>
              <a:gdLst/>
              <a:ahLst/>
              <a:cxnLst/>
              <a:rect r="r" b="b" t="t" l="l"/>
              <a:pathLst>
                <a:path h="723900" w="1295400">
                  <a:moveTo>
                    <a:pt x="647700" y="0"/>
                  </a:moveTo>
                  <a:lnTo>
                    <a:pt x="1295400" y="361950"/>
                  </a:lnTo>
                  <a:lnTo>
                    <a:pt x="647700" y="723900"/>
                  </a:lnTo>
                  <a:lnTo>
                    <a:pt x="0" y="361950"/>
                  </a:lnTo>
                  <a:close/>
                </a:path>
              </a:pathLst>
            </a:custGeom>
            <a:gradFill rotWithShape="true">
              <a:gsLst>
                <a:gs pos="0">
                  <a:srgbClr val="00E5FF">
                    <a:alpha val="15000"/>
                  </a:srgbClr>
                </a:gs>
                <a:gs pos="100000">
                  <a:srgbClr val="9B7BFF">
                    <a:alpha val="15000"/>
                  </a:srgbClr>
                </a:gs>
              </a:gsLst>
              <a:lin ang="2700000"/>
            </a:gra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534668" y="2768918"/>
              <a:ext cx="74066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物理实体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1257300" y="3448050"/>
              <a:ext cx="1295400" cy="723900"/>
            </a:xfrm>
            <a:custGeom>
              <a:avLst/>
              <a:gdLst/>
              <a:ahLst/>
              <a:cxnLst/>
              <a:rect r="r" b="b" t="t" l="l"/>
              <a:pathLst>
                <a:path h="723900" w="1295400">
                  <a:moveTo>
                    <a:pt x="647700" y="0"/>
                  </a:moveTo>
                  <a:lnTo>
                    <a:pt x="1295400" y="361950"/>
                  </a:lnTo>
                  <a:lnTo>
                    <a:pt x="647700" y="723900"/>
                  </a:lnTo>
                  <a:lnTo>
                    <a:pt x="0" y="361950"/>
                  </a:lnTo>
                  <a:close/>
                </a:path>
              </a:pathLst>
            </a:custGeom>
            <a:gradFill rotWithShape="true">
              <a:gsLst>
                <a:gs pos="0">
                  <a:srgbClr val="00E5FF">
                    <a:alpha val="23000"/>
                  </a:srgbClr>
                </a:gs>
                <a:gs pos="100000">
                  <a:srgbClr val="9B7BFF">
                    <a:alpha val="23000"/>
                  </a:srgbClr>
                </a:gs>
              </a:gsLst>
              <a:lin ang="2700000"/>
            </a:gradFill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534668" y="3721418"/>
              <a:ext cx="74066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孪生模型</a:t>
              </a:r>
              <a:endParaRPr lang="en-US" sz="1100"/>
            </a:p>
          </p:txBody>
        </p:sp>
        <p:sp>
          <p:nvSpPr>
            <p:cNvPr name="Freeform 21" id="21"/>
            <p:cNvSpPr/>
            <p:nvPr/>
          </p:nvSpPr>
          <p:spPr>
            <a:xfrm rot="0" flipH="false" flipV="false">
              <a:off x="1905000" y="3257550"/>
              <a:ext cx="0" cy="190500"/>
            </a:xfrm>
            <a:custGeom>
              <a:avLst/>
              <a:gdLst/>
              <a:ahLst/>
              <a:cxnLst/>
              <a:rect r="r" b="b" t="t" l="l"/>
              <a:pathLst>
                <a:path h="190500" w="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3041142" y="2559368"/>
              <a:ext cx="90286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几何孪生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3041523" y="2834164"/>
              <a:ext cx="156377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形状与布局，用来看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041142" y="3530918"/>
              <a:ext cx="90286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行为孪生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3041523" y="3805714"/>
              <a:ext cx="156377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节拍与物流，用来算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3041142" y="4502468"/>
              <a:ext cx="90286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决策孪生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3041523" y="4777264"/>
              <a:ext cx="156377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实时优化，用来指挥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1714500" y="4438650"/>
              <a:ext cx="381000" cy="381000"/>
            </a:xfrm>
            <a:prstGeom prst="ellipse">
              <a:avLst/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1845665" y="4559618"/>
              <a:ext cx="11866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 lang="en-US" sz="1100"/>
            </a:p>
          </p:txBody>
        </p:sp>
        <p:sp>
          <p:nvSpPr>
            <p:cNvPr name="Freeform 30" id="30"/>
            <p:cNvSpPr/>
            <p:nvPr/>
          </p:nvSpPr>
          <p:spPr>
            <a:xfrm rot="0" flipH="false" flipV="false">
              <a:off x="1905000" y="4171950"/>
              <a:ext cx="0" cy="266700"/>
            </a:xfrm>
            <a:custGeom>
              <a:avLst/>
              <a:gdLst/>
              <a:ahLst/>
              <a:cxnLst/>
              <a:rect r="r" b="b" t="t" l="l"/>
              <a:pathLst>
                <a:path h="266700" w="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2700">
              <a:solidFill>
                <a:srgbClr val="9B7B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grpSp>
        <p:nvGrpSpPr>
          <p:cNvPr name="Group 31" id="31"/>
          <p:cNvGrpSpPr/>
          <p:nvPr/>
        </p:nvGrpSpPr>
        <p:grpSpPr>
          <a:xfrm>
            <a:off x="7010400" y="1676400"/>
            <a:ext cx="4572000" cy="1809750"/>
            <a:chOff x="7010400" y="1676400"/>
            <a:chExt cx="4572000" cy="1809750"/>
          </a:xfrm>
        </p:grpSpPr>
        <p:sp>
          <p:nvSpPr>
            <p:cNvPr name="AutoShape 32" id="32"/>
            <p:cNvSpPr/>
            <p:nvPr/>
          </p:nvSpPr>
          <p:spPr>
            <a:xfrm rot="0" flipH="false" flipV="false">
              <a:off x="7010400" y="1676400"/>
              <a:ext cx="4572000" cy="1809750"/>
            </a:xfrm>
            <a:prstGeom prst="roundRect">
              <a:avLst>
                <a:gd name="adj" fmla="val 315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269099" y="1887379"/>
              <a:ext cx="1930298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最值得先做的三件事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270242" y="2311718"/>
              <a:ext cx="2414016" cy="8736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新线布局仿真，投产前验证产能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瓶颈推演，改之前先看效果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培训与应急演练，零风险试错</a:t>
              </a:r>
              <a:endParaRPr lang="en-US" sz="1100"/>
            </a:p>
          </p:txBody>
        </p:sp>
      </p:grpSp>
      <p:grpSp>
        <p:nvGrpSpPr>
          <p:cNvPr name="Group 35" id="35"/>
          <p:cNvGrpSpPr/>
          <p:nvPr/>
        </p:nvGrpSpPr>
        <p:grpSpPr>
          <a:xfrm>
            <a:off x="7010400" y="3676650"/>
            <a:ext cx="4572000" cy="1809750"/>
            <a:chOff x="7010400" y="3676650"/>
            <a:chExt cx="4572000" cy="1809750"/>
          </a:xfrm>
        </p:grpSpPr>
        <p:sp>
          <p:nvSpPr>
            <p:cNvPr name="AutoShape 36" id="36"/>
            <p:cNvSpPr/>
            <p:nvPr/>
          </p:nvSpPr>
          <p:spPr>
            <a:xfrm rot="0" flipH="false" flipV="false">
              <a:off x="7010400" y="3676650"/>
              <a:ext cx="4572000" cy="1809750"/>
            </a:xfrm>
            <a:prstGeom prst="roundRect">
              <a:avLst>
                <a:gd name="adj" fmla="val 3158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7269099" y="3887629"/>
              <a:ext cx="17175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别掉进的两个陷阱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7270242" y="4311968"/>
              <a:ext cx="2585466" cy="5688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ts val="24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为了建模而建模，从不被使用</a:t>
              </a:r>
              <a:b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模型不随现场更新，三个月就失真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7270623" y="5120164"/>
              <a:ext cx="259765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模型的价值取决于被谁用来做决定</a:t>
              </a:r>
              <a:endParaRPr lang="en-US" sz="1100"/>
            </a:p>
          </p:txBody>
        </p:sp>
      </p:grpSp>
      <p:sp>
        <p:nvSpPr>
          <p:cNvPr name="Freeform 40" id="40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09600" y="6710362"/>
            <a:ext cx="96012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02108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55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00" fill="hold" id="8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00" fill="hold" id="9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700" id="7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032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50" spc="300">
                <a:solidFill>
                  <a:srgbClr val="FF8A3D"/>
                </a:solidFill>
                <a:latin typeface="Consolas"/>
                <a:ea typeface="Consolas"/>
                <a:cs typeface="Consolas"/>
                <a:sym typeface="Consolas"/>
              </a:rPr>
              <a:t>DIGITAL TWIN / 数字孪生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482600"/>
            <a:ext cx="10414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EAF6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决策 · 虚实映射实景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965200"/>
            <a:ext cx="533400" cy="47625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8A3D">
                  <a:alpha val="100000"/>
                </a:srgbClr>
              </a:gs>
              <a:gs pos="100000">
                <a:srgbClr val="FF8A3D">
                  <a:alpha val="1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6" b="76"/>
          <a:stretch>
            <a:fillRect/>
          </a:stretch>
        </p:blipFill>
        <p:spPr>
          <a:xfrm rot="0" flipH="false" flipV="false">
            <a:off x="1460500" y="1066800"/>
            <a:ext cx="9271000" cy="520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6426200"/>
            <a:ext cx="10972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FB6D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几何→行为→决策，先在电脑里试错，再到车间动手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382" r="21380" t="0" b="0"/>
          <a:stretch>
            <a:fillRect/>
          </a:stretch>
        </p:blipFill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gradFill rotWithShape="true">
            <a:gsLst>
              <a:gs pos="0">
                <a:srgbClr val="060D16">
                  <a:alpha val="100000"/>
                </a:srgbClr>
              </a:gs>
              <a:gs pos="34000">
                <a:srgbClr val="060D16">
                  <a:alpha val="74000"/>
                </a:srgbClr>
              </a:gs>
              <a:gs pos="100000">
                <a:srgbClr val="060D16">
                  <a:alpha val="4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ect">
            <a:avLst/>
          </a:prstGeom>
          <a:solidFill>
            <a:srgbClr val="060D16">
              <a:alpha val="4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667500" y="1428750"/>
            <a:ext cx="5524500" cy="5429250"/>
          </a:xfrm>
          <a:prstGeom prst="roundRect">
            <a:avLst>
              <a:gd name="adj" fmla="val 1052"/>
            </a:avLst>
          </a:prstGeom>
          <a:noFill/>
          <a:ln w="12700">
            <a:solidFill>
              <a:srgbClr val="1E4B6B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67500" y="1428750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677650" y="6829425"/>
            <a:ext cx="514350" cy="28575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0" y="1905000"/>
            <a:ext cx="12192000" cy="3048000"/>
          </a:xfrm>
          <a:custGeom>
            <a:avLst/>
            <a:gdLst/>
            <a:ahLst/>
            <a:cxnLst/>
            <a:rect r="r" b="b" t="t" l="l"/>
            <a:pathLst>
              <a:path h="3048000" w="12192000">
                <a:moveTo>
                  <a:pt x="0" y="0"/>
                </a:moveTo>
                <a:lnTo>
                  <a:pt x="12192000" y="0"/>
                </a:lnTo>
                <a:moveTo>
                  <a:pt x="0" y="3048000"/>
                </a:moveTo>
                <a:lnTo>
                  <a:pt x="12192000" y="3048000"/>
                </a:lnTo>
              </a:path>
            </a:pathLst>
          </a:custGeom>
          <a:noFill/>
          <a:ln w="12700">
            <a:solidFill>
              <a:srgbClr val="12314A">
                <a:alpha val="32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30 / 32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609600" y="590550"/>
            <a:ext cx="6326485" cy="880301"/>
            <a:chOff x="609600" y="590550"/>
            <a:chExt cx="6326485" cy="880301"/>
          </a:xfrm>
        </p:grpSpPr>
        <p:sp>
          <p:nvSpPr>
            <p:cNvPr name="AutoShape 11" id="11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FF8A3D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9348" y="669608"/>
              <a:ext cx="6056737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FF8A3D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延伸四 · 组织与人的数字化转型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88492" y="1206818"/>
              <a:ext cx="311078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PEOPLE · PROCESS ·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最难的一门课</a:t>
              </a:r>
              <a:endParaRPr lang="en-US" sz="110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609600" y="1905000"/>
            <a:ext cx="6667500" cy="3810000"/>
            <a:chOff x="609600" y="1905000"/>
            <a:chExt cx="6667500" cy="3810000"/>
          </a:xfrm>
        </p:grpSpPr>
        <p:sp>
          <p:nvSpPr>
            <p:cNvPr name="AutoShape 15" id="15"/>
            <p:cNvSpPr/>
            <p:nvPr/>
          </p:nvSpPr>
          <p:spPr>
            <a:xfrm rot="0" flipH="false" flipV="false">
              <a:off x="609600" y="1905000"/>
              <a:ext cx="6667500" cy="3810000"/>
            </a:xfrm>
            <a:prstGeom prst="roundRect">
              <a:avLst>
                <a:gd name="adj" fmla="val 15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868299" y="2115979"/>
              <a:ext cx="3419196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转型失败的真正原因，通常不在技术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76300" y="2609850"/>
              <a:ext cx="6134100" cy="685800"/>
            </a:xfrm>
            <a:prstGeom prst="roundRect">
              <a:avLst>
                <a:gd name="adj" fmla="val 555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098042" y="2768918"/>
              <a:ext cx="164934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只做工具，不改流程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098423" y="3024664"/>
              <a:ext cx="2425344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旧流程套新系统，效率反而下降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876300" y="3448050"/>
              <a:ext cx="6134100" cy="685800"/>
            </a:xfrm>
            <a:prstGeom prst="roundRect">
              <a:avLst>
                <a:gd name="adj" fmla="val 555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098042" y="3607118"/>
              <a:ext cx="164934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只下指标，不给能力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1098423" y="38628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一线不会用，数据录入就造假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876300" y="4286250"/>
              <a:ext cx="6134100" cy="685800"/>
            </a:xfrm>
            <a:prstGeom prst="roundRect">
              <a:avLst>
                <a:gd name="adj" fmla="val 5556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1098042" y="4445318"/>
              <a:ext cx="164934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只喊口号，不给激励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098423" y="4701064"/>
              <a:ext cx="2080717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改善带来的收益与个人无关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869823" y="5215414"/>
              <a:ext cx="2597658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技术是必要条件，组织是充分条件</a:t>
              </a:r>
              <a:endParaRPr lang="en-US" sz="1100"/>
            </a:p>
          </p:txBody>
        </p:sp>
      </p:grpSp>
      <p:grpSp>
        <p:nvGrpSpPr>
          <p:cNvPr name="Group 27" id="27"/>
          <p:cNvGrpSpPr/>
          <p:nvPr/>
        </p:nvGrpSpPr>
        <p:grpSpPr>
          <a:xfrm>
            <a:off x="7581900" y="1905000"/>
            <a:ext cx="4000500" cy="3810000"/>
            <a:chOff x="7581900" y="1905000"/>
            <a:chExt cx="4000500" cy="3810000"/>
          </a:xfrm>
        </p:grpSpPr>
        <p:sp>
          <p:nvSpPr>
            <p:cNvPr name="AutoShape 28" id="28"/>
            <p:cNvSpPr/>
            <p:nvPr/>
          </p:nvSpPr>
          <p:spPr>
            <a:xfrm rot="0" flipH="false" flipV="false">
              <a:off x="7581900" y="1905000"/>
              <a:ext cx="4000500" cy="3810000"/>
            </a:xfrm>
            <a:prstGeom prst="roundRect">
              <a:avLst>
                <a:gd name="adj" fmla="val 1500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7840599" y="2115979"/>
              <a:ext cx="1504899" cy="30803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58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你能做的四件事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7841742" y="2616518"/>
              <a:ext cx="2349036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① 用一个小场景做出可见成果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7841742" y="3207068"/>
              <a:ext cx="2530773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② 把数据当共同语言，开会看数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7841742" y="3797618"/>
              <a:ext cx="2167299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③ 培养复合人才，允许试错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7841742" y="4388168"/>
              <a:ext cx="1803825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④ 让改善的人得到回报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7848600" y="4914900"/>
              <a:ext cx="762000" cy="28575"/>
            </a:xfrm>
            <a:prstGeom prst="rect">
              <a:avLst/>
            </a:prstGeom>
            <a:solidFill>
              <a:srgbClr val="2ED47A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7842123" y="5158264"/>
              <a:ext cx="2253031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先赢一场小仗，再谈全面推广</a:t>
              </a:r>
              <a:endParaRPr lang="en-US" sz="1100"/>
            </a:p>
          </p:txBody>
        </p:sp>
      </p:grpSp>
      <p:sp>
        <p:nvSpPr>
          <p:cNvPr name="Freeform 36" id="36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09600" y="6710362"/>
            <a:ext cx="99441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5537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4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7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childTnLst>
                              <p:par>
                                <p:cTn fill="hold" id="11" nodeType="afterEffect" presetClass="entr" presetID="37" presetSubtype="0" repeatCount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 id="13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800" fill="hold" id="14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720" fill="hold" id="15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80" fill="hold" id="16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9166" b="29166"/>
          <a:stretch>
            <a:fillRect/>
          </a:stretch>
        </p:blipFill>
        <p:spPr>
          <a:xfrm rot="0" flipH="false" flipV="false">
            <a:off x="0" y="0"/>
            <a:ext cx="12192000" cy="28575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2857500"/>
          </a:xfrm>
          <a:prstGeom prst="rect">
            <a:avLst/>
          </a:prstGeom>
          <a:gradFill rotWithShape="true">
            <a:gsLst>
              <a:gs pos="0">
                <a:srgbClr val="060D16">
                  <a:alpha val="30000"/>
                </a:srgbClr>
              </a:gs>
              <a:gs pos="55000">
                <a:srgbClr val="060D16">
                  <a:alpha val="72000"/>
                </a:srgbClr>
              </a:gs>
              <a:gs pos="100000">
                <a:srgbClr val="060D16">
                  <a:alpha val="10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2857500"/>
          </a:xfrm>
          <a:prstGeom prst="rect">
            <a:avLst/>
          </a:prstGeom>
          <a:solidFill>
            <a:srgbClr val="060D16">
              <a:alpha val="3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1905000"/>
                </a:moveTo>
                <a:lnTo>
                  <a:pt x="12192000" y="1905000"/>
                </a:lnTo>
                <a:moveTo>
                  <a:pt x="0" y="4762500"/>
                </a:moveTo>
                <a:lnTo>
                  <a:pt x="12192000" y="47625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</a:path>
            </a:pathLst>
          </a:custGeom>
          <a:noFill/>
          <a:ln w="12700">
            <a:solidFill>
              <a:srgbClr val="12314A">
                <a:alpha val="32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31 / 32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609600" y="590550"/>
            <a:ext cx="6326485" cy="880301"/>
            <a:chOff x="609600" y="590550"/>
            <a:chExt cx="6326485" cy="880301"/>
          </a:xfrm>
        </p:grpSpPr>
        <p:sp>
          <p:nvSpPr>
            <p:cNvPr name="AutoShape 8" id="8"/>
            <p:cNvSpPr/>
            <p:nvPr/>
          </p:nvSpPr>
          <p:spPr>
            <a:xfrm rot="0" flipH="false" flipV="false">
              <a:off x="609600" y="590550"/>
              <a:ext cx="57150" cy="723900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100000"/>
                  </a:srgbClr>
                </a:gs>
                <a:gs pos="100000">
                  <a:srgbClr val="00A3C4">
                    <a:alpha val="15000"/>
                  </a:srgbClr>
                </a:gs>
              </a:gsLst>
              <a:lin ang="540000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879348" y="669608"/>
              <a:ext cx="6056737" cy="6160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3150">
                  <a:gradFill rotWithShape="true">
                    <a:gsLst>
                      <a:gs pos="0">
                        <a:srgbClr val="EAF6FF">
                          <a:alpha val="100000"/>
                        </a:srgbClr>
                      </a:gs>
                      <a:gs pos="100000">
                        <a:srgbClr val="5FE8FF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落地路线图 · 从明天开始怎么做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888492" y="1206818"/>
              <a:ext cx="2931452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ROADMAP · 90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天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/ 1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年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Consolas"/>
                  <a:ea typeface="Consolas"/>
                  <a:cs typeface="Consolas"/>
                  <a:sym typeface="Consolas"/>
                </a:rPr>
                <a:t> / 3 </a:t>
              </a:r>
              <a:r>
                <a:rPr lang="en-US" b="tru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年</a:t>
              </a:r>
              <a:endParaRPr lang="en-US" sz="110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609600" y="1866900"/>
            <a:ext cx="10972800" cy="3848100"/>
            <a:chOff x="609600" y="1866900"/>
            <a:chExt cx="10972800" cy="3848100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609600" y="1866900"/>
              <a:ext cx="10972800" cy="3848100"/>
            </a:xfrm>
            <a:prstGeom prst="roundRect">
              <a:avLst>
                <a:gd name="adj" fmla="val 1484"/>
              </a:avLst>
            </a:prstGeom>
            <a:solidFill>
              <a:srgbClr val="0B1A28">
                <a:alpha val="100000"/>
              </a:srgbClr>
            </a:solidFill>
            <a:ln w="12700">
              <a:solidFill>
                <a:srgbClr val="1E4B6B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914400" y="2743200"/>
              <a:ext cx="10363200" cy="47625"/>
            </a:xfrm>
            <a:prstGeom prst="roundRect">
              <a:avLst>
                <a:gd name="adj" fmla="val 40000"/>
              </a:avLst>
            </a:prstGeom>
            <a:gradFill rotWithShape="true">
              <a:gsLst>
                <a:gs pos="0">
                  <a:srgbClr val="00E5FF">
                    <a:alpha val="90000"/>
                  </a:srgbClr>
                </a:gs>
                <a:gs pos="50000">
                  <a:srgbClr val="FF8A3D">
                    <a:alpha val="90000"/>
                  </a:srgbClr>
                </a:gs>
                <a:gs pos="100000">
                  <a:srgbClr val="2ED47A">
                    <a:alpha val="9000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295400" y="2628900"/>
              <a:ext cx="266700" cy="2667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00E5FF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039563" y="2216468"/>
              <a:ext cx="77837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第 1 阶段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1054102" y="3092768"/>
              <a:ext cx="74929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0–3 个月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991489" y="3443764"/>
              <a:ext cx="87452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选一个痛点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819175" y="369141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打通一个数据源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938022" y="4061460"/>
              <a:ext cx="981456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小、快、可见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4171950" y="2628900"/>
              <a:ext cx="266700" cy="2667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3916113" y="2216468"/>
              <a:ext cx="77837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第 2 阶段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3878175" y="3092768"/>
              <a:ext cx="85425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3–12 个月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3695725" y="344376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固化流程与标准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3781882" y="3691414"/>
              <a:ext cx="104683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培养种子团队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3733800" y="4061460"/>
              <a:ext cx="1143000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复制到第二条线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7048500" y="2628900"/>
              <a:ext cx="266700" cy="266700"/>
            </a:xfrm>
            <a:prstGeom prst="ellipse">
              <a:avLst/>
            </a:prstGeom>
            <a:solidFill>
              <a:srgbClr val="060D16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6792663" y="2216468"/>
              <a:ext cx="778374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第 3 阶段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6898070" y="3092768"/>
              <a:ext cx="56756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1–3 年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6658432" y="3443764"/>
              <a:ext cx="104683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数据驱动决策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6572275" y="369141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全局优化与预测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6691122" y="4061460"/>
              <a:ext cx="981456" cy="2346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20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组织能力成型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9144000" y="3105150"/>
              <a:ext cx="2133600" cy="1143000"/>
            </a:xfrm>
            <a:prstGeom prst="roundRect">
              <a:avLst>
                <a:gd name="adj" fmla="val 3333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9365742" y="3302318"/>
              <a:ext cx="1285875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1350">
                  <a:solidFill>
                    <a:srgbClr val="00E5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贯穿始终的一条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9366123" y="3615214"/>
              <a:ext cx="1219149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C4DCEE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让一线参与设计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9366123" y="3881914"/>
              <a:ext cx="1046836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8FB6D2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而不是被通知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907923" y="5063014"/>
              <a:ext cx="384693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不要一开始就追求“全厂打通”，那是 3 年后的事。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907923" y="5348764"/>
              <a:ext cx="3286912" cy="2493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28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第一仗的标准只有一条：别人能看见效果。</a:t>
              </a:r>
              <a:endParaRPr lang="en-US" sz="1100"/>
            </a:p>
          </p:txBody>
        </p:sp>
      </p:grpSp>
      <p:sp>
        <p:nvSpPr>
          <p:cNvPr name="Freeform 38" id="38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09600" y="6710362"/>
            <a:ext cx="102870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08966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00E5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D1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24000"/>
                </a:srgbClr>
              </a:gs>
              <a:gs pos="100000">
                <a:srgbClr val="060D16">
                  <a:alpha val="9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gradFill rotWithShape="true">
            <a:gsLst>
              <a:gs pos="0">
                <a:srgbClr val="060D16">
                  <a:alpha val="97000"/>
                </a:srgbClr>
              </a:gs>
              <a:gs pos="41999">
                <a:srgbClr val="060D16">
                  <a:alpha val="86000"/>
                </a:srgbClr>
              </a:gs>
              <a:gs pos="100000">
                <a:srgbClr val="060D16">
                  <a:alpha val="62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060D16">
              <a:alpha val="24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85750"/>
            <a:ext cx="9906000" cy="5143500"/>
          </a:xfrm>
          <a:prstGeom prst="ellipse">
            <a:avLst/>
          </a:prstGeom>
          <a:gradFill rotWithShape="true">
            <a:gsLst>
              <a:gs pos="0">
                <a:srgbClr val="00A3C4">
                  <a:alpha val="34000"/>
                </a:srgbClr>
              </a:gs>
              <a:gs pos="100000">
                <a:srgbClr val="00A3C4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2286000"/>
                </a:moveTo>
                <a:lnTo>
                  <a:pt x="12192000" y="2286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9144000" y="0"/>
                </a:moveTo>
                <a:lnTo>
                  <a:pt x="9144000" y="6858000"/>
                </a:lnTo>
              </a:path>
            </a:pathLst>
          </a:custGeom>
          <a:noFill/>
          <a:ln w="12700">
            <a:solidFill>
              <a:srgbClr val="12314A">
                <a:alpha val="28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801960" y="6385560"/>
            <a:ext cx="634136" cy="2346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E6280"/>
                </a:solidFill>
                <a:latin typeface="Consolas"/>
                <a:ea typeface="Consolas"/>
                <a:cs typeface="Consolas"/>
                <a:sym typeface="Consolas"/>
              </a:rPr>
              <a:t>32 / 32</a:t>
            </a:r>
            <a:endParaRPr lang="en-US" sz="1100"/>
          </a:p>
        </p:txBody>
      </p:sp>
      <p:grpSp>
        <p:nvGrpSpPr>
          <p:cNvPr name="Group 9" id="9"/>
          <p:cNvGrpSpPr/>
          <p:nvPr/>
        </p:nvGrpSpPr>
        <p:grpSpPr>
          <a:xfrm>
            <a:off x="1905000" y="1466850"/>
            <a:ext cx="8382000" cy="28575"/>
            <a:chOff x="1905000" y="1466850"/>
            <a:chExt cx="8382000" cy="28575"/>
          </a:xfrm>
        </p:grpSpPr>
        <p:sp>
          <p:nvSpPr>
            <p:cNvPr name="AutoShape 10" id="10"/>
            <p:cNvSpPr/>
            <p:nvPr/>
          </p:nvSpPr>
          <p:spPr>
            <a:xfrm rot="0" flipH="false" flipV="false">
              <a:off x="1905000" y="1466850"/>
              <a:ext cx="8382000" cy="28575"/>
            </a:xfrm>
            <a:prstGeom prst="rect">
              <a:avLst/>
            </a:prstGeom>
            <a:gradFill rotWithShape="true">
              <a:gsLst>
                <a:gs pos="0">
                  <a:srgbClr val="00E5FF">
                    <a:alpha val="0"/>
                  </a:srgbClr>
                </a:gs>
                <a:gs pos="50000">
                  <a:srgbClr val="00E5FF">
                    <a:alpha val="75000"/>
                  </a:srgbClr>
                </a:gs>
                <a:gs pos="100000">
                  <a:srgbClr val="00E5FF">
                    <a:alpha val="0"/>
                  </a:srgbClr>
                </a:gs>
              </a:gsLst>
              <a:lin ang="0"/>
            </a:gra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3451860" y="2512695"/>
            <a:ext cx="5288280" cy="762000"/>
            <a:chOff x="3451860" y="2512695"/>
            <a:chExt cx="5288280" cy="762000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3451860" y="2512695"/>
              <a:ext cx="5288280" cy="762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true" i="false" strike="noStrike" u="none" sz="3900">
                  <a:gradFill rotWithShape="true">
                    <a:gsLst>
                      <a:gs pos="0">
                        <a:srgbClr val="FFFFFF">
                          <a:alpha val="100000"/>
                        </a:srgbClr>
                      </a:gs>
                      <a:gs pos="55000">
                        <a:srgbClr val="5FE8FF">
                          <a:alpha val="100000"/>
                        </a:srgbClr>
                      </a:gs>
                      <a:gs pos="100000">
                        <a:srgbClr val="00A3C4">
                          <a:alpha val="100000"/>
                        </a:srgbClr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  <a:sym typeface="Microsoft YaHei"/>
                </a:rPr>
                <a:t>技术会变，问题不会变</a:t>
              </a:r>
              <a:endParaRPr lang="en-US" sz="1100"/>
            </a:p>
          </p:txBody>
        </p:sp>
      </p:grpSp>
      <p:grpSp>
        <p:nvGrpSpPr>
          <p:cNvPr name="Group 13" id="13"/>
          <p:cNvGrpSpPr/>
          <p:nvPr/>
        </p:nvGrpSpPr>
        <p:grpSpPr>
          <a:xfrm>
            <a:off x="3461004" y="3961448"/>
            <a:ext cx="5269992" cy="381381"/>
            <a:chOff x="3461004" y="3961448"/>
            <a:chExt cx="5269992" cy="381381"/>
          </a:xfrm>
        </p:grpSpPr>
        <p:sp>
          <p:nvSpPr>
            <p:cNvPr name="AutoShape 14" id="14"/>
            <p:cNvSpPr/>
            <p:nvPr/>
          </p:nvSpPr>
          <p:spPr>
            <a:xfrm rot="0" flipH="false" flipV="false">
              <a:off x="3461004" y="3961448"/>
              <a:ext cx="5269992" cy="38138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950">
                  <a:solidFill>
                    <a:srgbClr val="A6C2D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把九门课学成一件事：看见问题，然后解决它</a:t>
              </a:r>
              <a:endParaRPr lang="en-US" sz="1100"/>
            </a:p>
          </p:txBody>
        </p:sp>
      </p:grpSp>
      <p:grpSp>
        <p:nvGrpSpPr>
          <p:cNvPr name="Group 15" id="15"/>
          <p:cNvGrpSpPr/>
          <p:nvPr/>
        </p:nvGrpSpPr>
        <p:grpSpPr>
          <a:xfrm>
            <a:off x="2857500" y="4781550"/>
            <a:ext cx="6477000" cy="495300"/>
            <a:chOff x="2857500" y="4781550"/>
            <a:chExt cx="6477000" cy="495300"/>
          </a:xfrm>
        </p:grpSpPr>
        <p:sp>
          <p:nvSpPr>
            <p:cNvPr name="AutoShape 16" id="16"/>
            <p:cNvSpPr/>
            <p:nvPr/>
          </p:nvSpPr>
          <p:spPr>
            <a:xfrm rot="0" flipH="false" flipV="false">
              <a:off x="2857500" y="4781550"/>
              <a:ext cx="1428750" cy="495300"/>
            </a:xfrm>
            <a:prstGeom prst="roundRect">
              <a:avLst>
                <a:gd name="adj" fmla="val 50000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3383280" y="4959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会看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4495800" y="4781550"/>
              <a:ext cx="1428750" cy="495300"/>
            </a:xfrm>
            <a:prstGeom prst="roundRect">
              <a:avLst>
                <a:gd name="adj" fmla="val 50000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00A3C4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5021580" y="4959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5FE8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会算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6134100" y="4781550"/>
              <a:ext cx="1428750" cy="495300"/>
            </a:xfrm>
            <a:prstGeom prst="roundRect">
              <a:avLst>
                <a:gd name="adj" fmla="val 50000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FF8A3D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659880" y="4959668"/>
              <a:ext cx="37719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FF8A3D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会改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7772400" y="4781550"/>
              <a:ext cx="1562100" cy="495300"/>
            </a:xfrm>
            <a:prstGeom prst="roundRect">
              <a:avLst>
                <a:gd name="adj" fmla="val 50000"/>
              </a:avLst>
            </a:prstGeom>
            <a:solidFill>
              <a:srgbClr val="12293C">
                <a:alpha val="100000"/>
              </a:srgbClr>
            </a:solidFill>
            <a:ln w="12700">
              <a:solidFill>
                <a:srgbClr val="2ED47A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8273986" y="4959668"/>
              <a:ext cx="558927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2ED47A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会坚持</a:t>
              </a:r>
              <a:endParaRPr lang="en-US" sz="1100"/>
            </a:p>
          </p:txBody>
        </p:sp>
      </p:grpSp>
      <p:grpSp>
        <p:nvGrpSpPr>
          <p:cNvPr name="Group 24" id="24"/>
          <p:cNvGrpSpPr/>
          <p:nvPr/>
        </p:nvGrpSpPr>
        <p:grpSpPr>
          <a:xfrm>
            <a:off x="5257695" y="6064568"/>
            <a:ext cx="1676610" cy="264033"/>
            <a:chOff x="5257695" y="6064568"/>
            <a:chExt cx="1676610" cy="264033"/>
          </a:xfrm>
        </p:grpSpPr>
        <p:sp>
          <p:nvSpPr>
            <p:cNvPr name="AutoShape 25" id="25"/>
            <p:cNvSpPr/>
            <p:nvPr/>
          </p:nvSpPr>
          <p:spPr>
            <a:xfrm rot="0" flipH="false" flipV="false">
              <a:off x="5257695" y="6064568"/>
              <a:ext cx="1676610" cy="2640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0" rIns="0" tIns="0" bIns="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350">
                  <a:solidFill>
                    <a:srgbClr val="5E8AA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谢谢 · 欢迎提问交流</a:t>
              </a:r>
              <a:endParaRPr lang="en-US" sz="1100"/>
            </a:p>
          </p:txBody>
        </p:sp>
      </p:grpSp>
      <p:sp>
        <p:nvSpPr>
          <p:cNvPr name="Freeform 26" id="26"/>
          <p:cNvSpPr/>
          <p:nvPr/>
        </p:nvSpPr>
        <p:spPr>
          <a:xfrm rot="0" flipH="false" flipV="false">
            <a:off x="609600" y="6724650"/>
            <a:ext cx="10944225" cy="0"/>
          </a:xfrm>
          <a:custGeom>
            <a:avLst/>
            <a:gdLst/>
            <a:ahLst/>
            <a:cxnLst/>
            <a:rect r="r" b="b" t="t" l="l"/>
            <a:pathLst>
              <a:path h="0" w="10944225">
                <a:moveTo>
                  <a:pt x="0" y="0"/>
                </a:moveTo>
                <a:lnTo>
                  <a:pt x="10944225" y="0"/>
                </a:lnTo>
              </a:path>
            </a:pathLst>
          </a:custGeom>
          <a:noFill/>
          <a:ln w="12700">
            <a:solidFill>
              <a:srgbClr val="12314A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9600" y="6710362"/>
            <a:ext cx="10944225" cy="28575"/>
          </a:xfrm>
          <a:prstGeom prst="roundRect">
            <a:avLst>
              <a:gd name="adj" fmla="val 50000"/>
            </a:avLst>
          </a:prstGeom>
          <a:solidFill>
            <a:srgbClr val="12314A">
              <a:alpha val="5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600" y="6710362"/>
            <a:ext cx="10629900" cy="28575"/>
          </a:xfrm>
          <a:prstGeom prst="roundRect">
            <a:avLst>
              <a:gd name="adj" fmla="val 50000"/>
            </a:avLst>
          </a:prstGeom>
          <a:solidFill>
            <a:srgbClr val="1E6E8C">
              <a:alpha val="85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1239500" y="6700838"/>
            <a:ext cx="314325" cy="47625"/>
          </a:xfrm>
          <a:prstGeom prst="roundRect">
            <a:avLst>
              <a:gd name="adj" fmla="val 30000"/>
            </a:avLst>
          </a:prstGeom>
          <a:solidFill>
            <a:srgbClr val="5FE8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mart_mfg_v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